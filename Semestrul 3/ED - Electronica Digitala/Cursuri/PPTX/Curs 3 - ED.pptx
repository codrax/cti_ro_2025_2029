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62" r:id="rId2"/>
  </p:sldMasterIdLst>
  <p:notesMasterIdLst>
    <p:notesMasterId r:id="rId70"/>
  </p:notesMasterIdLst>
  <p:handoutMasterIdLst>
    <p:handoutMasterId r:id="rId71"/>
  </p:handoutMasterIdLst>
  <p:sldIdLst>
    <p:sldId id="256" r:id="rId3"/>
    <p:sldId id="402" r:id="rId4"/>
    <p:sldId id="407" r:id="rId5"/>
    <p:sldId id="531" r:id="rId6"/>
    <p:sldId id="426" r:id="rId7"/>
    <p:sldId id="446" r:id="rId8"/>
    <p:sldId id="533" r:id="rId9"/>
    <p:sldId id="532" r:id="rId10"/>
    <p:sldId id="536" r:id="rId11"/>
    <p:sldId id="537" r:id="rId12"/>
    <p:sldId id="538" r:id="rId13"/>
    <p:sldId id="479" r:id="rId14"/>
    <p:sldId id="480" r:id="rId15"/>
    <p:sldId id="481" r:id="rId16"/>
    <p:sldId id="482" r:id="rId17"/>
    <p:sldId id="534" r:id="rId18"/>
    <p:sldId id="483" r:id="rId19"/>
    <p:sldId id="484" r:id="rId20"/>
    <p:sldId id="485" r:id="rId21"/>
    <p:sldId id="539" r:id="rId22"/>
    <p:sldId id="540" r:id="rId23"/>
    <p:sldId id="541" r:id="rId24"/>
    <p:sldId id="487" r:id="rId25"/>
    <p:sldId id="535" r:id="rId26"/>
    <p:sldId id="488" r:id="rId27"/>
    <p:sldId id="489" r:id="rId28"/>
    <p:sldId id="490" r:id="rId29"/>
    <p:sldId id="491" r:id="rId30"/>
    <p:sldId id="492" r:id="rId31"/>
    <p:sldId id="493" r:id="rId32"/>
    <p:sldId id="494" r:id="rId33"/>
    <p:sldId id="495" r:id="rId34"/>
    <p:sldId id="496" r:id="rId35"/>
    <p:sldId id="497" r:id="rId36"/>
    <p:sldId id="498" r:id="rId37"/>
    <p:sldId id="499" r:id="rId38"/>
    <p:sldId id="500" r:id="rId39"/>
    <p:sldId id="501" r:id="rId40"/>
    <p:sldId id="502" r:id="rId41"/>
    <p:sldId id="503" r:id="rId42"/>
    <p:sldId id="504" r:id="rId43"/>
    <p:sldId id="505" r:id="rId44"/>
    <p:sldId id="506" r:id="rId45"/>
    <p:sldId id="507" r:id="rId46"/>
    <p:sldId id="508" r:id="rId47"/>
    <p:sldId id="509" r:id="rId48"/>
    <p:sldId id="510" r:id="rId49"/>
    <p:sldId id="511" r:id="rId50"/>
    <p:sldId id="512" r:id="rId51"/>
    <p:sldId id="513" r:id="rId52"/>
    <p:sldId id="514" r:id="rId53"/>
    <p:sldId id="515" r:id="rId54"/>
    <p:sldId id="516" r:id="rId55"/>
    <p:sldId id="517" r:id="rId56"/>
    <p:sldId id="518" r:id="rId57"/>
    <p:sldId id="519" r:id="rId58"/>
    <p:sldId id="520" r:id="rId59"/>
    <p:sldId id="521" r:id="rId60"/>
    <p:sldId id="522" r:id="rId61"/>
    <p:sldId id="523" r:id="rId62"/>
    <p:sldId id="524" r:id="rId63"/>
    <p:sldId id="525" r:id="rId64"/>
    <p:sldId id="526" r:id="rId65"/>
    <p:sldId id="527" r:id="rId66"/>
    <p:sldId id="528" r:id="rId67"/>
    <p:sldId id="529" r:id="rId68"/>
    <p:sldId id="530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99645" autoAdjust="0"/>
  </p:normalViewPr>
  <p:slideViewPr>
    <p:cSldViewPr snapToGrid="0">
      <p:cViewPr varScale="1">
        <p:scale>
          <a:sx n="83" d="100"/>
          <a:sy n="83" d="100"/>
        </p:scale>
        <p:origin x="73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E372D8-6F3F-4772-B055-C2035B91B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5DE29-39E1-44BF-9F6D-A455C4EA1C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B61D1-D8BB-4F8E-8568-4911F02FDCA5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5CFEC-1C70-4D90-83E9-4E1D3D0E33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F9054-B9FC-4D5F-8C1A-999E3345AD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DF158-E70D-46E6-ABBA-93AC3048441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205281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6F46-A423-4663-86EC-02ABB9243E3F}" type="datetimeFigureOut">
              <a:rPr lang="ro-RO" smtClean="0"/>
              <a:t>09.01.2026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D4C6F-B1B6-44E0-8719-2227692C165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27392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464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282D8-D9A3-49FC-A47C-4B0EAD250BD0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61524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631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5612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971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57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810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640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403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521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451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627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4176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92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1543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867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336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58635A-2484-4F5B-B9BE-A56859E1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5DEE71D-7364-46F7-B8B3-D86CF6C9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51DF43-45A8-4A94-9974-9231DD7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87CAA-0C0D-418E-B999-B322B9B407B0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60941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F1B0-22F2-4539-9AF8-855E81D35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D4774-2552-4D85-9674-7DB0CD2ED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6F98-3695-4344-AA86-FE77F60E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5DAF8-DA50-42FC-ADF1-BBA3A9A0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100D-4CE6-4855-A195-615DDD38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663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3E39-B208-4185-88AD-FC3A0E07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D770-9C6D-4978-AA6A-2CB35282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C6FE-FF4F-4A1E-BE9E-DA0558F7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3CEA2-7A38-4A60-9CF9-B3D13055F9AB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55709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004D-8FCB-4B6C-83AE-5F7CB15F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100B3-40D8-45F5-B899-AA0C8CA8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A233-B076-41CB-ABEA-6346E0E2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ACF7C-0EE0-4EAE-AE73-0E384D61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F40A-D714-49C9-B28D-192AF754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410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27CB-9E40-45A1-8473-CC93FAC3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4467-0D97-4DE3-9F3C-C028B6FE7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F5C3-33A8-4435-801F-31B35B6D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55D92-C7CC-47C1-B786-A116107B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ED44F-F3BB-4822-B26B-B0F8DCF7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F32C1-7543-4E86-B7A1-78272F7B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055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AE58-FB78-4410-B681-4B1BA2E5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142A-66C6-47F2-8FD0-349E0D58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30570-F883-4E01-BC14-1D7B9E3BE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27B1D-AE99-480B-BC9E-E5E3B937B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B27E4-5071-4DAF-A785-1A5519DF7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5B08-F145-4982-BA1B-6C5F8FE5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7911C-4B49-408B-896B-3116018D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4E533-D706-4278-A1DF-F04BFAAC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783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2996-ED5E-4DF3-9128-F135EF21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BC23F-0670-42BA-8620-B184A826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064A4-327C-47F8-897A-C7BB61D6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3A1C6-8503-4F2C-982F-958F5D6D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8346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0B568-49AF-4694-BF37-00654E0B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80A2A-C2B1-49F1-95BF-DCCE77E3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77F3C-6CDC-4AB3-AD9E-F00A887E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362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E4CC-71D5-4296-98AB-C5AC9A2F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8025F-FEE9-4F06-B0B4-2B367B26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9257E-B602-407E-A6AE-DF5539BA0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06BF-E491-47B7-93B3-CC6192EA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0E48B-F8FD-4D70-B15F-7E4018C8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A5E8-15CB-46D7-B6F9-4759ED64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02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A0E8-41C7-4BBD-BE2A-1C34858E5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60580-3B72-4452-BE69-6F8E75F2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EE573-4F56-484F-B5CC-409616771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CD4E-3E52-432A-A173-B864EE47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09B7E-8E1E-485B-9274-28A47709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59043-0D93-4B2E-9387-968926B6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143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BADA-8B52-4AAC-BBB6-A4B2E9C5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4ED7-78AB-4179-AFA8-EB2BD0F21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C9E0-00B1-419A-B6E5-4A096460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A9F-AA09-455D-8F12-4AD3CE6D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2CCC5-A756-420E-A5CA-21E3FDC4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640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2B3B85-7D0E-4FED-A71D-9F93C6808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9F51-20BB-459E-A73F-935A299A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90AF-86CA-4611-99E0-883DA4FF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8D37-365A-40D0-9393-68EFC4C6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9044-3DFC-45EC-A9B7-395F7ACF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23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99A63265-8878-4D82-9AF8-C5953C94035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0" y="0"/>
            <a:ext cx="1378630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82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34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FAE0F-2FCB-464F-9782-4E9641CA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E9FD3-58F4-4BC8-88E3-87728FF3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50B1-1D08-4852-9493-B73A821C7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8B0F-6710-4BFC-8CA6-059D75704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B2EF-1AA8-40C3-8A3C-0EBAF5E89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DD0A3A-E3EC-4E58-B6D0-D3E200941D3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0" y="0"/>
            <a:ext cx="1378630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1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1.png"/><Relationship Id="rId7" Type="http://schemas.openxmlformats.org/officeDocument/2006/relationships/image" Target="../media/image2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1.png"/><Relationship Id="rId5" Type="http://schemas.openxmlformats.org/officeDocument/2006/relationships/image" Target="../media/image22.png"/><Relationship Id="rId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4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2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6.png"/><Relationship Id="rId5" Type="http://schemas.openxmlformats.org/officeDocument/2006/relationships/image" Target="../media/image4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3.png"/><Relationship Id="rId5" Type="http://schemas.openxmlformats.org/officeDocument/2006/relationships/image" Target="../media/image520.png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3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54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9.png"/><Relationship Id="rId5" Type="http://schemas.openxmlformats.org/officeDocument/2006/relationships/image" Target="../media/image3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4.png"/><Relationship Id="rId5" Type="http://schemas.openxmlformats.org/officeDocument/2006/relationships/image" Target="../media/image60.png"/><Relationship Id="rId4" Type="http://schemas.openxmlformats.org/officeDocument/2006/relationships/image" Target="../media/image5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4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5.png"/><Relationship Id="rId5" Type="http://schemas.openxmlformats.org/officeDocument/2006/relationships/image" Target="../media/image5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1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7" Type="http://schemas.openxmlformats.org/officeDocument/2006/relationships/image" Target="../media/image71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61.png"/><Relationship Id="rId5" Type="http://schemas.openxmlformats.org/officeDocument/2006/relationships/image" Target="../media/image201.png"/><Relationship Id="rId4" Type="http://schemas.openxmlformats.org/officeDocument/2006/relationships/image" Target="../media/image64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2.png"/><Relationship Id="rId7" Type="http://schemas.openxmlformats.org/officeDocument/2006/relationships/image" Target="../media/image83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E9C8A7-46D2-4073-8F67-E8FACFA4B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3"/>
            <a:ext cx="6858000" cy="1055951"/>
          </a:xfrm>
        </p:spPr>
        <p:txBody>
          <a:bodyPr anchor="ctr">
            <a:normAutofit/>
          </a:bodyPr>
          <a:lstStyle/>
          <a:p>
            <a:pPr algn="ctr"/>
            <a:r>
              <a:rPr lang="ro-RO" b="1" dirty="0">
                <a:solidFill>
                  <a:srgbClr val="FFFFFF"/>
                </a:solidFill>
              </a:rPr>
              <a:t>Electronică Digitală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58408-1DD3-4BA0-B227-217A6D198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231886"/>
            <a:ext cx="6857999" cy="1323182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ro-RO" sz="2800" dirty="0">
                <a:solidFill>
                  <a:schemeClr val="bg2"/>
                </a:solidFill>
              </a:rPr>
              <a:t>Curs </a:t>
            </a:r>
            <a:r>
              <a:rPr lang="en-US" sz="2800" dirty="0">
                <a:solidFill>
                  <a:schemeClr val="bg2"/>
                </a:solidFill>
              </a:rPr>
              <a:t>3</a:t>
            </a:r>
            <a:endParaRPr lang="ro-RO" sz="2800" dirty="0">
              <a:solidFill>
                <a:schemeClr val="bg2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ro-RO" sz="2800" cap="none" dirty="0">
                <a:solidFill>
                  <a:schemeClr val="bg2"/>
                </a:solidFill>
              </a:rPr>
              <a:t>Ș.l. dr. ing. Daniela Stănescu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E6257-877C-4E29-56FA-675752E8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CD6E1-DB10-9223-F4EA-37BBB17E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69829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FA-CFE6-4E7F-8058-029D73D2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56" y="1119309"/>
            <a:ext cx="11049000" cy="4351338"/>
          </a:xfrm>
        </p:spPr>
        <p:txBody>
          <a:bodyPr/>
          <a:lstStyle/>
          <a:p>
            <a:pPr marL="0" indent="0">
              <a:buNone/>
            </a:pPr>
            <a:endParaRPr lang="ro-RO" sz="600" b="1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trece-jos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Filtre ce permit trecerea semnalelor de frecvență joasă: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distorsiuni minime și atenuarea puternică a semnalelor de frecvență înaltă.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C442C-1938-4E90-9C4C-6E80D6A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A5A5-8AD0-4B1A-9B9A-F77B614F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1865F-064D-448F-83FA-78D558A7739A}"/>
              </a:ext>
            </a:extLst>
          </p:cNvPr>
          <p:cNvSpPr txBox="1"/>
          <p:nvPr/>
        </p:nvSpPr>
        <p:spPr>
          <a:xfrm>
            <a:off x="3828757" y="6029497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ro-RO" sz="1400" dirty="0"/>
              <a:t>1</a:t>
            </a:r>
            <a:r>
              <a:rPr lang="es-ES" sz="1400" dirty="0"/>
              <a:t> </a:t>
            </a:r>
            <a:r>
              <a:rPr lang="ro-RO" sz="1400" dirty="0"/>
              <a:t>Circuitul</a:t>
            </a:r>
            <a:r>
              <a:rPr lang="es-ES" sz="1400" dirty="0"/>
              <a:t> RC trece </a:t>
            </a:r>
            <a:r>
              <a:rPr lang="ro-RO" sz="1400" dirty="0"/>
              <a:t>jos</a:t>
            </a:r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502" y="3425246"/>
            <a:ext cx="3703992" cy="24376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8508BE-7C68-E087-0B1F-C6DF21917D37}"/>
              </a:ext>
            </a:extLst>
          </p:cNvPr>
          <p:cNvSpPr txBox="1">
            <a:spLocks/>
          </p:cNvSpPr>
          <p:nvPr/>
        </p:nvSpPr>
        <p:spPr>
          <a:xfrm>
            <a:off x="128953" y="191844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7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328372" y="527568"/>
                <a:ext cx="6926835" cy="6330431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Reprezentare grafică  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Răspunsul circuitului RC trece jos: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Semnal exponențial :</a:t>
                </a: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porneşte de la 0 </a:t>
                </a: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şi creşte exponenţial spre U.</a:t>
                </a: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Timpul tinde să crească până la infinit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 de ridicare de la 0,1U la 0,9U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 b="0" i="0" smtClean="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400" b="0" i="0" smtClean="0"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ro-RO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24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o-R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2400" b="0" i="1" dirty="0">
                  <a:latin typeface="Cambria Math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ro-RO" sz="24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400" i="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i="0">
                                        <a:latin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2400" i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4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 i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 i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400" i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328372" y="527568"/>
                <a:ext cx="6926835" cy="6330431"/>
              </a:xfrm>
              <a:blipFill>
                <a:blip r:embed="rId2"/>
                <a:stretch>
                  <a:fillRect l="-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</a:t>
            </a:fld>
            <a:endParaRPr lang="ro-R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420510" y="6266656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ro-RO" sz="1400" dirty="0"/>
              <a:t>2</a:t>
            </a:r>
            <a:r>
              <a:rPr lang="it-IT" sz="1400" dirty="0"/>
              <a:t> Comportamentul unui circuit RC trece jos la un semnal treaptă</a:t>
            </a:r>
            <a:endParaRPr lang="ro-RO" sz="1400" dirty="0"/>
          </a:p>
        </p:txBody>
      </p:sp>
      <p:sp>
        <p:nvSpPr>
          <p:cNvPr id="9" name="Rectangle 8"/>
          <p:cNvSpPr/>
          <p:nvPr/>
        </p:nvSpPr>
        <p:spPr>
          <a:xfrm>
            <a:off x="339601" y="938826"/>
            <a:ext cx="4116320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RC trece jos – semnal treaptă: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81794" y="32636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478204"/>
            <a:ext cx="4004733" cy="4634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A20058-E2F9-FC87-590D-06C8CEBA6724}"/>
              </a:ext>
            </a:extLst>
          </p:cNvPr>
          <p:cNvCxnSpPr>
            <a:cxnSpLocks/>
          </p:cNvCxnSpPr>
          <p:nvPr/>
        </p:nvCxnSpPr>
        <p:spPr>
          <a:xfrm flipH="1">
            <a:off x="1703512" y="2516957"/>
            <a:ext cx="6741989" cy="3072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E3039F-8EFA-B5BD-7336-F0D353761D4F}"/>
              </a:ext>
            </a:extLst>
          </p:cNvPr>
          <p:cNvCxnSpPr>
            <a:cxnSpLocks/>
          </p:cNvCxnSpPr>
          <p:nvPr/>
        </p:nvCxnSpPr>
        <p:spPr>
          <a:xfrm flipH="1">
            <a:off x="4295800" y="3033270"/>
            <a:ext cx="5439473" cy="154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CE234A-262A-63B2-12AB-D6B5989C5935}"/>
              </a:ext>
            </a:extLst>
          </p:cNvPr>
          <p:cNvCxnSpPr>
            <a:cxnSpLocks/>
          </p:cNvCxnSpPr>
          <p:nvPr/>
        </p:nvCxnSpPr>
        <p:spPr>
          <a:xfrm flipH="1">
            <a:off x="1703512" y="5311525"/>
            <a:ext cx="6863521" cy="367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5EB25E-0507-FE6F-D986-31456869F30F}"/>
              </a:ext>
            </a:extLst>
          </p:cNvPr>
          <p:cNvCxnSpPr>
            <a:cxnSpLocks/>
          </p:cNvCxnSpPr>
          <p:nvPr/>
        </p:nvCxnSpPr>
        <p:spPr>
          <a:xfrm flipH="1" flipV="1">
            <a:off x="2807855" y="4664364"/>
            <a:ext cx="6502959" cy="387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819B2A0-2594-8295-738A-F2799CB63AF5}"/>
                  </a:ext>
                </a:extLst>
              </p:cNvPr>
              <p:cNvSpPr/>
              <p:nvPr/>
            </p:nvSpPr>
            <p:spPr>
              <a:xfrm>
                <a:off x="5120876" y="3112608"/>
                <a:ext cx="6892315" cy="519373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marL="717550" indent="-4635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0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0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0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0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0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0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0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0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den>
                        </m:f>
                      </m:sup>
                    </m:sSup>
                    <m:r>
                      <a:rPr lang="ro-RO" sz="2000" b="0" i="0">
                        <a:solidFill>
                          <a:schemeClr val="tx1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819B2A0-2594-8295-738A-F2799CB63A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876" y="3112608"/>
                <a:ext cx="6892315" cy="519373"/>
              </a:xfrm>
              <a:prstGeom prst="rect">
                <a:avLst/>
              </a:prstGeom>
              <a:blipFill>
                <a:blip r:embed="rId4"/>
                <a:stretch>
                  <a:fillRect b="-1954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ABF646-4FDB-9D21-79F0-B59E909434CA}"/>
              </a:ext>
            </a:extLst>
          </p:cNvPr>
          <p:cNvCxnSpPr>
            <a:cxnSpLocks/>
          </p:cNvCxnSpPr>
          <p:nvPr/>
        </p:nvCxnSpPr>
        <p:spPr>
          <a:xfrm flipH="1">
            <a:off x="2493818" y="5772727"/>
            <a:ext cx="3539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817958-A975-EE2D-751A-3EA328C21D51}"/>
              </a:ext>
            </a:extLst>
          </p:cNvPr>
          <p:cNvCxnSpPr>
            <a:cxnSpLocks/>
          </p:cNvCxnSpPr>
          <p:nvPr/>
        </p:nvCxnSpPr>
        <p:spPr>
          <a:xfrm flipH="1" flipV="1">
            <a:off x="3749964" y="4581128"/>
            <a:ext cx="4121165" cy="1660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7150B0-0E10-1B32-E02E-20F1DD8FE28C}"/>
              </a:ext>
            </a:extLst>
          </p:cNvPr>
          <p:cNvCxnSpPr>
            <a:cxnSpLocks/>
          </p:cNvCxnSpPr>
          <p:nvPr/>
        </p:nvCxnSpPr>
        <p:spPr>
          <a:xfrm flipH="1" flipV="1">
            <a:off x="1631504" y="5678934"/>
            <a:ext cx="6935529" cy="545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244166-66D8-03B9-EBB7-92FEB7D18D72}"/>
              </a:ext>
            </a:extLst>
          </p:cNvPr>
          <p:cNvCxnSpPr>
            <a:cxnSpLocks/>
          </p:cNvCxnSpPr>
          <p:nvPr/>
        </p:nvCxnSpPr>
        <p:spPr>
          <a:xfrm flipH="1" flipV="1">
            <a:off x="3916218" y="4664364"/>
            <a:ext cx="3781797" cy="2025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63CD81-2B60-321D-00B9-8AE21927CDEE}"/>
              </a:ext>
            </a:extLst>
          </p:cNvPr>
          <p:cNvCxnSpPr>
            <a:cxnSpLocks/>
          </p:cNvCxnSpPr>
          <p:nvPr/>
        </p:nvCxnSpPr>
        <p:spPr>
          <a:xfrm flipH="1" flipV="1">
            <a:off x="2894388" y="4664364"/>
            <a:ext cx="5672645" cy="1919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lide Number Placeholder 4">
                <a:extLst>
                  <a:ext uri="{FF2B5EF4-FFF2-40B4-BE49-F238E27FC236}">
                    <a16:creationId xmlns:a16="http://schemas.microsoft.com/office/drawing/2014/main" id="{F7081A7A-CF96-F705-8DA6-4066DD4446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83283" y="5728153"/>
                <a:ext cx="2743200" cy="496661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vert="horz" lIns="91440" tIns="45720" rIns="91440" bIns="45720" rtlCol="0" anchor="ctr"/>
              <a:lstStyle>
                <a:defPPr>
                  <a:defRPr lang="en-US"/>
                </a:defPPr>
                <a:lvl1pPr marL="0" algn="r" defTabSz="457200" rtl="0" eaLnBrk="1" latinLnBrk="0" hangingPunct="1">
                  <a:defRPr sz="1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ro-RO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ro-RO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</m:t>
                    </m:r>
                  </m:oMath>
                </a14:m>
                <a:endParaRPr lang="ro-RO" sz="22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Slide Number Placeholder 4">
                <a:extLst>
                  <a:ext uri="{FF2B5EF4-FFF2-40B4-BE49-F238E27FC236}">
                    <a16:creationId xmlns:a16="http://schemas.microsoft.com/office/drawing/2014/main" id="{F7081A7A-CF96-F705-8DA6-4066DD444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3283" y="5728153"/>
                <a:ext cx="2743200" cy="496661"/>
              </a:xfrm>
              <a:prstGeom prst="rect">
                <a:avLst/>
              </a:prstGeom>
              <a:blipFill>
                <a:blip r:embed="rId5"/>
                <a:stretch>
                  <a:fillRect b="-26506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6C92D73-EF8B-D2EE-D967-D0829FA42EE6}"/>
                  </a:ext>
                </a:extLst>
              </p:cNvPr>
              <p:cNvSpPr/>
              <p:nvPr/>
            </p:nvSpPr>
            <p:spPr>
              <a:xfrm>
                <a:off x="6191834" y="3583369"/>
                <a:ext cx="5547488" cy="6867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p>
                      <m:sSup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endParaRPr lang="ro-RO" sz="2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6C92D73-EF8B-D2EE-D967-D0829FA42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834" y="3583369"/>
                <a:ext cx="5547488" cy="686726"/>
              </a:xfrm>
              <a:prstGeom prst="rect">
                <a:avLst/>
              </a:prstGeom>
              <a:blipFill>
                <a:blip r:embed="rId6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36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uiExpand="1" build="p"/>
      <p:bldP spid="2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136343" y="71199"/>
            <a:ext cx="87288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30473" y="652816"/>
                <a:ext cx="8490035" cy="5666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Analiza răspuns RC trece –jos  → raportul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4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  <m:sub>
                        <m:r>
                          <a:rPr lang="ro-RO" sz="24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ro-RO" sz="24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 RC</a:t>
                </a:r>
                <a:r>
                  <a:rPr lang="en-US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73" y="652816"/>
                <a:ext cx="8490035" cy="566630"/>
              </a:xfrm>
              <a:prstGeom prst="rect">
                <a:avLst/>
              </a:prstGeom>
              <a:blipFill>
                <a:blip r:embed="rId2"/>
                <a:stretch>
                  <a:fillRect l="-790" b="-2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46" y="1342924"/>
            <a:ext cx="10292654" cy="2319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230473" y="3978587"/>
            <a:ext cx="11670173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analiza făcută mai sus se poate observa că: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în primul caz →interpretează corect;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al doilea caz → interpretează cu dificultate și răspunde cu multă întârziere;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al treilea caz → răspunsul nu mai poate fi corect: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interpretarea semnalului de la intrare → eronată.</a:t>
            </a:r>
            <a:endParaRPr lang="ro-RO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F3198D-D252-B191-46C2-579D671D556E}"/>
              </a:ext>
            </a:extLst>
          </p:cNvPr>
          <p:cNvCxnSpPr/>
          <p:nvPr/>
        </p:nvCxnSpPr>
        <p:spPr>
          <a:xfrm flipV="1">
            <a:off x="838200" y="3573016"/>
            <a:ext cx="649288" cy="1224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7C423D-1FF0-00D9-0533-ED7A7078C407}"/>
              </a:ext>
            </a:extLst>
          </p:cNvPr>
          <p:cNvCxnSpPr/>
          <p:nvPr/>
        </p:nvCxnSpPr>
        <p:spPr>
          <a:xfrm flipV="1">
            <a:off x="838200" y="2780928"/>
            <a:ext cx="3745632" cy="2520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A75A9D-C500-CBA3-6890-33A3F82D05B2}"/>
              </a:ext>
            </a:extLst>
          </p:cNvPr>
          <p:cNvCxnSpPr/>
          <p:nvPr/>
        </p:nvCxnSpPr>
        <p:spPr>
          <a:xfrm flipV="1">
            <a:off x="870420" y="3398984"/>
            <a:ext cx="7850088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C3A6D9-D9E3-98CE-00ED-BE1EFEAEC07C}"/>
              </a:ext>
            </a:extLst>
          </p:cNvPr>
          <p:cNvSpPr txBox="1"/>
          <p:nvPr/>
        </p:nvSpPr>
        <p:spPr>
          <a:xfrm>
            <a:off x="3086023" y="3875236"/>
            <a:ext cx="586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ro-RO" sz="1400" dirty="0"/>
              <a:t>3</a:t>
            </a:r>
            <a:r>
              <a:rPr lang="en-US" sz="1400" dirty="0"/>
              <a:t> 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trece-</a:t>
            </a:r>
            <a:r>
              <a:rPr lang="ro-RO" sz="1400" dirty="0"/>
              <a:t>jos </a:t>
            </a:r>
            <a:r>
              <a:rPr lang="es-ES" sz="1400" dirty="0"/>
              <a:t> </a:t>
            </a:r>
            <a:r>
              <a:rPr lang="es-ES" sz="1400" dirty="0" err="1"/>
              <a:t>în</a:t>
            </a:r>
            <a:r>
              <a:rPr lang="es-ES" sz="1400" dirty="0"/>
              <a:t> </a:t>
            </a:r>
            <a:r>
              <a:rPr lang="es-ES" sz="1400" dirty="0" err="1"/>
              <a:t>funcţie</a:t>
            </a:r>
            <a:r>
              <a:rPr lang="es-ES" sz="1400" dirty="0"/>
              <a:t> de </a:t>
            </a:r>
            <a:r>
              <a:rPr lang="es-ES" sz="1400" dirty="0" err="1"/>
              <a:t>raportul</a:t>
            </a:r>
            <a:r>
              <a:rPr lang="es-ES" sz="1400" dirty="0"/>
              <a:t> Ti </a:t>
            </a:r>
            <a:r>
              <a:rPr lang="es-ES" sz="1400" dirty="0" err="1"/>
              <a:t>şi</a:t>
            </a:r>
            <a:r>
              <a:rPr lang="es-ES" sz="1400" dirty="0"/>
              <a:t> RC</a:t>
            </a:r>
            <a:endParaRPr lang="ro-RO" sz="1400" dirty="0"/>
          </a:p>
        </p:txBody>
      </p:sp>
    </p:spTree>
    <p:extLst>
      <p:ext uri="{BB962C8B-B14F-4D97-AF65-F5344CB8AC3E}">
        <p14:creationId xmlns:p14="http://schemas.microsoft.com/office/powerpoint/2010/main" val="327568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D956-F1A5-4AF5-B8A9-FE76B71E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97063-AF88-455B-9FF5-8CE43C18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</a:t>
            </a:fld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338049" y="440233"/>
            <a:ext cx="8728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</a:t>
            </a:r>
            <a:r>
              <a:rPr lang="ro-RO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-jos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8049" y="1126894"/>
            <a:ext cx="2257233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Concluzii: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9291" y="1867838"/>
            <a:ext cx="11670173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Circuitele RC trece jos → filtre ce permit: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trecerea semnalelor de frecvență joasă cu distorsiuni minime 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atenuarea puternică a semnalelor de frecvență înaltă.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frecvențe foarte mari: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durata de tranziție extrem de mică → în comparație cu constanta de timp  RC a circuitului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mod practic semnalul de la ieșire → va fi zero.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frecvențe mici: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semnalul de la ieșire repetă cu aproximație valoarea și forma semnalului de la intrare: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fiind foarte puțin distorsionat.</a:t>
            </a:r>
            <a:endParaRPr lang="ro-RO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995" y="1493569"/>
            <a:ext cx="2977021" cy="220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547" y="1416878"/>
            <a:ext cx="3230969" cy="2590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88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41FA-CFE6-4E7F-8058-029D73D2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77" y="152544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 RC trece-sus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Permite să treacă semnale de frecvențe mari: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implică distorsiune pentru frecvențe joase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Atenuatoare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C442C-1938-4E90-9C4C-6E80D6A2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AA5A5-8AD0-4B1A-9B9A-F77B614F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1865F-064D-448F-83FA-78D558A7739A}"/>
              </a:ext>
            </a:extLst>
          </p:cNvPr>
          <p:cNvSpPr txBox="1"/>
          <p:nvPr/>
        </p:nvSpPr>
        <p:spPr>
          <a:xfrm>
            <a:off x="3828757" y="5874229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ro-RO" sz="1400" dirty="0"/>
              <a:t>4</a:t>
            </a:r>
            <a:r>
              <a:rPr lang="es-ES" sz="1400" dirty="0"/>
              <a:t> </a:t>
            </a:r>
            <a:r>
              <a:rPr lang="ro-RO" sz="1400" dirty="0"/>
              <a:t>Circuitul</a:t>
            </a:r>
            <a:r>
              <a:rPr lang="es-ES" sz="1400" dirty="0"/>
              <a:t> RC trece sus</a:t>
            </a:r>
            <a:endParaRPr lang="ro-RO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827" y="3571142"/>
            <a:ext cx="3331177" cy="209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3B0A4DA-CA6E-545A-04E1-B587430105D7}"/>
              </a:ext>
            </a:extLst>
          </p:cNvPr>
          <p:cNvSpPr txBox="1">
            <a:spLocks/>
          </p:cNvSpPr>
          <p:nvPr/>
        </p:nvSpPr>
        <p:spPr>
          <a:xfrm>
            <a:off x="128953" y="191844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60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208251" y="2430838"/>
                <a:ext cx="6660327" cy="2017320"/>
              </a:xfrm>
            </p:spPr>
            <p:txBody>
              <a:bodyPr anchor="t">
                <a:noAutofit/>
              </a:bodyPr>
              <a:lstStyle/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niţial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semnalul are un salt → de amplitudine U: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Timpul scade exponențial spre valoarea 0.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ro-RO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o-RO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RC</m:t>
                            </m:r>
                          </m:den>
                        </m:f>
                      </m:sup>
                    </m:sSup>
                  </m:oMath>
                </a14:m>
                <a:endParaRPr lang="ro-RO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Content Placeholder 38">
                <a:extLst>
                  <a:ext uri="{FF2B5EF4-FFF2-40B4-BE49-F238E27FC236}">
                    <a16:creationId xmlns:a16="http://schemas.microsoft.com/office/drawing/2014/main" id="{5E64147C-9C10-46E0-9F09-7D8CA03AD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208251" y="2430838"/>
                <a:ext cx="6660327" cy="20173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8980E-25C1-4B71-96FE-9BAA281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28737-86C0-4649-89B9-529E1BD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7</a:t>
            </a:fld>
            <a:endParaRPr lang="ro-RO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32699-D303-42BF-BEF0-DFE24B0805E8}"/>
              </a:ext>
            </a:extLst>
          </p:cNvPr>
          <p:cNvSpPr txBox="1"/>
          <p:nvPr/>
        </p:nvSpPr>
        <p:spPr>
          <a:xfrm>
            <a:off x="339601" y="6383583"/>
            <a:ext cx="5207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Fig.</a:t>
            </a:r>
            <a:r>
              <a:rPr lang="ro-RO" sz="1400" dirty="0"/>
              <a:t>5</a:t>
            </a:r>
            <a:r>
              <a:rPr lang="it-IT" sz="1400" dirty="0"/>
              <a:t> Comportamentul unui circuit RC trece sus la un semnal treaptă</a:t>
            </a:r>
            <a:endParaRPr lang="ro-RO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208251" y="1143044"/>
                <a:ext cx="6579493" cy="55739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wrap="none">
                <a:spAutoFit/>
              </a:bodyPr>
              <a:lstStyle/>
              <a:p>
                <a:pPr marL="717550" indent="-4635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ro-RO" sz="22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2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den>
                        </m:f>
                      </m:sup>
                    </m:sSup>
                    <m:r>
                      <a:rPr lang="ro-RO" sz="2200" b="0" i="0">
                        <a:solidFill>
                          <a:schemeClr val="tx1"/>
                        </a:solidFill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251" y="1143044"/>
                <a:ext cx="6579493" cy="557397"/>
              </a:xfrm>
              <a:prstGeom prst="rect">
                <a:avLst/>
              </a:prstGeom>
              <a:blipFill>
                <a:blip r:embed="rId3"/>
                <a:stretch>
                  <a:fillRect b="-2150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CFCB40D7-7A7B-4F90-9714-8EADAF1FEB08}"/>
              </a:ext>
            </a:extLst>
          </p:cNvPr>
          <p:cNvSpPr txBox="1">
            <a:spLocks/>
          </p:cNvSpPr>
          <p:nvPr/>
        </p:nvSpPr>
        <p:spPr>
          <a:xfrm>
            <a:off x="117231" y="143366"/>
            <a:ext cx="11383107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Comportamentul circuitelor RC la aplicarea diferitelor semnale numerice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601" y="938826"/>
            <a:ext cx="41467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RC trece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semnal treaptă: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E40FA-8D76-9045-4A59-15EE90D37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01" y="1700441"/>
            <a:ext cx="4638675" cy="446722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0A05CA-700F-127F-D51E-311F32929D71}"/>
              </a:ext>
            </a:extLst>
          </p:cNvPr>
          <p:cNvCxnSpPr>
            <a:cxnSpLocks/>
          </p:cNvCxnSpPr>
          <p:nvPr/>
        </p:nvCxnSpPr>
        <p:spPr>
          <a:xfrm flipH="1">
            <a:off x="1191491" y="2847018"/>
            <a:ext cx="10162309" cy="1625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215C43-8EE0-DEAA-6356-CB780A5F8E23}"/>
              </a:ext>
            </a:extLst>
          </p:cNvPr>
          <p:cNvCxnSpPr>
            <a:cxnSpLocks/>
          </p:cNvCxnSpPr>
          <p:nvPr/>
        </p:nvCxnSpPr>
        <p:spPr>
          <a:xfrm flipH="1">
            <a:off x="3749964" y="3447182"/>
            <a:ext cx="7028872" cy="2260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38">
                <a:extLst>
                  <a:ext uri="{FF2B5EF4-FFF2-40B4-BE49-F238E27FC236}">
                    <a16:creationId xmlns:a16="http://schemas.microsoft.com/office/drawing/2014/main" id="{88D94C97-9E31-F396-F5E7-75B9F07064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6402" y="4241845"/>
                <a:ext cx="5284024" cy="17390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>
                  <a:lnSpc>
                    <a:spcPct val="150000"/>
                  </a:lnSpc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Timp de cădere → Reper măsurare: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la 0,9·U la 0,1·U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mtClean="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mtClean="0"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ro-RO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smtClean="0"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3" name="Content Placeholder 38">
                <a:extLst>
                  <a:ext uri="{FF2B5EF4-FFF2-40B4-BE49-F238E27FC236}">
                    <a16:creationId xmlns:a16="http://schemas.microsoft.com/office/drawing/2014/main" id="{88D94C97-9E31-F396-F5E7-75B9F0706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02" y="4241845"/>
                <a:ext cx="5284024" cy="1739030"/>
              </a:xfrm>
              <a:prstGeom prst="rect">
                <a:avLst/>
              </a:prstGeom>
              <a:blipFill>
                <a:blip r:embed="rId5"/>
                <a:stretch>
                  <a:fillRect r="-1615" b="-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E60C2D6-CE78-B238-060A-88C09E043A89}"/>
              </a:ext>
            </a:extLst>
          </p:cNvPr>
          <p:cNvSpPr txBox="1"/>
          <p:nvPr/>
        </p:nvSpPr>
        <p:spPr>
          <a:xfrm>
            <a:off x="5453388" y="1877347"/>
            <a:ext cx="2887049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Reprezentare grafică 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F1F76F9-68ED-E323-400C-84FBE67512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014" y="1538991"/>
            <a:ext cx="4305300" cy="4628675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363FEE-E205-163D-4FC5-E7D073EA9BE9}"/>
              </a:ext>
            </a:extLst>
          </p:cNvPr>
          <p:cNvCxnSpPr>
            <a:cxnSpLocks/>
          </p:cNvCxnSpPr>
          <p:nvPr/>
        </p:nvCxnSpPr>
        <p:spPr>
          <a:xfrm flipH="1" flipV="1">
            <a:off x="1191491" y="4282770"/>
            <a:ext cx="7084291" cy="997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87743B-8F2F-1038-FEBF-9868A0A4D066}"/>
              </a:ext>
            </a:extLst>
          </p:cNvPr>
          <p:cNvCxnSpPr>
            <a:cxnSpLocks/>
          </p:cNvCxnSpPr>
          <p:nvPr/>
        </p:nvCxnSpPr>
        <p:spPr>
          <a:xfrm flipH="1">
            <a:off x="3556000" y="5347007"/>
            <a:ext cx="5301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DBC257-8876-A9B0-57DB-A7CB29FBC86F}"/>
              </a:ext>
            </a:extLst>
          </p:cNvPr>
          <p:cNvCxnSpPr>
            <a:cxnSpLocks/>
          </p:cNvCxnSpPr>
          <p:nvPr/>
        </p:nvCxnSpPr>
        <p:spPr>
          <a:xfrm flipH="1" flipV="1">
            <a:off x="3648364" y="5865091"/>
            <a:ext cx="3084945" cy="5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34FB6F6-9EB7-9005-9F82-4F58634B2783}"/>
                  </a:ext>
                </a:extLst>
              </p:cNvPr>
              <p:cNvSpPr txBox="1"/>
              <p:nvPr/>
            </p:nvSpPr>
            <p:spPr>
              <a:xfrm>
                <a:off x="6385791" y="6086756"/>
                <a:ext cx="3909291" cy="701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400"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ro-RO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400">
                        <a:latin typeface="Cambria Math" panose="02040503050406030204" pitchFamily="18" charset="0"/>
                      </a:rPr>
                      <m:t>R</m:t>
                    </m:r>
                    <m:r>
                      <a:rPr lang="ro-RO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ro-RO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ro-RO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·</m:t>
                    </m:r>
                    <m:func>
                      <m:funcPr>
                        <m:ctrlPr>
                          <a:rPr lang="ro-R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4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ro-RO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40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40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o-RO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4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ro-RO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34FB6F6-9EB7-9005-9F82-4F58634B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791" y="6086756"/>
                <a:ext cx="3909291" cy="7010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Slide Number Placeholder 4">
                <a:extLst>
                  <a:ext uri="{FF2B5EF4-FFF2-40B4-BE49-F238E27FC236}">
                    <a16:creationId xmlns:a16="http://schemas.microsoft.com/office/drawing/2014/main" id="{468CA39D-AAF9-59A8-ABEF-68BAD34F1E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91782" y="5475180"/>
                <a:ext cx="2743200" cy="496661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vert="horz" lIns="91440" tIns="45720" rIns="91440" bIns="45720" rtlCol="0" anchor="ctr"/>
              <a:lstStyle>
                <a:defPPr>
                  <a:defRPr lang="en-US"/>
                </a:defPPr>
                <a:lvl1pPr marL="0" algn="r" defTabSz="457200" rtl="0" eaLnBrk="1" latinLnBrk="0" hangingPunct="1">
                  <a:defRPr sz="1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717550" lvl="1" indent="-463550">
                  <a:lnSpc>
                    <a:spcPct val="150000"/>
                  </a:lnSpc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ro-RO" sz="22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sub>
                    </m:sSub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ro-RO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  <m:r>
                      <a:rPr lang="ro-RO" sz="2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o-RO" sz="2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</m:t>
                    </m:r>
                  </m:oMath>
                </a14:m>
                <a:endParaRPr lang="ro-RO" sz="22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Slide Number Placeholder 4">
                <a:extLst>
                  <a:ext uri="{FF2B5EF4-FFF2-40B4-BE49-F238E27FC236}">
                    <a16:creationId xmlns:a16="http://schemas.microsoft.com/office/drawing/2014/main" id="{468CA39D-AAF9-59A8-ABEF-68BAD34F1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1782" y="5475180"/>
                <a:ext cx="2743200" cy="496661"/>
              </a:xfrm>
              <a:prstGeom prst="rect">
                <a:avLst/>
              </a:prstGeom>
              <a:blipFill>
                <a:blip r:embed="rId8"/>
                <a:stretch>
                  <a:fillRect b="-25000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4854678-5A30-9501-0203-EEF26AFEACAF}"/>
              </a:ext>
            </a:extLst>
          </p:cNvPr>
          <p:cNvCxnSpPr/>
          <p:nvPr/>
        </p:nvCxnSpPr>
        <p:spPr>
          <a:xfrm flipH="1" flipV="1">
            <a:off x="3749964" y="5475180"/>
            <a:ext cx="4860636" cy="805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D8FE032-7383-0FFD-41CF-B921FE1B1D71}"/>
              </a:ext>
            </a:extLst>
          </p:cNvPr>
          <p:cNvCxnSpPr>
            <a:cxnSpLocks/>
          </p:cNvCxnSpPr>
          <p:nvPr/>
        </p:nvCxnSpPr>
        <p:spPr>
          <a:xfrm flipH="1" flipV="1">
            <a:off x="1247538" y="4344349"/>
            <a:ext cx="8145844" cy="193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91389F6-670E-EC16-D4CE-2FDCD020EABC}"/>
              </a:ext>
            </a:extLst>
          </p:cNvPr>
          <p:cNvCxnSpPr>
            <a:cxnSpLocks/>
          </p:cNvCxnSpPr>
          <p:nvPr/>
        </p:nvCxnSpPr>
        <p:spPr>
          <a:xfrm flipH="1" flipV="1">
            <a:off x="3814946" y="5449650"/>
            <a:ext cx="4683051" cy="1154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54E4046-2B28-8089-6429-79E0F285C62D}"/>
              </a:ext>
            </a:extLst>
          </p:cNvPr>
          <p:cNvCxnSpPr>
            <a:cxnSpLocks/>
          </p:cNvCxnSpPr>
          <p:nvPr/>
        </p:nvCxnSpPr>
        <p:spPr>
          <a:xfrm flipH="1" flipV="1">
            <a:off x="3556000" y="5475180"/>
            <a:ext cx="5735782" cy="1128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81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E1DB5-240E-4100-BA4F-494ECC67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E8001-5D5E-4343-B067-6FDE8FB1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8</a:t>
            </a:fld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2F6F8B-EB8F-47D7-AE2B-01DAC8F88CBE}"/>
                  </a:ext>
                </a:extLst>
              </p:cNvPr>
              <p:cNvSpPr txBox="1"/>
              <p:nvPr/>
            </p:nvSpPr>
            <p:spPr>
              <a:xfrm>
                <a:off x="107877" y="3459592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2F6F8B-EB8F-47D7-AE2B-01DAC8F88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77" y="3459592"/>
                <a:ext cx="3207434" cy="430887"/>
              </a:xfrm>
              <a:prstGeom prst="rect">
                <a:avLst/>
              </a:prstGeom>
              <a:blipFill>
                <a:blip r:embed="rId2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A3B2E9-80C7-4174-82C7-05B0ED7CE54C}"/>
                  </a:ext>
                </a:extLst>
              </p:cNvPr>
              <p:cNvSpPr txBox="1"/>
              <p:nvPr/>
            </p:nvSpPr>
            <p:spPr>
              <a:xfrm>
                <a:off x="4024007" y="3352512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A3B2E9-80C7-4174-82C7-05B0ED7CE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007" y="3352512"/>
                <a:ext cx="3207434" cy="430887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3F9CB8-ADD4-44C6-9126-D48BCE8F3801}"/>
                  </a:ext>
                </a:extLst>
              </p:cNvPr>
              <p:cNvSpPr txBox="1"/>
              <p:nvPr/>
            </p:nvSpPr>
            <p:spPr>
              <a:xfrm>
                <a:off x="8257193" y="3229670"/>
                <a:ext cx="3207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2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ro-RO" sz="22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2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𝐑𝐂</m:t>
                      </m:r>
                    </m:oMath>
                  </m:oMathPara>
                </a14:m>
                <a:endParaRPr lang="ro-RO" sz="2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3F9CB8-ADD4-44C6-9126-D48BCE8F3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193" y="3229670"/>
                <a:ext cx="3207434" cy="430887"/>
              </a:xfrm>
              <a:prstGeom prst="rect">
                <a:avLst/>
              </a:prstGeom>
              <a:blipFill>
                <a:blip r:embed="rId4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C10D35F-74CE-44C9-876E-58529A46BF5D}"/>
              </a:ext>
            </a:extLst>
          </p:cNvPr>
          <p:cNvSpPr txBox="1"/>
          <p:nvPr/>
        </p:nvSpPr>
        <p:spPr>
          <a:xfrm>
            <a:off x="3086023" y="3875236"/>
            <a:ext cx="586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Fig.</a:t>
            </a:r>
            <a:r>
              <a:rPr lang="ro-RO" sz="1400" dirty="0"/>
              <a:t>6</a:t>
            </a:r>
            <a:r>
              <a:rPr lang="en-US" sz="1400" dirty="0"/>
              <a:t> </a:t>
            </a:r>
            <a:r>
              <a:rPr lang="es-ES" sz="1400" dirty="0"/>
              <a:t> </a:t>
            </a:r>
            <a:r>
              <a:rPr lang="es-ES" sz="1400" dirty="0" err="1"/>
              <a:t>Răspunsul</a:t>
            </a:r>
            <a:r>
              <a:rPr lang="es-ES" sz="1400" dirty="0"/>
              <a:t> </a:t>
            </a:r>
            <a:r>
              <a:rPr lang="es-ES" sz="1400" dirty="0" err="1"/>
              <a:t>circuitului</a:t>
            </a:r>
            <a:r>
              <a:rPr lang="es-ES" sz="1400" dirty="0"/>
              <a:t> RC trece-sus </a:t>
            </a:r>
            <a:r>
              <a:rPr lang="es-ES" sz="1400" dirty="0" err="1"/>
              <a:t>în</a:t>
            </a:r>
            <a:r>
              <a:rPr lang="es-ES" sz="1400" dirty="0"/>
              <a:t> </a:t>
            </a:r>
            <a:r>
              <a:rPr lang="es-ES" sz="1400" dirty="0" err="1"/>
              <a:t>funcţie</a:t>
            </a:r>
            <a:r>
              <a:rPr lang="es-ES" sz="1400" dirty="0"/>
              <a:t> de </a:t>
            </a:r>
            <a:r>
              <a:rPr lang="es-ES" sz="1400" dirty="0" err="1"/>
              <a:t>raportul</a:t>
            </a:r>
            <a:r>
              <a:rPr lang="es-ES" sz="1400" dirty="0"/>
              <a:t> Ti </a:t>
            </a:r>
            <a:r>
              <a:rPr lang="es-ES" sz="1400" dirty="0" err="1"/>
              <a:t>şi</a:t>
            </a:r>
            <a:r>
              <a:rPr lang="es-ES" sz="1400" dirty="0"/>
              <a:t> RC</a:t>
            </a:r>
            <a:endParaRPr lang="ro-RO" sz="1400" dirty="0"/>
          </a:p>
        </p:txBody>
      </p:sp>
      <p:sp>
        <p:nvSpPr>
          <p:cNvPr id="17" name="Rectangle 16"/>
          <p:cNvSpPr/>
          <p:nvPr/>
        </p:nvSpPr>
        <p:spPr>
          <a:xfrm>
            <a:off x="218713" y="286642"/>
            <a:ext cx="8728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 trece sus la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</a:t>
            </a:r>
            <a:endParaRPr lang="ro-RO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47" y="898219"/>
            <a:ext cx="3246555" cy="245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94409" y="4149394"/>
                <a:ext cx="11603182" cy="1047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Răspunsul circuitului RC trece-sus: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depinde foarte mult de raportul dintre durata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și constanta de timp RC;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09" y="4149394"/>
                <a:ext cx="11603182" cy="1047210"/>
              </a:xfrm>
              <a:prstGeom prst="rect">
                <a:avLst/>
              </a:prstGeom>
              <a:blipFill>
                <a:blip r:embed="rId6"/>
                <a:stretch>
                  <a:fillRect l="-57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961" y="1098637"/>
            <a:ext cx="2857912" cy="16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569" y="1011907"/>
            <a:ext cx="3669801" cy="2118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6CB6F-C290-DDB7-E3B1-CB35DD98F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8994" y="5196604"/>
            <a:ext cx="11573436" cy="1849868"/>
          </a:xfrm>
        </p:spPr>
        <p:txBody>
          <a:bodyPr anchor="t"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Semnalele de frecvență înaltă → puțin distorsionate: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semnalul de la ieșire are forma aproximativă a semnalului de la intrare;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Semnalele de frecvență joasă → puternic distorsionate la trecerea prin astfel de circuite.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1B3B032-331D-8CAE-E66D-F845ECB29D2A}"/>
              </a:ext>
            </a:extLst>
          </p:cNvPr>
          <p:cNvCxnSpPr>
            <a:cxnSpLocks/>
          </p:cNvCxnSpPr>
          <p:nvPr/>
        </p:nvCxnSpPr>
        <p:spPr>
          <a:xfrm flipV="1">
            <a:off x="500147" y="3229670"/>
            <a:ext cx="4016435" cy="2238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843D10-F76E-07DC-E56F-443ED4C95C5A}"/>
              </a:ext>
            </a:extLst>
          </p:cNvPr>
          <p:cNvCxnSpPr>
            <a:cxnSpLocks/>
          </p:cNvCxnSpPr>
          <p:nvPr/>
        </p:nvCxnSpPr>
        <p:spPr>
          <a:xfrm flipV="1">
            <a:off x="500147" y="3352512"/>
            <a:ext cx="977671" cy="321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33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4A65-94C8-32BE-D60F-B3F279A6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A7C6-6722-FE2C-D64F-C2DB6BE2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B648C-B13C-56AE-1207-FF0D9CF9F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68" y="1274639"/>
            <a:ext cx="11471031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Dispozitivele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siliciul (Si)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germaniul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(Ge)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3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proprietăți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intermediare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conductorilor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izolatorilor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proiectării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telefoane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echipamente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mașini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F2980-6DA2-B681-C1E3-5C656552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E337C-2D52-CC4B-3DE7-C9A3DC82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545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ACD5-5CD7-A461-B706-E8B9181C8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0D1B-03A3-364A-4EA8-6DCB4355B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46" y="6496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FC785-E84E-7D27-200E-34A424E56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284" y="836979"/>
            <a:ext cx="11471031" cy="2839806"/>
          </a:xfrm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emiconductor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cărui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conductivitate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dopaj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impurități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variația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expunerea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lumină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fotodiodelor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celulelor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627C5-B4C5-743B-448D-66A13C88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64675-DD06-8DAB-58EC-2D7D3CF8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10</a:t>
            </a:fld>
            <a:endParaRPr lang="ro-R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828E5-87E1-57DA-A2C3-6092F05F0D49}"/>
              </a:ext>
            </a:extLst>
          </p:cNvPr>
          <p:cNvSpPr/>
          <p:nvPr/>
        </p:nvSpPr>
        <p:spPr>
          <a:xfrm>
            <a:off x="451338" y="3676785"/>
            <a:ext cx="11289324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Materialele semiconductoare → proprietate: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anumite condiţii permit trecerea curentului, iar in alte condiţii → nu permit.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 controla transferul de sarcini electrice.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Curentul electric → determinat de deplasarea sarcinilor electrice pozitive printr-un material într-un anumit sens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606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9F52E-6CC6-2927-016E-DA2AB3017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BA1B-B355-0C7C-88C8-C48566CD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46" y="6496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18440-992A-34AE-AFDC-6C3A1D342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1" y="980457"/>
            <a:ext cx="11471031" cy="5026515"/>
          </a:xfrm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Importanța dispozitivelor semiconductoare : 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o-RO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dimensiunilor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creșterea performanțe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echipamentelor electronice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o-RO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reducerea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consumului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o-RO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tehnologiilor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comunicațiilor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Observație: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permanență se urmărește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progresul către dispozitive electronice mai mici și mai puternice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474B9-CF78-271D-F45D-495DECC1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1D894-07CA-F955-C851-A5217CDD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1056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68" y="1274639"/>
            <a:ext cx="11471031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Dispozitivele semiconductoare au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două tipuri de parametrii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Statici: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 fiecărui dispozitiv în parte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catalog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limite de valori;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baza lor → posibilă proiectarea circuitelor cu astfel de dispozitive.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Dinamici: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Dependenţi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tipul dispozitivelor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modul de utilizare;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Exprimaţi în timp sau frecvenţă :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numerice → pot lucra la frecvenţe mai mari sau mai mici.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7226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46" y="6496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484" y="1180320"/>
            <a:ext cx="11471031" cy="50265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Principalele dispozitive semiconductoare : 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Diodele semiconductoare 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 bipolar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 unipolar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Conține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milioane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tranzistoare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singură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pastilă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siliciu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ării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procesoarelor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memoriilor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01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14</a:t>
            </a:fld>
            <a:endParaRPr lang="ro-RO"/>
          </a:p>
        </p:txBody>
      </p:sp>
      <p:sp>
        <p:nvSpPr>
          <p:cNvPr id="4" name="Rectangle 3"/>
          <p:cNvSpPr/>
          <p:nvPr/>
        </p:nvSpPr>
        <p:spPr>
          <a:xfrm>
            <a:off x="451338" y="732477"/>
            <a:ext cx="11289324" cy="6125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Materialele de construcţie cele mai utilizate →Siliciu (SI) şi Germaniu (Ge):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Siliciul: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 mai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raspândit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material semiconductor (locul 2 după Oxigen);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se găseşte în formă naturală → ci în formă de silicat → dioxid de siliciu: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siliciul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leagă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oxigen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dioxid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siliciu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(SiO2)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→cuarț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parte din grupa 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din tabelul de periodicitate 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atomic 14 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Compus din 14 electroni pe 3 nivele energetice → 2 – 8 – </a:t>
            </a:r>
            <a:r>
              <a:rPr lang="ro-RO" sz="22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ţinere Siliciu: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metalurgice → topire materiale ce conţin siliciu: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siliciu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Purificare → siliciu pur 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Siliciul se găseşte sub formă de cristale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43DF57-5673-5EF7-E42E-E81FAFB88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302" y="4382692"/>
            <a:ext cx="2590800" cy="2190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FF7185-EDB3-717D-19D5-347499A29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959" y="4300671"/>
            <a:ext cx="3051485" cy="242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8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15</a:t>
            </a:fld>
            <a:endParaRPr lang="ro-RO"/>
          </a:p>
        </p:txBody>
      </p:sp>
      <p:sp>
        <p:nvSpPr>
          <p:cNvPr id="4" name="Rectangle 3"/>
          <p:cNvSpPr/>
          <p:nvPr/>
        </p:nvSpPr>
        <p:spPr>
          <a:xfrm>
            <a:off x="234461" y="1005733"/>
            <a:ext cx="1128932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Caracteristicile dispozitivelor semiconductoare → Siliciu (Si)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o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 cristalină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atomii → înconjurați de alți atomi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69766" y="2194736"/>
            <a:ext cx="7205003" cy="4094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Atomul → format dintr-un nucleu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Încărcat cu sarcini electrice →pozitive: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jurul nucleului → apar straturi de electroni: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Încărcaţi cu sarcini electrice →negative: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ultimul strat energetic (4):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găsesc 4 electroni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încărcaţi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negativ: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 de valență.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Atomul de Siliciu → neutru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electric.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DCAAF2-71C3-4E01-828D-B91351CD25B9}"/>
              </a:ext>
            </a:extLst>
          </p:cNvPr>
          <p:cNvSpPr txBox="1"/>
          <p:nvPr/>
        </p:nvSpPr>
        <p:spPr>
          <a:xfrm>
            <a:off x="335280" y="5702175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</a:t>
            </a:r>
            <a:r>
              <a:rPr lang="en-US" sz="1400" b="1" dirty="0"/>
              <a:t>7</a:t>
            </a:r>
            <a:r>
              <a:rPr lang="ro-RO" sz="1400" b="1" dirty="0"/>
              <a:t> Structura dispozitivelor semiconductoare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71" y="2891189"/>
            <a:ext cx="3354303" cy="212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2050869" y="2621560"/>
            <a:ext cx="6518365" cy="1396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004457" y="3775166"/>
            <a:ext cx="6505303" cy="3788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2050869" y="3435531"/>
            <a:ext cx="7458891" cy="339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899954" y="4258491"/>
            <a:ext cx="4049486" cy="7589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22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16</a:t>
            </a:fld>
            <a:endParaRPr lang="ro-RO"/>
          </a:p>
        </p:txBody>
      </p:sp>
      <p:sp>
        <p:nvSpPr>
          <p:cNvPr id="4" name="Rectangle 3"/>
          <p:cNvSpPr/>
          <p:nvPr/>
        </p:nvSpPr>
        <p:spPr>
          <a:xfrm>
            <a:off x="234461" y="1005733"/>
            <a:ext cx="11289324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Caracteristicile dispozitivelor semiconductoare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280" y="1589561"/>
            <a:ext cx="825773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Intodeauna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doi  sau mai mulţi atomi de material semiconductor (Si):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DCAAF2-71C3-4E01-828D-B91351CD25B9}"/>
              </a:ext>
            </a:extLst>
          </p:cNvPr>
          <p:cNvSpPr txBox="1"/>
          <p:nvPr/>
        </p:nvSpPr>
        <p:spPr>
          <a:xfrm>
            <a:off x="387156" y="6056117"/>
            <a:ext cx="4199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</a:t>
            </a:r>
            <a:r>
              <a:rPr lang="en-US" sz="1400" b="1" dirty="0"/>
              <a:t>7</a:t>
            </a:r>
            <a:r>
              <a:rPr lang="ro-RO" sz="1400" b="1" dirty="0"/>
              <a:t> Structura dispozitivelor semiconductoare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2308" y="2208289"/>
            <a:ext cx="699281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interacţionează între ei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a.î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electroni vecini formează o legătură covalentă.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641231" y="2189725"/>
            <a:ext cx="692834" cy="9989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334064" y="2189725"/>
            <a:ext cx="737382" cy="9989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76092" y="3393850"/>
            <a:ext cx="7010399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înseamnă ultimul strat electronic?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energetic electronii → slabi legaţi de atomul respectiv (ei pot fi smulşi destul de uşor)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Legătura covalentă → rol: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Doi electroni ce fac parte dintr-o legătură covalentă: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pot fi dislocaţi.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71" y="3316285"/>
            <a:ext cx="3954776" cy="2672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7" name="Straight Arrow Connector 26"/>
          <p:cNvCxnSpPr/>
          <p:nvPr/>
        </p:nvCxnSpPr>
        <p:spPr>
          <a:xfrm flipH="1">
            <a:off x="2334065" y="3048000"/>
            <a:ext cx="4055012" cy="1441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2702755" y="3048000"/>
            <a:ext cx="3686322" cy="1441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2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17</a:t>
            </a:fld>
            <a:endParaRPr lang="ro-RO"/>
          </a:p>
        </p:txBody>
      </p:sp>
      <p:sp>
        <p:nvSpPr>
          <p:cNvPr id="4" name="Rectangle 3"/>
          <p:cNvSpPr/>
          <p:nvPr/>
        </p:nvSpPr>
        <p:spPr>
          <a:xfrm>
            <a:off x="234461" y="798649"/>
            <a:ext cx="11289324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Caracteristicile dispozitivelor semiconductoare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DCAAF2-71C3-4E01-828D-B91351CD25B9}"/>
              </a:ext>
            </a:extLst>
          </p:cNvPr>
          <p:cNvSpPr txBox="1"/>
          <p:nvPr/>
        </p:nvSpPr>
        <p:spPr>
          <a:xfrm>
            <a:off x="234461" y="6372667"/>
            <a:ext cx="4199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</a:t>
            </a:r>
            <a:r>
              <a:rPr lang="en-US" sz="1400" b="1" dirty="0"/>
              <a:t>8</a:t>
            </a:r>
            <a:r>
              <a:rPr lang="ro-RO" sz="1400" b="1" dirty="0"/>
              <a:t> </a:t>
            </a:r>
            <a:r>
              <a:rPr lang="en-US" sz="1400" b="1" dirty="0" err="1"/>
              <a:t>Conexiune</a:t>
            </a:r>
            <a:r>
              <a:rPr lang="en-US" sz="1400" b="1" dirty="0"/>
              <a:t> </a:t>
            </a:r>
            <a:r>
              <a:rPr lang="en-US" sz="1400" b="1" dirty="0" err="1"/>
              <a:t>atomi</a:t>
            </a:r>
            <a:r>
              <a:rPr lang="en-US" sz="1400" b="1" dirty="0"/>
              <a:t> </a:t>
            </a:r>
            <a:r>
              <a:rPr lang="en-US" sz="1400" b="1" dirty="0" err="1"/>
              <a:t>siliciu</a:t>
            </a:r>
            <a:r>
              <a:rPr lang="en-US" sz="1400" b="1" dirty="0"/>
              <a:t> </a:t>
            </a:r>
            <a:r>
              <a:rPr lang="en-US" sz="1400" b="1" dirty="0" err="1"/>
              <a:t>dintr</a:t>
            </a:r>
            <a:r>
              <a:rPr lang="en-US" sz="1400" b="1" dirty="0"/>
              <a:t>-un </a:t>
            </a:r>
            <a:r>
              <a:rPr lang="en-US" sz="1400" b="1" dirty="0" err="1"/>
              <a:t>cristal</a:t>
            </a:r>
            <a:r>
              <a:rPr lang="en-US" sz="1400" b="1" dirty="0"/>
              <a:t> </a:t>
            </a:r>
            <a:endParaRPr lang="ro-RO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3A50B-7E02-E26E-5FAF-161390080975}"/>
              </a:ext>
            </a:extLst>
          </p:cNvPr>
          <p:cNvSpPr txBox="1"/>
          <p:nvPr/>
        </p:nvSpPr>
        <p:spPr>
          <a:xfrm>
            <a:off x="4739892" y="2980816"/>
            <a:ext cx="7581417" cy="3078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-un solid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cristalin</a:t>
            </a:r>
            <a:r>
              <a:rPr lang="ro-RO" sz="22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atom de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siliciu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împarte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 normal</a:t>
            </a:r>
            <a:r>
              <a:rPr lang="ro-RO" sz="22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unul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dintre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cei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patru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valență: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legătură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covalentă</a:t>
            </a:r>
            <a:r>
              <a:rPr lang="ro-RO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dintre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cei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patru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atomi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siliciu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vecini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CD892-1AE8-AD4D-FEE3-953B6777ECCC}"/>
              </a:ext>
            </a:extLst>
          </p:cNvPr>
          <p:cNvSpPr txBox="1"/>
          <p:nvPr/>
        </p:nvSpPr>
        <p:spPr>
          <a:xfrm>
            <a:off x="398528" y="1381901"/>
            <a:ext cx="7581417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număr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mare de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atomi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siliciu</a:t>
            </a:r>
            <a:r>
              <a:rPr lang="ro-RO" sz="22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pot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împreună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cei 4 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</a:t>
            </a:r>
            <a:r>
              <a:rPr lang="ro-RO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Pentru 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forma un </a:t>
            </a:r>
            <a:r>
              <a:rPr lang="en-US" sz="2200" i="0" dirty="0" err="1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cristal</a:t>
            </a:r>
            <a:r>
              <a:rPr lang="en-US" sz="2200" i="0" dirty="0">
                <a:solidFill>
                  <a:srgbClr val="2B2B2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o-RO" sz="2200" i="0" dirty="0">
              <a:solidFill>
                <a:srgbClr val="2B2B2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6EEA36BD-907A-643C-58E8-30ACBC747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3" y="3470172"/>
            <a:ext cx="3954776" cy="2672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4F6B7B-6092-BE7F-13A5-BDE846231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9" y="3261016"/>
            <a:ext cx="4656043" cy="298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64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640607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18</a:t>
            </a:fld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96129" y="2109281"/>
            <a:ext cx="10597354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diferite tipuri de energii: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Energie Electrică: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Câmp electric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componente electronice → Ex. Diode semiconductoare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EnergieTermică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încălzirire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electronii primesc un supliment energetic ce permite migrarea lor din structura cristalină a Siliciului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senzori termici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Energia luminoasă: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Fotoni – Materiale sensibile la energia luminoasă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componente fotoelectrice</a:t>
            </a: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Baterii fotovoltaice, Senzori de lumină,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129" y="996614"/>
            <a:ext cx="964574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 se realizează smulgerea unui electron dintr-o legătură covalentă?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Printr-un aport energetic din exterior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57447" y="1542055"/>
            <a:ext cx="4870360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siliciu →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41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19</a:t>
            </a:fld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94092" y="1126771"/>
            <a:ext cx="10597354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Energia magnetică: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Câmp magnetic – Dispozitive sau senzori magnetici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Energia mecanică: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acţiunea unei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forţe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mecanic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Dispozitive sensibile la energia mecanică :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 Senzori mecanici –  piezoelectrici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308" y="3765138"/>
            <a:ext cx="3774830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Tipuri de materiale: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fotovoltaice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mecanice</a:t>
            </a:r>
          </a:p>
        </p:txBody>
      </p:sp>
    </p:spTree>
    <p:extLst>
      <p:ext uri="{BB962C8B-B14F-4D97-AF65-F5344CB8AC3E}">
        <p14:creationId xmlns:p14="http://schemas.microsoft.com/office/powerpoint/2010/main" val="23767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01F54-8F2C-EC5A-F3C7-052E4B7F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FC1C-3E93-9BF8-DA67-D6016C4C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135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C6B75-9CF4-9728-1429-BB06AE0B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990DD-27EC-20A0-0206-26517BB1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20</a:t>
            </a:fld>
            <a:endParaRPr lang="ro-RO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C31AD74-1F3F-E992-3735-D4A3CF38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739" y="3241817"/>
            <a:ext cx="3615679" cy="267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16F7B6-0EAD-C0BC-4FEF-759AF96866C8}"/>
              </a:ext>
            </a:extLst>
          </p:cNvPr>
          <p:cNvSpPr/>
          <p:nvPr/>
        </p:nvSpPr>
        <p:spPr>
          <a:xfrm>
            <a:off x="8347194" y="6064725"/>
            <a:ext cx="36452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Fig.9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Actiune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exterioar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asupra atom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EF478-AA32-3898-EB6A-703531B369B5}"/>
              </a:ext>
            </a:extLst>
          </p:cNvPr>
          <p:cNvSpPr txBox="1"/>
          <p:nvPr/>
        </p:nvSpPr>
        <p:spPr>
          <a:xfrm>
            <a:off x="210970" y="766101"/>
            <a:ext cx="1146526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Când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exterior (Ex: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căldură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radiație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luminoasă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electron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căpăta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suficientă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legătura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covalentă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care era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Electronul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părăsește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legătura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 liber 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deplasa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8B340-5E46-129F-A0B9-D08F2B242361}"/>
              </a:ext>
            </a:extLst>
          </p:cNvPr>
          <p:cNvSpPr txBox="1"/>
          <p:nvPr/>
        </p:nvSpPr>
        <p:spPr>
          <a:xfrm>
            <a:off x="206109" y="3823598"/>
            <a:ext cx="8303492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locul din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plecat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rămâne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doar un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legătură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covalentă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o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sarcină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electrică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pozitivă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12714E-8EB1-C75C-4533-105F81599D4B}"/>
              </a:ext>
            </a:extLst>
          </p:cNvPr>
          <p:cNvCxnSpPr/>
          <p:nvPr/>
        </p:nvCxnSpPr>
        <p:spPr>
          <a:xfrm>
            <a:off x="3611418" y="1293091"/>
            <a:ext cx="6701160" cy="3509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00BEDD-CDF5-CF09-C0CC-911BBED9E7B5}"/>
              </a:ext>
            </a:extLst>
          </p:cNvPr>
          <p:cNvCxnSpPr>
            <a:cxnSpLocks/>
          </p:cNvCxnSpPr>
          <p:nvPr/>
        </p:nvCxnSpPr>
        <p:spPr>
          <a:xfrm flipV="1">
            <a:off x="8081818" y="5131922"/>
            <a:ext cx="1184564" cy="11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24B3-74CB-CD47-826C-8EEEF535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BD43-CF7A-8EA6-720F-AB606DD5F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135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18F1B-01E5-B4E3-AC11-59793252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DF010-20E6-C4D5-CFD7-7A7F1292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21</a:t>
            </a:fld>
            <a:endParaRPr lang="ro-RO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6B8616B-A923-2041-A1F0-3E73F0896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036" y="3198970"/>
            <a:ext cx="3615679" cy="267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663D96E-769D-E4CC-8199-FBB02F08D611}"/>
                  </a:ext>
                </a:extLst>
              </p:cNvPr>
              <p:cNvSpPr/>
              <p:nvPr/>
            </p:nvSpPr>
            <p:spPr>
              <a:xfrm>
                <a:off x="229465" y="1591194"/>
                <a:ext cx="11733069" cy="22419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Ruperea unei legături covalente =&gt; formarea a două sarcini electrice în locul respectiv: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Sarcină </a:t>
                </a:r>
                <a:r>
                  <a:rPr lang="ro-RO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ică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pozitivă → numită → gol (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Sarcină electrică negativă –formată → electron liber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o-RO" sz="2400">
                            <a:latin typeface="Cambria Math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ro-RO" sz="2400">
                            <a:latin typeface="Cambria Math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1257300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formează o </a:t>
                </a:r>
                <a:r>
                  <a:rPr lang="ro-RO" sz="24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pereche de </a:t>
                </a:r>
                <a:r>
                  <a:rPr lang="ro-RO" sz="2400" i="1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</a:t>
                </a:r>
                <a:r>
                  <a:rPr lang="en-US" sz="24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400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 - gol </a:t>
                </a:r>
                <a:r>
                  <a:rPr lang="ro-RO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663D96E-769D-E4CC-8199-FBB02F08D6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65" y="1591194"/>
                <a:ext cx="11733069" cy="2241960"/>
              </a:xfrm>
              <a:prstGeom prst="rect">
                <a:avLst/>
              </a:prstGeom>
              <a:blipFill>
                <a:blip r:embed="rId3"/>
                <a:stretch>
                  <a:fillRect l="-728" b="-5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10CCDAD-0756-A1CC-BE14-5EC62C38CE68}"/>
              </a:ext>
            </a:extLst>
          </p:cNvPr>
          <p:cNvSpPr/>
          <p:nvPr/>
        </p:nvSpPr>
        <p:spPr>
          <a:xfrm>
            <a:off x="8347194" y="6064725"/>
            <a:ext cx="36452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Fig.9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Actiune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exterioar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asupra atom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9617EE-5BF8-F7FF-8D82-110CEDB05F33}"/>
              </a:ext>
            </a:extLst>
          </p:cNvPr>
          <p:cNvCxnSpPr>
            <a:cxnSpLocks/>
          </p:cNvCxnSpPr>
          <p:nvPr/>
        </p:nvCxnSpPr>
        <p:spPr>
          <a:xfrm>
            <a:off x="6633615" y="3746092"/>
            <a:ext cx="2676640" cy="1520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4CB50E-EE3D-4CDD-5898-15F08729613A}"/>
              </a:ext>
            </a:extLst>
          </p:cNvPr>
          <p:cNvSpPr txBox="1"/>
          <p:nvPr/>
        </p:nvSpPr>
        <p:spPr>
          <a:xfrm>
            <a:off x="369455" y="956330"/>
            <a:ext cx="347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3D0468-2FB1-6B79-21D9-81AEAD7D22EB}"/>
              </a:ext>
            </a:extLst>
          </p:cNvPr>
          <p:cNvSpPr txBox="1"/>
          <p:nvPr/>
        </p:nvSpPr>
        <p:spPr>
          <a:xfrm>
            <a:off x="344198" y="4223160"/>
            <a:ext cx="7983106" cy="5799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ontribuie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conductivitatea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electrică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99215D78-3D7B-5608-1267-3358929D5C79}"/>
              </a:ext>
            </a:extLst>
          </p:cNvPr>
          <p:cNvSpPr/>
          <p:nvPr/>
        </p:nvSpPr>
        <p:spPr>
          <a:xfrm>
            <a:off x="4332317" y="3833154"/>
            <a:ext cx="45719" cy="331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2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9E2CB-D30A-E462-9789-F1237364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5C371-6657-A6C0-C8C9-01B73938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52BE5-689E-E68A-9674-3E8E85DB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22</a:t>
            </a:fld>
            <a:endParaRPr lang="ro-R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15FCBE-8310-B251-03EC-12FD9604E29A}"/>
              </a:ext>
            </a:extLst>
          </p:cNvPr>
          <p:cNvSpPr/>
          <p:nvPr/>
        </p:nvSpPr>
        <p:spPr>
          <a:xfrm>
            <a:off x="190298" y="1413476"/>
            <a:ext cx="12001702" cy="316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Într-un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 semiconductor pur (SI/GE)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toți electronii sunt legați între ei → legături covalente: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cantitatea de sarcini electrice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libere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foarte redusă.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scăzute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 există foarte puțini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liberi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conductivitatea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electrică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scăzută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mări conductivitatea electrică (cantitatea de sarcini libere):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introduc </a:t>
            </a:r>
            <a:r>
              <a:rPr lang="ro-RO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impurităţi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controlate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 de dopare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CBFA0-96AE-1A4B-4ED3-AC403DCFA57C}"/>
              </a:ext>
            </a:extLst>
          </p:cNvPr>
          <p:cNvSpPr/>
          <p:nvPr/>
        </p:nvSpPr>
        <p:spPr>
          <a:xfrm>
            <a:off x="6057122" y="6218327"/>
            <a:ext cx="57436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Fig.9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covalente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o-RO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ăți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tetravalente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77463D-9125-D8AD-F003-6FF6B6299CCC}"/>
              </a:ext>
            </a:extLst>
          </p:cNvPr>
          <p:cNvSpPr txBox="1"/>
          <p:nvPr/>
        </p:nvSpPr>
        <p:spPr>
          <a:xfrm>
            <a:off x="129177" y="136525"/>
            <a:ext cx="11224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Doparea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semiconductorilor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mecanism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asupra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sarcinilor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1D6D43-8D11-F6B5-73BE-C89969BCE12B}"/>
              </a:ext>
            </a:extLst>
          </p:cNvPr>
          <p:cNvSpPr txBox="1"/>
          <p:nvPr/>
        </p:nvSpPr>
        <p:spPr>
          <a:xfrm>
            <a:off x="190299" y="951811"/>
            <a:ext cx="392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ecanism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funcționare: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9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23</a:t>
            </a:fld>
            <a:endParaRPr lang="ro-R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5006A0-07FC-B0C3-7A2B-E4FC80535E8E}"/>
              </a:ext>
            </a:extLst>
          </p:cNvPr>
          <p:cNvSpPr txBox="1"/>
          <p:nvPr/>
        </p:nvSpPr>
        <p:spPr>
          <a:xfrm>
            <a:off x="164081" y="1627602"/>
            <a:ext cx="11154813" cy="160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Ex1 </a:t>
            </a:r>
            <a:r>
              <a:rPr lang="ro-RO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opare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tip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 fi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impurităţi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materiale în care pe ultimul strat se găsesc doar 3 electroni: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numite tetravalente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1A90F43-AF18-1ACC-01D9-CC019462A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982" y="3705589"/>
            <a:ext cx="4643049" cy="238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68B428-CE38-9BAD-2B48-1D818400BA31}"/>
              </a:ext>
            </a:extLst>
          </p:cNvPr>
          <p:cNvSpPr/>
          <p:nvPr/>
        </p:nvSpPr>
        <p:spPr>
          <a:xfrm>
            <a:off x="6057122" y="6218327"/>
            <a:ext cx="57436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Fig.9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Formare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covalente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o-RO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ăți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tetravalente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415BEC-8088-3F0A-ABE0-AE0D7A5C4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769" y="3185481"/>
            <a:ext cx="6534150" cy="3009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FBCDC2-C3B7-03EE-F342-93D7088CCB46}"/>
              </a:ext>
            </a:extLst>
          </p:cNvPr>
          <p:cNvSpPr txBox="1"/>
          <p:nvPr/>
        </p:nvSpPr>
        <p:spPr>
          <a:xfrm>
            <a:off x="3477706" y="2820869"/>
            <a:ext cx="6146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 → să existe legături covalente → între ele. </a:t>
            </a:r>
            <a:endParaRPr lang="en-US" sz="2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78F69B-0090-BFBC-5824-F6690184EE76}"/>
              </a:ext>
            </a:extLst>
          </p:cNvPr>
          <p:cNvSpPr txBox="1"/>
          <p:nvPr/>
        </p:nvSpPr>
        <p:spPr>
          <a:xfrm>
            <a:off x="341745" y="655628"/>
            <a:ext cx="11671501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îmbunătății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proprietățile electrice ale siliciului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introduc impurități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cantități bine definite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adică atomi din alte elemente chimice.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A3D379-BD90-3B12-C249-C7A22397BFDB}"/>
              </a:ext>
            </a:extLst>
          </p:cNvPr>
          <p:cNvSpPr txBox="1"/>
          <p:nvPr/>
        </p:nvSpPr>
        <p:spPr>
          <a:xfrm>
            <a:off x="129177" y="136525"/>
            <a:ext cx="11224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Doparea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semiconductorilor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mecanism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efecte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asupra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sarcinilor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04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24</a:t>
            </a:fld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154412" y="548166"/>
            <a:ext cx="8335741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toate acestea → cel puţin un electron rămâne fără legătură: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DC9296-5FBD-ACB1-03E0-9123FFFCBAA0}"/>
              </a:ext>
            </a:extLst>
          </p:cNvPr>
          <p:cNvSpPr/>
          <p:nvPr/>
        </p:nvSpPr>
        <p:spPr>
          <a:xfrm>
            <a:off x="0" y="4293478"/>
            <a:ext cx="12408978" cy="2062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Ex.2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opare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tip 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fosfor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arsen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pot introduce materiale ce au pe ultimul strat 5 electroni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valență→impuritate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pentavalentă 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Şi de data aceasta → rămâne un electron fără legătură → ce poate fi smuls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formează o </a:t>
            </a:r>
            <a:r>
              <a:rPr lang="ro-RO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pereche de </a:t>
            </a:r>
            <a:r>
              <a:rPr lang="ro-RO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- gol.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037CB-3AE5-98A1-A34B-701D52DF78B2}"/>
              </a:ext>
            </a:extLst>
          </p:cNvPr>
          <p:cNvSpPr txBox="1"/>
          <p:nvPr/>
        </p:nvSpPr>
        <p:spPr>
          <a:xfrm>
            <a:off x="5660795" y="3218404"/>
            <a:ext cx="6168271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astfel de materiale se generează mai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uşor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cantitate mai mare de sarcini electrice.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0FC3E6-A278-86C3-D35C-54E81FC472AD}"/>
              </a:ext>
            </a:extLst>
          </p:cNvPr>
          <p:cNvSpPr txBox="1"/>
          <p:nvPr/>
        </p:nvSpPr>
        <p:spPr>
          <a:xfrm>
            <a:off x="5374848" y="1280931"/>
            <a:ext cx="6740164" cy="539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poate fi smuls cu ajutorul unei energii exterioare 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2CBE6E-3A1A-782C-525E-025F98588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2" y="1356641"/>
            <a:ext cx="5789188" cy="307914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0A124D-1E40-6231-5120-39E8623AA34C}"/>
              </a:ext>
            </a:extLst>
          </p:cNvPr>
          <p:cNvCxnSpPr>
            <a:cxnSpLocks/>
          </p:cNvCxnSpPr>
          <p:nvPr/>
        </p:nvCxnSpPr>
        <p:spPr>
          <a:xfrm flipH="1">
            <a:off x="3213974" y="986920"/>
            <a:ext cx="2446821" cy="221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FB3B15-6C87-C26E-F443-3BED8B6C961D}"/>
              </a:ext>
            </a:extLst>
          </p:cNvPr>
          <p:cNvCxnSpPr>
            <a:cxnSpLocks/>
          </p:cNvCxnSpPr>
          <p:nvPr/>
        </p:nvCxnSpPr>
        <p:spPr>
          <a:xfrm flipH="1">
            <a:off x="3049006" y="1820309"/>
            <a:ext cx="6622895" cy="1928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871C97B-E180-B54B-9E5B-E4DC9DC4ACED}"/>
              </a:ext>
            </a:extLst>
          </p:cNvPr>
          <p:cNvSpPr txBox="1"/>
          <p:nvPr/>
        </p:nvSpPr>
        <p:spPr>
          <a:xfrm>
            <a:off x="483688" y="52476"/>
            <a:ext cx="11224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Doparea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semiconductorilor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fecte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asupra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sarcinilor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4994FC-93F7-3B95-F63A-1C919D73D42F}"/>
              </a:ext>
            </a:extLst>
          </p:cNvPr>
          <p:cNvSpPr txBox="1"/>
          <p:nvPr/>
        </p:nvSpPr>
        <p:spPr>
          <a:xfrm>
            <a:off x="6095999" y="2683034"/>
            <a:ext cx="392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Concluzie: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18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25</a:t>
            </a:fld>
            <a:endParaRPr lang="ro-RO"/>
          </a:p>
        </p:txBody>
      </p:sp>
      <p:sp>
        <p:nvSpPr>
          <p:cNvPr id="8" name="Rectangle 7"/>
          <p:cNvSpPr/>
          <p:nvPr/>
        </p:nvSpPr>
        <p:spPr>
          <a:xfrm>
            <a:off x="213500" y="2489318"/>
            <a:ext cx="11863446" cy="2062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Datorită acestor mişcări dezordonate a purtătorilor de sarcină: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condiţii de echilibru → nu se va produce nici un curent electric prin semiconductor.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Doar în situaţia în care toate sarcinile se deplasează într-un singur sens: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formează curent.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3500" y="772643"/>
            <a:ext cx="11140300" cy="1555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Prezen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ţa sarcinilor electrice libere ajută la generarea curentului electric:</a:t>
            </a:r>
          </a:p>
          <a:p>
            <a:pPr marL="8001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Implică deplasarea sarcinilor electrice eliberate → într-un mod haotic.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58AA2-1822-294B-5C49-BE00A89BD431}"/>
              </a:ext>
            </a:extLst>
          </p:cNvPr>
          <p:cNvSpPr txBox="1"/>
          <p:nvPr/>
        </p:nvSpPr>
        <p:spPr>
          <a:xfrm>
            <a:off x="328554" y="4552190"/>
            <a:ext cx="11863446" cy="2062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Intrebare</a:t>
            </a:r>
            <a:r>
              <a:rPr lang="ro-RO" sz="2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 se poate face ca sarcinile electrice eliberate →prin una din metodele menționate: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funcție de impuritatea voită în materialul de siliciu: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Să se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deplase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într-un singur sens → pentru a genera curent?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44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90" y="69147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26</a:t>
            </a:fld>
            <a:endParaRPr lang="ro-RO"/>
          </a:p>
        </p:txBody>
      </p:sp>
      <p:sp>
        <p:nvSpPr>
          <p:cNvPr id="14" name="Rectangle 13"/>
          <p:cNvSpPr/>
          <p:nvPr/>
        </p:nvSpPr>
        <p:spPr>
          <a:xfrm>
            <a:off x="285205" y="2209114"/>
            <a:ext cx="3287882" cy="104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 apare energia?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Difuzie: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929" y="5460326"/>
            <a:ext cx="605720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Diferență de potențial sau o energie din exterior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E8AA39-8C34-579F-313A-621458F3A68E}"/>
              </a:ext>
            </a:extLst>
          </p:cNvPr>
          <p:cNvSpPr/>
          <p:nvPr/>
        </p:nvSpPr>
        <p:spPr>
          <a:xfrm>
            <a:off x="285205" y="1001532"/>
            <a:ext cx="11621589" cy="104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Principii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caracteristice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ţie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raport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 la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existenţa sarcinilor electrice din interiorul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39B205-0B13-6459-6FB5-00E1998EC7D7}"/>
              </a:ext>
            </a:extLst>
          </p:cNvPr>
          <p:cNvSpPr txBox="1"/>
          <p:nvPr/>
        </p:nvSpPr>
        <p:spPr>
          <a:xfrm>
            <a:off x="935181" y="3429000"/>
            <a:ext cx="11027890" cy="2062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rocesul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transport al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purtătorilor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(electroni și goluri)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 zone cu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concentrație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zone cu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concentrație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generând un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difuzie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semiconductor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absența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câmp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 extern.</a:t>
            </a:r>
          </a:p>
        </p:txBody>
      </p:sp>
    </p:spTree>
    <p:extLst>
      <p:ext uri="{BB962C8B-B14F-4D97-AF65-F5344CB8AC3E}">
        <p14:creationId xmlns:p14="http://schemas.microsoft.com/office/powerpoint/2010/main" val="286844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 de deplasare a a sarcinilor electrice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27</a:t>
            </a:fld>
            <a:endParaRPr lang="ro-RO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87857F-095A-47BF-897A-D793FE09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752" y="2815824"/>
            <a:ext cx="5024848" cy="613176"/>
          </a:xfrm>
        </p:spPr>
        <p:txBody>
          <a:bodyPr>
            <a:normAutofit/>
          </a:bodyPr>
          <a:lstStyle/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Èx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aterial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semiconductor (Si): </a:t>
            </a:r>
          </a:p>
          <a:p>
            <a:endParaRPr lang="ro-RO" sz="3000" dirty="0"/>
          </a:p>
          <a:p>
            <a:endParaRPr lang="ro-RO" sz="3000" dirty="0"/>
          </a:p>
          <a:p>
            <a:endParaRPr lang="ro-RO" sz="3000" dirty="0"/>
          </a:p>
          <a:p>
            <a:endParaRPr lang="ro-RO" sz="2100" dirty="0"/>
          </a:p>
          <a:p>
            <a:pPr marL="0" indent="0">
              <a:buNone/>
            </a:pPr>
            <a:endParaRPr lang="ro-RO" sz="3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840" y="1947416"/>
            <a:ext cx="3782244" cy="1994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82187" y="1220471"/>
            <a:ext cx="11621589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Distribuţia neuniformă a sarcinilor electrice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5128C-4A66-40B8-93ED-BA4D060503ED}"/>
              </a:ext>
            </a:extLst>
          </p:cNvPr>
          <p:cNvSpPr txBox="1"/>
          <p:nvPr/>
        </p:nvSpPr>
        <p:spPr>
          <a:xfrm>
            <a:off x="7286719" y="3849533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Fig.10 Material semiconductor - structura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5175220" y="3044287"/>
            <a:ext cx="2487620" cy="69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0ACC7A1-D5CF-B50E-FE4C-14A58FC647D2}"/>
              </a:ext>
            </a:extLst>
          </p:cNvPr>
          <p:cNvSpPr/>
          <p:nvPr/>
        </p:nvSpPr>
        <p:spPr>
          <a:xfrm>
            <a:off x="199616" y="4092967"/>
            <a:ext cx="11621589" cy="257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Există tendința ca sarcinile electrice să se deplaseze într-o singură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direcţie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stânga spre dreapta → generare curent electric  →  I.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Observație: 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Procesul nu este constant:</a:t>
            </a:r>
          </a:p>
          <a:p>
            <a:pPr marL="1828800" lvl="3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momentul echilibrării se generează doar un curent momentan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093E5A-9EAD-F1C2-6833-5F0EBD621E5C}"/>
              </a:ext>
            </a:extLst>
          </p:cNvPr>
          <p:cNvCxnSpPr>
            <a:cxnSpLocks/>
          </p:cNvCxnSpPr>
          <p:nvPr/>
        </p:nvCxnSpPr>
        <p:spPr>
          <a:xfrm flipV="1">
            <a:off x="8321964" y="3687638"/>
            <a:ext cx="1745672" cy="115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25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28</a:t>
            </a:fld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91735" y="1109565"/>
                <a:ext cx="11621589" cy="591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en-US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Materialul semiconductor → aplicare </a:t>
                </a:r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câmp electric exterior </a:t>
                </a:r>
                <a:r>
                  <a:rPr lang="en-US" sz="2200" b="1" dirty="0">
                    <a:solidFill>
                      <a:srgbClr val="002060"/>
                    </a:solidFill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2200" b="1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𝐄</m:t>
                        </m:r>
                      </m:e>
                    </m:acc>
                  </m:oMath>
                </a14:m>
                <a:r>
                  <a:rPr lang="en-US" sz="2200" b="1" dirty="0">
                    <a:solidFill>
                      <a:srgbClr val="002060"/>
                    </a:solidFill>
                  </a:rPr>
                  <a:t>): </a:t>
                </a:r>
                <a:endParaRPr lang="ro-RO" sz="22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35" y="1109565"/>
                <a:ext cx="11621589" cy="591829"/>
              </a:xfrm>
              <a:prstGeom prst="rect">
                <a:avLst/>
              </a:prstGeom>
              <a:blipFill>
                <a:blip r:embed="rId2"/>
                <a:stretch>
                  <a:fillRect b="-20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285128C-4A66-40B8-93ED-BA4D060503ED}"/>
              </a:ext>
            </a:extLst>
          </p:cNvPr>
          <p:cNvSpPr txBox="1"/>
          <p:nvPr/>
        </p:nvSpPr>
        <p:spPr>
          <a:xfrm>
            <a:off x="7326524" y="3888509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Fig.10 Material semiconductor - structura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187857F-095A-47BF-897A-D793FE09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958" y="2620714"/>
            <a:ext cx="5024848" cy="613176"/>
          </a:xfrm>
        </p:spPr>
        <p:txBody>
          <a:bodyPr>
            <a:normAutofit/>
          </a:bodyPr>
          <a:lstStyle/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Èx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aterial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semiconductor: </a:t>
            </a:r>
          </a:p>
          <a:p>
            <a:pPr marL="0" indent="0">
              <a:buNone/>
            </a:pPr>
            <a:endParaRPr lang="ro-RO" sz="3000" dirty="0"/>
          </a:p>
          <a:p>
            <a:endParaRPr lang="ro-RO" sz="21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87302" y="2817034"/>
            <a:ext cx="2958191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663166"/>
            <a:ext cx="3384776" cy="23332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8081818" y="1663166"/>
            <a:ext cx="1511949" cy="20883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E2F6513C-56B4-0C71-2706-CE7511864BB9}"/>
              </a:ext>
            </a:extLst>
          </p:cNvPr>
          <p:cNvSpPr txBox="1">
            <a:spLocks/>
          </p:cNvSpPr>
          <p:nvPr/>
        </p:nvSpPr>
        <p:spPr>
          <a:xfrm>
            <a:off x="685800" y="177556"/>
            <a:ext cx="10515600" cy="772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 de deplasare a </a:t>
            </a:r>
            <a:r>
              <a:rPr lang="ro-RO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sarcinilor electrice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F65054-8BA2-0E5C-9A56-E0C0EE690A7E}"/>
              </a:ext>
            </a:extLst>
          </p:cNvPr>
          <p:cNvSpPr/>
          <p:nvPr/>
        </p:nvSpPr>
        <p:spPr>
          <a:xfrm>
            <a:off x="685800" y="4531019"/>
            <a:ext cx="11621589" cy="1555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ce determină o deplasare permanentă a sarcinilor electrice: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stânga (pozitiv)→ spre dreapta (negativ) → în interiorul lui.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Câmpul electric exterior → generat de o diferenţă de potenţial.</a:t>
            </a:r>
          </a:p>
        </p:txBody>
      </p:sp>
    </p:spTree>
    <p:extLst>
      <p:ext uri="{BB962C8B-B14F-4D97-AF65-F5344CB8AC3E}">
        <p14:creationId xmlns:p14="http://schemas.microsoft.com/office/powerpoint/2010/main" val="211889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556"/>
            <a:ext cx="10515600" cy="772013"/>
          </a:xfrm>
        </p:spPr>
        <p:txBody>
          <a:bodyPr>
            <a:normAutofit/>
          </a:bodyPr>
          <a:lstStyle/>
          <a:p>
            <a:pPr algn="ctr"/>
            <a:r>
              <a:rPr lang="ro-RO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dispozitivelor semiconductoare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29</a:t>
            </a:fld>
            <a:endParaRPr lang="ro-RO"/>
          </a:p>
        </p:txBody>
      </p:sp>
      <p:sp>
        <p:nvSpPr>
          <p:cNvPr id="3" name="Rectangle 2"/>
          <p:cNvSpPr/>
          <p:nvPr/>
        </p:nvSpPr>
        <p:spPr>
          <a:xfrm>
            <a:off x="291735" y="1109565"/>
            <a:ext cx="11621589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9377" y="1109565"/>
                <a:ext cx="10515600" cy="535654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Clasificare materiale semiconductoare: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funcţie de materialul introdus → pot fi de două tipuri: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Tip P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golurile → mult mai mari decât electronii (g &gt;&gt; e) </a:t>
                </a: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Sarcinile electrice pozitive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&gt;&gt; Sarcinile electrice negative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Tip N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electronii → mult mai mari decât golurile (e &gt;&gt; g)</a:t>
                </a: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Sarcinile electrice negative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&gt;&gt; Sarcinile electrice pozitive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i="1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Observaţie</a:t>
                </a:r>
                <a:r>
                  <a:rPr lang="ro-RO" sz="2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Toate materialele semiconductoare sunt de tip P sau N.</a:t>
                </a:r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377" y="1109565"/>
                <a:ext cx="10515600" cy="5356549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580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A218B-1A61-4B2D-89E8-80ED8CFCA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6" y="819785"/>
            <a:ext cx="11780522" cy="16099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 → realizată din 2 materiale semiconductoare: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30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61039-AC4F-4F1E-9940-C16572DAA478}"/>
              </a:ext>
            </a:extLst>
          </p:cNvPr>
          <p:cNvSpPr txBox="1"/>
          <p:nvPr/>
        </p:nvSpPr>
        <p:spPr>
          <a:xfrm>
            <a:off x="7425397" y="4523573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Fig.10  Dioda semiconductoare - Structura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937" y="4899453"/>
            <a:ext cx="1098586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negative (electronii) → majoritare;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pozitive (goluri) → minoritare (invers decât Zona 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067" y="2241453"/>
            <a:ext cx="7242144" cy="1555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P: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sarcinile electrice pozitive (goluri )→ majoritare;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sarcinile electrice  negative (electronii) → minoritare.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10" y="2294345"/>
            <a:ext cx="36957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4DCC8F-41A5-C219-F6F9-3C12744B60CF}"/>
              </a:ext>
            </a:extLst>
          </p:cNvPr>
          <p:cNvCxnSpPr>
            <a:cxnSpLocks/>
          </p:cNvCxnSpPr>
          <p:nvPr/>
        </p:nvCxnSpPr>
        <p:spPr>
          <a:xfrm flipV="1">
            <a:off x="4599709" y="3080327"/>
            <a:ext cx="3703782" cy="16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C51A1F-A188-602D-DF0D-511F8868CBBC}"/>
              </a:ext>
            </a:extLst>
          </p:cNvPr>
          <p:cNvCxnSpPr>
            <a:cxnSpLocks/>
          </p:cNvCxnSpPr>
          <p:nvPr/>
        </p:nvCxnSpPr>
        <p:spPr>
          <a:xfrm flipV="1">
            <a:off x="4969164" y="3616037"/>
            <a:ext cx="3777672" cy="163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C90707-C115-1800-9A5B-BC1C951DBDCF}"/>
              </a:ext>
            </a:extLst>
          </p:cNvPr>
          <p:cNvCxnSpPr/>
          <p:nvPr/>
        </p:nvCxnSpPr>
        <p:spPr>
          <a:xfrm flipV="1">
            <a:off x="5375564" y="3885469"/>
            <a:ext cx="4235684" cy="1625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763583-4F76-432E-A9F1-7670EA7224E0}"/>
              </a:ext>
            </a:extLst>
          </p:cNvPr>
          <p:cNvCxnSpPr>
            <a:cxnSpLocks/>
          </p:cNvCxnSpPr>
          <p:nvPr/>
        </p:nvCxnSpPr>
        <p:spPr>
          <a:xfrm flipV="1">
            <a:off x="4969164" y="3429000"/>
            <a:ext cx="4642084" cy="256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77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A218B-1A61-4B2D-89E8-80ED8CFCA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6" y="819785"/>
            <a:ext cx="2140133" cy="5284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31</a:t>
            </a:fld>
            <a:endParaRPr lang="ro-RO" dirty="0"/>
          </a:p>
        </p:txBody>
      </p:sp>
      <p:sp>
        <p:nvSpPr>
          <p:cNvPr id="10" name="Rectangle 9"/>
          <p:cNvSpPr/>
          <p:nvPr/>
        </p:nvSpPr>
        <p:spPr>
          <a:xfrm>
            <a:off x="222068" y="1348239"/>
            <a:ext cx="9653452" cy="104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Primul principiu pentru construcţia dispozitivelor semiconductoare → îndeplinit: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Există o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distribuţie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neuniformă  sau concentrație diferită de sarcini electrice: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5875" y="4817126"/>
            <a:ext cx="974053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pozitive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deplasează din zona P către Zona N 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negative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(-)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deplasează din zona N către Zona 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5693" y="5920427"/>
            <a:ext cx="69044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Zona de interconexiune → numită →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Zona de joncţiune</a:t>
            </a:r>
            <a:endParaRPr lang="ro-RO" sz="2200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78433" y="2457912"/>
            <a:ext cx="4871847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fără a face nimic din exterior: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8573" y="3687024"/>
            <a:ext cx="401398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 numit → Difuzie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755" y="2472587"/>
            <a:ext cx="37528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 flipV="1">
            <a:off x="4545874" y="4689566"/>
            <a:ext cx="5329646" cy="33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4482736" y="4389120"/>
            <a:ext cx="5758544" cy="13324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8556171" y="3487783"/>
            <a:ext cx="1460009" cy="26480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75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32</a:t>
            </a:fld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2067" y="838789"/>
                <a:ext cx="8307979" cy="26314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Procesul de Difuzie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face ca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vecinătatea Joncţiunii (zona de intersecţie) de tip N  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concentraţie maximă 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sarcini pozitive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măsură ce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înaintează în volumul 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materialului de tip N: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sarcinile pozitive → neutralizate de sarcinile negative.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67" y="838789"/>
                <a:ext cx="8307979" cy="2631490"/>
              </a:xfrm>
              <a:prstGeom prst="rect">
                <a:avLst/>
              </a:prstGeom>
              <a:blipFill rotWithShape="1">
                <a:blip r:embed="rId2"/>
                <a:stretch>
                  <a:fillRect l="-734" b="-162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784921" y="3918285"/>
            <a:ext cx="839826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X→ lungime (adâncime) materialului semiconductor ( N sau P).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→ Cantitate de sarcini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F4928-1A63-4CFF-9ACA-0E0A11F838AA}"/>
              </a:ext>
            </a:extLst>
          </p:cNvPr>
          <p:cNvSpPr txBox="1"/>
          <p:nvPr/>
        </p:nvSpPr>
        <p:spPr>
          <a:xfrm>
            <a:off x="8645929" y="4978307"/>
            <a:ext cx="3399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Fig.11  Zona de joncţiune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22067" y="5131675"/>
                <a:ext cx="11177452" cy="16158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vecinătatea Joncţiunii de tip P 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concentraţie maximă de sarcini negative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măsură ce pătrund în volumul materialului de tip P :</a:t>
                </a:r>
              </a:p>
              <a:p>
                <a:pPr marL="1714500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sarcinile negative → neutralizate de sarcinile pozitive.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67" y="5131675"/>
                <a:ext cx="11177452" cy="1615827"/>
              </a:xfrm>
              <a:prstGeom prst="rect">
                <a:avLst/>
              </a:prstGeom>
              <a:blipFill rotWithShape="1">
                <a:blip r:embed="rId3"/>
                <a:stretch>
                  <a:fillRect b="-301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22066" y="3482062"/>
            <a:ext cx="1672047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Notaţii</a:t>
            </a:r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575" y="838789"/>
            <a:ext cx="2911422" cy="188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60" name="Straight Arrow Connector 2059"/>
          <p:cNvCxnSpPr/>
          <p:nvPr/>
        </p:nvCxnSpPr>
        <p:spPr>
          <a:xfrm>
            <a:off x="7393577" y="1780937"/>
            <a:ext cx="3056709" cy="1915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Arrow Connector 2061"/>
          <p:cNvCxnSpPr/>
          <p:nvPr/>
        </p:nvCxnSpPr>
        <p:spPr>
          <a:xfrm flipV="1">
            <a:off x="4820194" y="1809205"/>
            <a:ext cx="5525413" cy="34507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792" y="2989597"/>
            <a:ext cx="233362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64" name="Straight Arrow Connector 2063"/>
          <p:cNvCxnSpPr/>
          <p:nvPr/>
        </p:nvCxnSpPr>
        <p:spPr>
          <a:xfrm flipV="1">
            <a:off x="1541417" y="4349931"/>
            <a:ext cx="9614263" cy="122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Straight Arrow Connector 2065"/>
          <p:cNvCxnSpPr/>
          <p:nvPr/>
        </p:nvCxnSpPr>
        <p:spPr>
          <a:xfrm flipV="1">
            <a:off x="4153989" y="3331029"/>
            <a:ext cx="5956662" cy="15159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792" y="2921639"/>
            <a:ext cx="2411959" cy="2083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68" name="Straight Arrow Connector 2067"/>
          <p:cNvCxnSpPr/>
          <p:nvPr/>
        </p:nvCxnSpPr>
        <p:spPr>
          <a:xfrm>
            <a:off x="6897189" y="2154534"/>
            <a:ext cx="3213462" cy="17725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Straight Arrow Connector 2069"/>
          <p:cNvCxnSpPr/>
          <p:nvPr/>
        </p:nvCxnSpPr>
        <p:spPr>
          <a:xfrm flipV="1">
            <a:off x="7680960" y="2495006"/>
            <a:ext cx="3474720" cy="731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189" y="2989597"/>
            <a:ext cx="2587806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72" name="Straight Arrow Connector 2071"/>
          <p:cNvCxnSpPr/>
          <p:nvPr/>
        </p:nvCxnSpPr>
        <p:spPr>
          <a:xfrm flipH="1" flipV="1">
            <a:off x="10345604" y="4846972"/>
            <a:ext cx="39167" cy="7047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Straight Arrow Connector 2073"/>
          <p:cNvCxnSpPr/>
          <p:nvPr/>
        </p:nvCxnSpPr>
        <p:spPr>
          <a:xfrm flipV="1">
            <a:off x="8020594" y="2723085"/>
            <a:ext cx="1698172" cy="36907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66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33</a:t>
            </a:fld>
            <a:endParaRPr lang="ro-RO" dirty="0"/>
          </a:p>
        </p:txBody>
      </p:sp>
      <p:sp>
        <p:nvSpPr>
          <p:cNvPr id="17" name="Rectangle 16"/>
          <p:cNvSpPr/>
          <p:nvPr/>
        </p:nvSpPr>
        <p:spPr>
          <a:xfrm>
            <a:off x="222066" y="1184982"/>
            <a:ext cx="1155947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Prezenţa sarcinilor electrice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 la “+” la “-”)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generează un 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câmp electric de difuzie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se asociază o diferenţă de potenţial de difuzie şi se adoptă notaţia: 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Barieră de </a:t>
            </a:r>
            <a:r>
              <a:rPr lang="ro-RO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F4928-1A63-4CFF-9ACA-0E0A11F838AA}"/>
              </a:ext>
            </a:extLst>
          </p:cNvPr>
          <p:cNvSpPr txBox="1"/>
          <p:nvPr/>
        </p:nvSpPr>
        <p:spPr>
          <a:xfrm>
            <a:off x="8476287" y="4906275"/>
            <a:ext cx="3399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b="1" dirty="0"/>
              <a:t>Fig.10  Zona de joncţiune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520" y="2562802"/>
            <a:ext cx="2815682" cy="2145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908" y="2129246"/>
            <a:ext cx="2817736" cy="2632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10175967" y="1672046"/>
            <a:ext cx="1605577" cy="11495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579449" y="1166064"/>
            <a:ext cx="161255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notat: 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56" y="5895715"/>
            <a:ext cx="1208314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Mărimea Potenţialului de difuzie  </a:t>
            </a: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depinde de concentraţia de sarcini electrice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(din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N sau P)</a:t>
            </a:r>
          </a:p>
        </p:txBody>
      </p:sp>
      <p:pic>
        <p:nvPicPr>
          <p:cNvPr id="33" name="Picture 3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931" y="3127380"/>
            <a:ext cx="3126284" cy="225935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93CB267-B5A6-4A52-9202-1404845C29D6}"/>
              </a:ext>
            </a:extLst>
          </p:cNvPr>
          <p:cNvSpPr txBox="1"/>
          <p:nvPr/>
        </p:nvSpPr>
        <p:spPr>
          <a:xfrm>
            <a:off x="2986201" y="5612808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Fig.</a:t>
            </a:r>
            <a:r>
              <a:rPr lang="ro-RO" sz="1400" b="1" dirty="0"/>
              <a:t>11 </a:t>
            </a:r>
            <a:r>
              <a:rPr lang="pt-BR" sz="1400" b="1" dirty="0"/>
              <a:t>Reprezentare câmp electric-barieră de potential</a:t>
            </a:r>
            <a:endParaRPr lang="ro-RO" sz="1400" b="1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129246" y="2562802"/>
            <a:ext cx="2782388" cy="19569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52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34</a:t>
            </a:fld>
            <a:endParaRPr lang="ro-RO" dirty="0"/>
          </a:p>
        </p:txBody>
      </p:sp>
      <p:sp>
        <p:nvSpPr>
          <p:cNvPr id="3" name="Rectangle 2"/>
          <p:cNvSpPr/>
          <p:nvPr/>
        </p:nvSpPr>
        <p:spPr>
          <a:xfrm>
            <a:off x="396238" y="1772531"/>
            <a:ext cx="1159546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cât câmpul electric 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ro-RO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mai mare =&gt; cu atât şi bariera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creşte la fel.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Procesul de difuzie → limitat în timp → în zona de echilibru nu se mai deplasează sarcini: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câmpul electric 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este doar momentan.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238" y="1049773"/>
            <a:ext cx="19415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pic>
        <p:nvPicPr>
          <p:cNvPr id="18" name="Picture 1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5958" y="3345992"/>
            <a:ext cx="3126284" cy="225935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93CB267-B5A6-4A52-9202-1404845C29D6}"/>
              </a:ext>
            </a:extLst>
          </p:cNvPr>
          <p:cNvSpPr txBox="1"/>
          <p:nvPr/>
        </p:nvSpPr>
        <p:spPr>
          <a:xfrm>
            <a:off x="7657514" y="5801560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Fig.</a:t>
            </a:r>
            <a:r>
              <a:rPr lang="ro-RO" sz="1400" b="1" dirty="0"/>
              <a:t>11</a:t>
            </a:r>
            <a:r>
              <a:rPr lang="pt-BR" sz="1400" b="1" dirty="0"/>
              <a:t> Reprezentare câmp electric-barieră de potential</a:t>
            </a:r>
            <a:endParaRPr lang="ro-RO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6555DF5-9318-4459-ACAD-523A8647F1DF}"/>
                  </a:ext>
                </a:extLst>
              </p:cNvPr>
              <p:cNvSpPr txBox="1"/>
              <p:nvPr/>
            </p:nvSpPr>
            <p:spPr>
              <a:xfrm>
                <a:off x="396237" y="4117632"/>
                <a:ext cx="7389225" cy="2185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acc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are sensul sarcinilor electrice pozitive.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barieră de potențial: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 cât este mai mare: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 atât cantitatea de sarcini → nu o poate depăși.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6555DF5-9318-4459-ACAD-523A8647F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37" y="4117632"/>
                <a:ext cx="7389225" cy="2185406"/>
              </a:xfrm>
              <a:prstGeom prst="rect">
                <a:avLst/>
              </a:prstGeom>
              <a:blipFill rotWithShape="1">
                <a:blip r:embed="rId3"/>
                <a:stretch>
                  <a:fillRect l="-825" b="-167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45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434" y="221435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AE6F-B836-4CF4-B7D9-784A5DCC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75BB9-62F9-4BCA-93C6-437778D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35</a:t>
            </a:fld>
            <a:endParaRPr lang="ro-RO" dirty="0"/>
          </a:p>
        </p:txBody>
      </p:sp>
      <p:sp>
        <p:nvSpPr>
          <p:cNvPr id="7" name="Rectangle 6"/>
          <p:cNvSpPr/>
          <p:nvPr/>
        </p:nvSpPr>
        <p:spPr>
          <a:xfrm>
            <a:off x="375073" y="731183"/>
            <a:ext cx="19415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75073" y="1162070"/>
                <a:ext cx="11634653" cy="16008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a nu se opri procesul de Difuzie → respectiv → pentru a avea curent permanent: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apelează la cel de-al doilea principiu: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Dispozitivului i se aplică un câmp electric din exterior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ro-RO" sz="2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acc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fie dintr-un sens, fie din alt sens.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73" y="1162070"/>
                <a:ext cx="11634653" cy="1600823"/>
              </a:xfrm>
              <a:prstGeom prst="rect">
                <a:avLst/>
              </a:prstGeom>
              <a:blipFill>
                <a:blip r:embed="rId2"/>
                <a:stretch>
                  <a:fillRect l="-577" b="-6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628272" y="2762893"/>
            <a:ext cx="1016206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Câmpul electric → provine din dezechilibrul de sarcini electrice: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cauzat de difuzia purtătorilor de sarcină în semiconductor.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Totul încetează → în momentul când se ajunge la un echilibru, şi anume: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câmpul electric → suficient de mare să se opună deplasărilor sarcinilor electrice.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216" y="4837058"/>
            <a:ext cx="18165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495" y="5267945"/>
            <a:ext cx="1091207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Difuzia  purtătorilor de sarcină prin joncţiune → dinspre partea în care sunt majoritari: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proces ce se autolimitează.</a:t>
            </a:r>
          </a:p>
        </p:txBody>
      </p:sp>
    </p:spTree>
    <p:extLst>
      <p:ext uri="{BB962C8B-B14F-4D97-AF65-F5344CB8AC3E}">
        <p14:creationId xmlns:p14="http://schemas.microsoft.com/office/powerpoint/2010/main" val="296453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8CBF60A-9028-4BA5-94B4-B9E90DC38F6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532811" y="1322325"/>
                <a:ext cx="7485018" cy="5307047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bornele materialului semiconductor (P, N):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aplică o diferenţă de potenţial de la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(+ )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(-)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P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lângă câmpul electric de difuzie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  <m:r>
                      <a:rPr lang="ro-RO" sz="2200" b="0" i="0" smtClean="0">
                        <a:latin typeface="Cambria Math"/>
                      </a:rPr>
                      <m:t>:</m:t>
                    </m:r>
                  </m:oMath>
                </a14:m>
                <a:endParaRPr lang="ro-RO" sz="2200" b="0" dirty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şi → câmp electric exterior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e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sensul câmpului electric de difuzie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920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lângă bariera de potenţial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0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534988"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şi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ţia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borna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diodei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ro-RO" sz="22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06488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bariera de potenţial creşte </a:t>
                </a:r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sSub>
                          <m:sSubPr>
                            <m:ctrlPr>
                              <a:rPr lang="ro-RO" sz="22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1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𝐝</m:t>
                            </m:r>
                          </m:e>
                          <m:sub>
                            <m:r>
                              <a:rPr lang="ro-RO" sz="2200" b="1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𝐝</m:t>
                        </m:r>
                      </m:sub>
                    </m:sSub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1563688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Îngreunarea deplasării sarcinilor electrice</a:t>
                </a:r>
                <a:r>
                  <a:rPr lang="en-US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8CBF60A-9028-4BA5-94B4-B9E90DC38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32811" y="1322325"/>
                <a:ext cx="7485018" cy="5307047"/>
              </a:xfrm>
              <a:blipFill>
                <a:blip r:embed="rId2"/>
                <a:stretch>
                  <a:fillRect l="-896" b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220E8-09AC-4F60-B3BD-25A1C2CA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0FD11-19FC-4CD7-9F32-89D65FF0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36</a:t>
            </a:fld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/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Fig.</a:t>
                </a:r>
                <a:r>
                  <a:rPr lang="ro-RO" sz="1400" b="1" dirty="0"/>
                  <a:t>12</a:t>
                </a:r>
                <a:r>
                  <a:rPr lang="pt-BR" sz="1400" b="1" dirty="0"/>
                  <a:t>  Reprezentare câmp </a:t>
                </a:r>
                <a:r>
                  <a:rPr lang="ro-RO" sz="1400" b="1" dirty="0"/>
                  <a:t> </a:t>
                </a:r>
                <a:r>
                  <a:rPr lang="pt-BR" sz="1400" b="1" dirty="0"/>
                  <a:t>electric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pt-BR" sz="1400" b="1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endParaRPr lang="ro-RO" sz="1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blipFill>
                <a:blip r:embed="rId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862" y="87680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22121" y="1299511"/>
                <a:ext cx="147258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o-RO" sz="2200" b="1" dirty="0">
                    <a:solidFill>
                      <a:srgbClr val="00B050"/>
                    </a:solidFill>
                  </a:rPr>
                  <a:t>1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sub>
                    </m:sSub>
                    <m:r>
                      <a:rPr lang="ro-RO" sz="2200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sub>
                    </m:sSub>
                  </m:oMath>
                </a14:m>
                <a:endParaRPr lang="ro-RO" sz="2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21" y="1299511"/>
                <a:ext cx="1472583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5394" t="-9859" b="-2676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11" y="1920918"/>
            <a:ext cx="3533503" cy="115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33101" y="741458"/>
            <a:ext cx="1144959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 → funcţie de două cazuri → când se va aplica o tensiune la terminalele joncţiunii: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671354" y="2367854"/>
            <a:ext cx="7818120" cy="2964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9" y="3383416"/>
            <a:ext cx="2856729" cy="188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 flipH="1">
            <a:off x="1933303" y="2952206"/>
            <a:ext cx="7409903" cy="9666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933303" y="3497979"/>
            <a:ext cx="7615646" cy="6168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024744" y="4114800"/>
            <a:ext cx="7968342" cy="91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045029" y="1172345"/>
            <a:ext cx="8399417" cy="13437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265714" y="1172345"/>
            <a:ext cx="6178732" cy="13437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78" y="3304392"/>
            <a:ext cx="3405252" cy="1803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 flipH="1" flipV="1">
            <a:off x="2170863" y="4206241"/>
            <a:ext cx="6529000" cy="535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2847704" y="3918857"/>
            <a:ext cx="7302136" cy="13454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2772589" y="3819452"/>
            <a:ext cx="6570617" cy="1941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3265715" y="4114801"/>
            <a:ext cx="6077491" cy="16459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64268EF-BC99-AEBF-523C-40D4B3C6DC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14" y="1830690"/>
            <a:ext cx="4529977" cy="403610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180E6F-D8C6-E4EE-35C6-4C821BDA0B79}"/>
              </a:ext>
            </a:extLst>
          </p:cNvPr>
          <p:cNvCxnSpPr/>
          <p:nvPr/>
        </p:nvCxnSpPr>
        <p:spPr>
          <a:xfrm flipH="1" flipV="1">
            <a:off x="1424688" y="5264331"/>
            <a:ext cx="9812631" cy="1092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CA8154-E8DE-4039-B288-4198A7F01943}"/>
              </a:ext>
            </a:extLst>
          </p:cNvPr>
          <p:cNvCxnSpPr/>
          <p:nvPr/>
        </p:nvCxnSpPr>
        <p:spPr>
          <a:xfrm flipH="1" flipV="1">
            <a:off x="2636067" y="3509539"/>
            <a:ext cx="8558406" cy="2822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91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CBF60A-9028-4BA5-94B4-B9E90DC38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9931" y="913614"/>
            <a:ext cx="7667897" cy="3001481"/>
          </a:xfrm>
        </p:spPr>
        <p:txBody>
          <a:bodyPr anchor="t">
            <a:noAutofit/>
          </a:bodyPr>
          <a:lstStyle/>
          <a:p>
            <a:pPr marL="306388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electrice majoritare nu depăşesc bariera de potenţial:</a:t>
            </a:r>
          </a:p>
          <a:p>
            <a:pPr marL="763588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aproape că nu curge curent → acesta fiind foarte mic şi se datorează purtătorilor minoritari:</a:t>
            </a:r>
          </a:p>
          <a:p>
            <a:pPr marL="306388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zona N există şi sarcini electrice minoritare pozitive care se scurg:</a:t>
            </a:r>
          </a:p>
          <a:p>
            <a:pPr marL="763588" lvl="1" indent="-457200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însă nu pot depăşi bariera de potenţial → foarte mare.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220E8-09AC-4F60-B3BD-25A1C2CA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0FD11-19FC-4CD7-9F32-89D65FF0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37</a:t>
            </a:fld>
            <a:endParaRPr lang="ro-RO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862" y="87680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22120" y="901038"/>
                <a:ext cx="147258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o-RO" sz="2200" b="1" dirty="0">
                    <a:solidFill>
                      <a:srgbClr val="00B050"/>
                    </a:solidFill>
                  </a:rPr>
                  <a:t>1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sub>
                    </m:sSub>
                    <m:r>
                      <a:rPr lang="ro-RO" sz="2200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sub>
                    </m:sSub>
                  </m:oMath>
                </a14:m>
                <a:endParaRPr lang="ro-RO" sz="2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20" y="901038"/>
                <a:ext cx="1472583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5394" t="-10000" b="-2857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878526" y="4731879"/>
                <a:ext cx="8090263" cy="2123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778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Bariera de potențial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poate fi privită ca un dig:</a:t>
                </a:r>
              </a:p>
              <a:p>
                <a:pPr marL="1335088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care dacă este suficient de mare poate opri o cantitate de apă ce ar putea trece peste el.</a:t>
                </a:r>
              </a:p>
              <a:p>
                <a:pPr marL="1335088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apar ploi o cantitate mică de apă se va scurge totuşi.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526" y="4731879"/>
                <a:ext cx="8090263" cy="2123658"/>
              </a:xfrm>
              <a:prstGeom prst="rect">
                <a:avLst/>
              </a:prstGeom>
              <a:blipFill>
                <a:blip r:embed="rId5"/>
                <a:stretch>
                  <a:fillRect b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349931" y="4300992"/>
            <a:ext cx="19755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6388" indent="0">
              <a:buNone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Observație: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/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Fig.</a:t>
                </a:r>
                <a:r>
                  <a:rPr lang="ro-RO" sz="1400" b="1" dirty="0"/>
                  <a:t>12</a:t>
                </a:r>
                <a:r>
                  <a:rPr lang="pt-BR" sz="1400" b="1" dirty="0"/>
                  <a:t>  Reprezentare câmp </a:t>
                </a:r>
                <a:r>
                  <a:rPr lang="ro-RO" sz="1400" b="1" dirty="0"/>
                  <a:t> </a:t>
                </a:r>
                <a:r>
                  <a:rPr lang="pt-BR" sz="1400" b="1" dirty="0"/>
                  <a:t>electric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pt-BR" sz="1400" b="1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endParaRPr lang="ro-RO" sz="1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blipFill>
                <a:blip r:embed="rId6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D5BF1A5-1AA0-E5A2-9983-E4B7E48E5A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97" y="1413194"/>
            <a:ext cx="4250034" cy="451485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8EC663-74E3-9C27-8C78-B06E0365AF45}"/>
              </a:ext>
            </a:extLst>
          </p:cNvPr>
          <p:cNvCxnSpPr/>
          <p:nvPr/>
        </p:nvCxnSpPr>
        <p:spPr>
          <a:xfrm flipH="1" flipV="1">
            <a:off x="3094182" y="2414354"/>
            <a:ext cx="1844415" cy="550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A0D9A6-92BB-22E9-5C68-D6297EC0B97C}"/>
              </a:ext>
            </a:extLst>
          </p:cNvPr>
          <p:cNvCxnSpPr/>
          <p:nvPr/>
        </p:nvCxnSpPr>
        <p:spPr>
          <a:xfrm flipH="1">
            <a:off x="2854036" y="2970765"/>
            <a:ext cx="2084561" cy="862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922B62-6B45-F8B4-83C4-694005C2055D}"/>
              </a:ext>
            </a:extLst>
          </p:cNvPr>
          <p:cNvCxnSpPr/>
          <p:nvPr/>
        </p:nvCxnSpPr>
        <p:spPr>
          <a:xfrm flipH="1">
            <a:off x="2576945" y="4128655"/>
            <a:ext cx="6899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CBF60A-9028-4BA5-94B4-B9E90DC38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5063" y="1331925"/>
            <a:ext cx="7432765" cy="1104308"/>
          </a:xfrm>
        </p:spPr>
        <p:txBody>
          <a:bodyPr anchor="t">
            <a:noAutofit/>
          </a:bodyPr>
          <a:lstStyle/>
          <a:p>
            <a:pPr marL="306388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Tensiune de polaritate inversă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tensiunea ce conduce la creşterea barierei de potenţial.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220E8-09AC-4F60-B3BD-25A1C2CA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0FD11-19FC-4CD7-9F32-89D65FF0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38</a:t>
            </a:fld>
            <a:endParaRPr lang="ro-RO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862" y="87680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22120" y="901038"/>
                <a:ext cx="147258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o-RO" sz="2200" b="1" dirty="0">
                    <a:solidFill>
                      <a:srgbClr val="00B050"/>
                    </a:solidFill>
                  </a:rPr>
                  <a:t>1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𝐍</m:t>
                        </m:r>
                      </m:sub>
                    </m:sSub>
                    <m:r>
                      <a:rPr lang="ro-RO" sz="2200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sub>
                    </m:sSub>
                  </m:oMath>
                </a14:m>
                <a:endParaRPr lang="ro-RO" sz="2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20" y="901038"/>
                <a:ext cx="1472583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5394" t="-10000" b="-2857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01" y="1730398"/>
            <a:ext cx="4251962" cy="3873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376894" y="902211"/>
            <a:ext cx="16950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6388" indent="0">
              <a:buNone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Definiţie: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585063" y="2492797"/>
                <a:ext cx="748418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206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Există astfel → un curent → limitat de cantitatea mică de sarcini electrice pozitive:</a:t>
                </a:r>
              </a:p>
              <a:p>
                <a:pPr marL="877888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care se găseşte în semiconductorul de tip N:</a:t>
                </a:r>
              </a:p>
              <a:p>
                <a:pPr marL="1335088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o limitare numită în electronică →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“saturare”.</a:t>
                </a:r>
              </a:p>
              <a:p>
                <a:pPr marL="4206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acest fel de la N la P trece un curent invers limitat numit:</a:t>
                </a:r>
              </a:p>
              <a:p>
                <a:pPr marL="877888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rezidual (de saturație)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notat cu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335088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Datorat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sarcinilor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electrice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minoritare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206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Dioda → polarizată invers în acest caz.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063" y="2492797"/>
                <a:ext cx="7484180" cy="4154984"/>
              </a:xfrm>
              <a:prstGeom prst="rect">
                <a:avLst/>
              </a:prstGeom>
              <a:blipFill>
                <a:blip r:embed="rId5"/>
                <a:stretch>
                  <a:fillRect b="-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 flipV="1">
            <a:off x="2459082" y="5238206"/>
            <a:ext cx="7115992" cy="1828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/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Fig.</a:t>
                </a:r>
                <a:r>
                  <a:rPr lang="ro-RO" sz="1400" b="1" dirty="0"/>
                  <a:t>12</a:t>
                </a:r>
                <a:r>
                  <a:rPr lang="pt-BR" sz="1400" b="1" dirty="0"/>
                  <a:t> Reprezentare câmp </a:t>
                </a:r>
                <a:r>
                  <a:rPr lang="ro-RO" sz="1400" b="1" dirty="0"/>
                  <a:t> </a:t>
                </a:r>
                <a:r>
                  <a:rPr lang="pt-BR" sz="1400" b="1" dirty="0"/>
                  <a:t>electric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pt-BR" sz="1400" b="1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sz="1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endParaRPr lang="ro-RO" sz="1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blipFill>
                <a:blip r:embed="rId6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BB44E1-9F79-96EA-80F2-C696EE27CB7F}"/>
              </a:ext>
            </a:extLst>
          </p:cNvPr>
          <p:cNvCxnSpPr/>
          <p:nvPr/>
        </p:nvCxnSpPr>
        <p:spPr>
          <a:xfrm flipH="1" flipV="1">
            <a:off x="2459082" y="2946400"/>
            <a:ext cx="3073500" cy="95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31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8CBF60A-9028-4BA5-94B4-B9E90DC38F6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337706" y="1387657"/>
                <a:ext cx="7640935" cy="5307047"/>
              </a:xfrm>
            </p:spPr>
            <p:txBody>
              <a:bodyPr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bornele materialului semiconductor (P, N):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aplică o diferenţă de potenţial invers 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(+ )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(-)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lângă câmpul electric de difuzie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  <m:r>
                      <a:rPr lang="ro-RO" sz="2200" b="0" i="0" smtClean="0">
                        <a:latin typeface="Cambria Math"/>
                      </a:rPr>
                      <m:t>:</m:t>
                    </m:r>
                  </m:oMath>
                </a14:m>
                <a:endParaRPr lang="ro-RO" sz="2200" b="0" dirty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şi → câmp electric exterior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e</m:t>
                        </m:r>
                      </m:sub>
                    </m:sSub>
                    <m:r>
                      <a:rPr lang="ro-RO" sz="22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sens invers câmpului electric de difuzie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920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lângă bariera de potenţial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0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534988"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şi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ţia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borna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diodei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ro-RO" sz="2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06488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astă dată bariera de potenţial scade → </a:t>
                </a:r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sSub>
                          <m:sSubPr>
                            <m:ctrlPr>
                              <a:rPr lang="ro-RO" sz="22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1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𝐝</m:t>
                            </m:r>
                          </m:e>
                          <m:sub>
                            <m:r>
                              <a:rPr lang="ro-RO" sz="2200" b="1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ro-RO" sz="2200" b="1" i="0" smtClean="0">
                        <a:solidFill>
                          <a:srgbClr val="002060"/>
                        </a:solidFill>
                        <a:latin typeface="Cambria Math"/>
                      </a:rPr>
                      <m:t>)</m:t>
                    </m:r>
                    <m:r>
                      <a:rPr lang="ro-RO" sz="2200" b="1" i="0" dirty="0">
                        <a:solidFill>
                          <a:srgbClr val="002060"/>
                        </a:solidFill>
                        <a:latin typeface="Cambria Math"/>
                      </a:rPr>
                      <m:t>&lt;</m:t>
                    </m:r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𝐝</m:t>
                        </m:r>
                      </m:sub>
                    </m:sSub>
                  </m:oMath>
                </a14:m>
                <a:r>
                  <a:rPr lang="ro-RO" sz="2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ro-RO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563688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Permite trecerea cu uşurinţă a sarcinilor electrice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8CBF60A-9028-4BA5-94B4-B9E90DC38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337706" y="1387657"/>
                <a:ext cx="7640935" cy="5307047"/>
              </a:xfrm>
              <a:blipFill rotWithShape="1">
                <a:blip r:embed="rId2"/>
                <a:stretch>
                  <a:fillRect l="-878" r="-798" b="-69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220E8-09AC-4F60-B3BD-25A1C2CA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0FD11-19FC-4CD7-9F32-89D65FF0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39</a:t>
            </a:fld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/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Fig.</a:t>
                </a:r>
                <a:r>
                  <a:rPr lang="ro-RO" sz="1400" b="1" dirty="0"/>
                  <a:t>13 </a:t>
                </a:r>
                <a:r>
                  <a:rPr lang="pt-BR" sz="1400" b="1" dirty="0"/>
                  <a:t> Reprezentare câmp </a:t>
                </a:r>
                <a:r>
                  <a:rPr lang="ro-RO" sz="1400" b="1" dirty="0"/>
                  <a:t> </a:t>
                </a:r>
                <a:r>
                  <a:rPr lang="pt-BR" sz="1400" b="1" dirty="0"/>
                  <a:t>electric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0" smtClean="0">
                            <a:latin typeface="Cambria Math"/>
                          </a:rPr>
                          <m:t> </m:t>
                        </m:r>
                        <m:r>
                          <a:rPr lang="ro-RO" sz="1400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1400" b="1" i="0" smtClean="0">
                            <a:latin typeface="Cambria Math"/>
                          </a:rPr>
                          <m:t>𝐏</m:t>
                        </m:r>
                        <m:r>
                          <a:rPr lang="ro-RO" sz="1400" b="1" i="0" smtClean="0"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sz="1400" b="1" dirty="0"/>
                  <a:t>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1400" b="1" i="0" smtClean="0">
                            <a:latin typeface="Cambria Math"/>
                          </a:rPr>
                          <m:t>𝐍</m:t>
                        </m:r>
                      </m:sub>
                    </m:sSub>
                  </m:oMath>
                </a14:m>
                <a:endParaRPr lang="ro-RO" sz="1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blipFill>
                <a:blip r:embed="rId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776" y="84850"/>
            <a:ext cx="7524206" cy="653778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75633" y="868624"/>
                <a:ext cx="147258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o-RO" sz="2200" b="1" dirty="0">
                    <a:solidFill>
                      <a:srgbClr val="00B050"/>
                    </a:solidFill>
                  </a:rPr>
                  <a:t>2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𝐏</m:t>
                        </m:r>
                      </m:sub>
                    </m:sSub>
                    <m:r>
                      <a:rPr lang="ro-RO" sz="2200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𝐍</m:t>
                        </m:r>
                      </m:sub>
                    </m:sSub>
                  </m:oMath>
                </a14:m>
                <a:endParaRPr lang="ro-RO" sz="2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33" y="868624"/>
                <a:ext cx="1472583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4959" t="-9859" b="-2676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32" y="1464537"/>
            <a:ext cx="3816287" cy="1513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2671354" y="862033"/>
            <a:ext cx="16950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6388" indent="0">
              <a:buNone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Definiţie: 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48CBF60A-9028-4BA5-94B4-B9E90DC38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3648" y="732531"/>
            <a:ext cx="7432765" cy="732006"/>
          </a:xfrm>
        </p:spPr>
        <p:txBody>
          <a:bodyPr anchor="t">
            <a:noAutofit/>
          </a:bodyPr>
          <a:lstStyle/>
          <a:p>
            <a:pPr marL="306388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Tensiune directă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Tensiunea de polaritate inversă → caz 1.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86" y="3203121"/>
            <a:ext cx="3508580" cy="1956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>
            <a:off x="1632857" y="2403566"/>
            <a:ext cx="8229600" cy="26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1632857" y="2978331"/>
            <a:ext cx="7563394" cy="809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959429" y="3592286"/>
            <a:ext cx="7432765" cy="5891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959429" y="4088674"/>
            <a:ext cx="8503920" cy="928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97" y="2978331"/>
            <a:ext cx="3863422" cy="2403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28"/>
          <p:cNvCxnSpPr/>
          <p:nvPr/>
        </p:nvCxnSpPr>
        <p:spPr>
          <a:xfrm flipH="1" flipV="1">
            <a:off x="2671354" y="4180114"/>
            <a:ext cx="5688875" cy="4833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/>
          <p:cNvCxnSpPr/>
          <p:nvPr/>
        </p:nvCxnSpPr>
        <p:spPr>
          <a:xfrm flipH="1" flipV="1">
            <a:off x="2671354" y="4545874"/>
            <a:ext cx="6969035" cy="7445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Arrow Connector 1025"/>
          <p:cNvCxnSpPr/>
          <p:nvPr/>
        </p:nvCxnSpPr>
        <p:spPr>
          <a:xfrm flipH="1" flipV="1">
            <a:off x="2860766" y="4545874"/>
            <a:ext cx="7876903" cy="11887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/>
          <p:cNvCxnSpPr/>
          <p:nvPr/>
        </p:nvCxnSpPr>
        <p:spPr>
          <a:xfrm flipH="1" flipV="1">
            <a:off x="2671354" y="4088674"/>
            <a:ext cx="8066315" cy="1645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F52859-CFCD-641C-C1E8-A727FA707B3C}"/>
              </a:ext>
            </a:extLst>
          </p:cNvPr>
          <p:cNvCxnSpPr/>
          <p:nvPr/>
        </p:nvCxnSpPr>
        <p:spPr>
          <a:xfrm flipH="1" flipV="1">
            <a:off x="3232727" y="2207491"/>
            <a:ext cx="7841673" cy="222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28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8CBF60A-9028-4BA5-94B4-B9E90DC38F6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865912" y="1301185"/>
                <a:ext cx="7230293" cy="4927872"/>
              </a:xfrm>
            </p:spPr>
            <p:txBody>
              <a:bodyPr anchor="t">
                <a:normAutofit fontScale="85000" lnSpcReduction="10000"/>
              </a:bodyPr>
              <a:lstStyle/>
              <a:p>
                <a:pPr marL="763588" indent="-4572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Cele două câmpuri electrice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şi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o-RO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sens contrar:</a:t>
                </a:r>
              </a:p>
              <a:p>
                <a:pPr marL="1220787" lvl="1" indent="-457200">
                  <a:lnSpc>
                    <a:spcPct val="150000"/>
                  </a:lnSpc>
                </a:pP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Câmpul electric total → valori mai mici;</a:t>
                </a:r>
              </a:p>
              <a:p>
                <a:pPr marL="1220787" lvl="1" indent="-457200">
                  <a:lnSpc>
                    <a:spcPct val="150000"/>
                  </a:lnSpc>
                </a:pPr>
                <a:r>
                  <a:rPr lang="fr-FR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Câmpul</a:t>
                </a: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</a:t>
                </a: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fr-FR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difuzie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ro-RO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ro-RO" sz="2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 </a:t>
                </a:r>
                <a:r>
                  <a:rPr lang="fr-FR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</a:t>
                </a: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decât</a:t>
                </a: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</a:t>
                </a: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initial</a:t>
                </a: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sz="2600" b="0" i="1" smtClean="0">
                            <a:latin typeface="Cambria Math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1168400" lvl="1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Există o cantitate mai mare de sarcini electrice pozitive „+” ce pot trece peste această barieră de potențial.</a:t>
                </a:r>
              </a:p>
              <a:p>
                <a:pPr marL="1168400" lvl="1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 diodă va trece:</a:t>
                </a:r>
              </a:p>
              <a:p>
                <a:pPr marL="1625600" lvl="2" indent="-404813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direct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6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6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datorat sarcinilor majoritare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8CBF60A-9028-4BA5-94B4-B9E90DC38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865912" y="1301185"/>
                <a:ext cx="7230293" cy="4927872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220E8-09AC-4F60-B3BD-25A1C2CAB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0FD11-19FC-4CD7-9F32-89D65FF0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40</a:t>
            </a:fld>
            <a:endParaRPr lang="ro-RO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03" y="1687399"/>
            <a:ext cx="3919946" cy="4003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75633" y="868624"/>
                <a:ext cx="147258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o-RO" sz="2200" b="1" dirty="0">
                    <a:solidFill>
                      <a:srgbClr val="00B050"/>
                    </a:solidFill>
                  </a:rPr>
                  <a:t>2</a:t>
                </a: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𝐏</m:t>
                        </m:r>
                      </m:sub>
                    </m:sSub>
                    <m:r>
                      <a:rPr lang="ro-RO" sz="2200" b="1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1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2200" b="1" i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𝐍</m:t>
                        </m:r>
                      </m:sub>
                    </m:sSub>
                  </m:oMath>
                </a14:m>
                <a:endParaRPr lang="ro-RO" sz="22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33" y="868624"/>
                <a:ext cx="1472583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4959" t="-9859" b="-2676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140233" y="894599"/>
            <a:ext cx="19290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6388" indent="0">
              <a:buNone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Observaţii: 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631474" y="2834640"/>
            <a:ext cx="2473286" cy="13193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87" y="1431607"/>
            <a:ext cx="4368330" cy="4489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 flipH="1">
            <a:off x="1511925" y="4323806"/>
            <a:ext cx="5557362" cy="1175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2495008" y="5394960"/>
            <a:ext cx="5441022" cy="340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5310119" y="5921280"/>
            <a:ext cx="5251822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20688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→ polarizată direct în acest caz.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/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Fig.</a:t>
                </a:r>
                <a:r>
                  <a:rPr lang="ro-RO" sz="1400" b="1" dirty="0"/>
                  <a:t>13 </a:t>
                </a:r>
                <a:r>
                  <a:rPr lang="pt-BR" sz="1400" b="1" dirty="0"/>
                  <a:t> Reprezentare câmp </a:t>
                </a:r>
                <a:r>
                  <a:rPr lang="ro-RO" sz="1400" b="1" dirty="0"/>
                  <a:t> </a:t>
                </a:r>
                <a:r>
                  <a:rPr lang="pt-BR" sz="1400" b="1" dirty="0"/>
                  <a:t>electric pentru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0" smtClean="0">
                            <a:latin typeface="Cambria Math"/>
                          </a:rPr>
                          <m:t> </m:t>
                        </m:r>
                        <m:r>
                          <a:rPr lang="ro-RO" sz="1400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1400" b="1" i="0" smtClean="0">
                            <a:latin typeface="Cambria Math"/>
                          </a:rPr>
                          <m:t>𝐏</m:t>
                        </m:r>
                        <m:r>
                          <a:rPr lang="ro-RO" sz="1400" b="1" i="0" smtClean="0"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pt-BR" sz="1400" b="1" dirty="0"/>
                  <a:t>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ro-RO" sz="1400" b="1" i="0" smtClean="0">
                            <a:latin typeface="Cambria Math"/>
                          </a:rPr>
                          <m:t>𝐍</m:t>
                        </m:r>
                      </m:sub>
                    </m:sSub>
                  </m:oMath>
                </a14:m>
                <a:endParaRPr lang="ro-RO" sz="14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66E7E95-746D-49BF-89EB-525062E9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1" y="6062106"/>
                <a:ext cx="4534486" cy="307777"/>
              </a:xfrm>
              <a:prstGeom prst="rect">
                <a:avLst/>
              </a:prstGeom>
              <a:blipFill>
                <a:blip r:embed="rId7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23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BF010-4CD8-49A9-BBEC-91C286CB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4A057-5A3B-4BD9-80A6-6FE1374F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41</a:t>
            </a:fld>
            <a:endParaRPr lang="ro-RO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7980C1-41A5-4464-817C-19F49F541AA9}"/>
              </a:ext>
            </a:extLst>
          </p:cNvPr>
          <p:cNvSpPr txBox="1">
            <a:spLocks/>
          </p:cNvSpPr>
          <p:nvPr/>
        </p:nvSpPr>
        <p:spPr>
          <a:xfrm>
            <a:off x="838199" y="3817164"/>
            <a:ext cx="10908323" cy="676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Dispozitivul prezentat poartă numele de →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Diodă semiconductoare bipolară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3332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481" y="762607"/>
            <a:ext cx="215026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49288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11924" y="1351611"/>
                <a:ext cx="11034597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20688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Într-un material semiconductor există:</a:t>
                </a:r>
              </a:p>
              <a:p>
                <a:pPr marL="877888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electric generat de sarcini electrice minoritare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>
                            <a:solidFill>
                              <a:srgbClr val="00206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ro-RO" sz="2000">
                            <a:solidFill>
                              <a:srgbClr val="00206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rezidual (saturaţie)</a:t>
                </a:r>
              </a:p>
              <a:p>
                <a:pPr marL="877888" lvl="1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Curent electric generat de sarcini electrice majoritare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000">
                            <a:solidFill>
                              <a:srgbClr val="00206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curent direct</a:t>
                </a:r>
              </a:p>
              <a:p>
                <a:pPr marL="534988" lvl="1"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77888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Materialele semiconductoare de acest tip → se numesc → materiale bipolare.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24" y="1351611"/>
                <a:ext cx="11034597" cy="2677656"/>
              </a:xfrm>
              <a:prstGeom prst="rect">
                <a:avLst/>
              </a:prstGeom>
              <a:blipFill rotWithShape="1">
                <a:blip r:embed="rId2"/>
                <a:stretch>
                  <a:fillRect b="-136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4038114" y="5368176"/>
            <a:ext cx="5486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76FFCA-4562-4914-A941-DB642D69F81F}"/>
              </a:ext>
            </a:extLst>
          </p:cNvPr>
          <p:cNvSpPr txBox="1"/>
          <p:nvPr/>
        </p:nvSpPr>
        <p:spPr>
          <a:xfrm>
            <a:off x="3803468" y="6110760"/>
            <a:ext cx="453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Fig.</a:t>
            </a:r>
            <a:r>
              <a:rPr lang="ro-RO" sz="1400" b="1" dirty="0"/>
              <a:t>14</a:t>
            </a:r>
            <a:r>
              <a:rPr lang="it-IT" sz="1400" b="1" dirty="0"/>
              <a:t> Dioda Reprezentare simbolică </a:t>
            </a:r>
            <a:endParaRPr lang="ro-RO" sz="1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288" y="4670208"/>
            <a:ext cx="2285995" cy="110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538857" y="4491456"/>
                <a:ext cx="4450193" cy="2169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Anod – borna pozitivă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Catod – borna negativă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400">
                            <a:solidFill>
                              <a:srgbClr val="00206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Diferenţa de tensiune între: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şi C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857" y="4491456"/>
                <a:ext cx="4450193" cy="2169825"/>
              </a:xfrm>
              <a:prstGeom prst="rect">
                <a:avLst/>
              </a:prstGeom>
              <a:blipFill rotWithShape="1">
                <a:blip r:embed="rId4"/>
                <a:stretch>
                  <a:fillRect l="-1918" b="-196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838199" y="5036991"/>
            <a:ext cx="3199915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Reprezentare simbolică: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199018" y="4937760"/>
            <a:ext cx="2638696" cy="4963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6688183" y="5306680"/>
            <a:ext cx="1149532" cy="2696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5324738" y="2975194"/>
                <a:ext cx="1491947" cy="430887"/>
              </a:xfrm>
              <a:prstGeom prst="rect">
                <a:avLst/>
              </a:prstGeom>
              <a:ln>
                <a:solidFill>
                  <a:srgbClr val="002060"/>
                </a:solidFill>
              </a:ln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  <m:r>
                      <a:rPr lang="ro-RO" sz="2200" i="1">
                        <a:solidFill>
                          <a:srgbClr val="002060"/>
                        </a:solidFill>
                        <a:latin typeface="Cambria Math"/>
                      </a:rPr>
                      <m:t>&gt;&gt;</m:t>
                    </m:r>
                  </m:oMath>
                </a14:m>
                <a:r>
                  <a:rPr lang="ro-RO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738" y="2975194"/>
                <a:ext cx="1491947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3644" t="-2740" b="-19178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92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D8D77-9A40-42A9-BE56-6FEB5A23A8F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24073" y="3155632"/>
                <a:ext cx="5181600" cy="3383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– </a:t>
                </a: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ul ce trece prin diodă</a:t>
                </a: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rezidual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saturație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limitat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tensiune termică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26 mV →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25°C :</a:t>
                </a:r>
              </a:p>
              <a:p>
                <a:pPr lvl="2">
                  <a:lnSpc>
                    <a:spcPct val="16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modifică cu → -2mV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°C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D8D77-9A40-42A9-BE56-6FEB5A23A8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4073" y="3155632"/>
                <a:ext cx="5181600" cy="3383280"/>
              </a:xfrm>
              <a:blipFill>
                <a:blip r:embed="rId2"/>
                <a:stretch>
                  <a:fillRect l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8E32C84-2E31-4F0D-9283-4B537A75B70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3125045"/>
                <a:ext cx="5941423" cy="311612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  <a:tabLst>
                    <a:tab pos="42195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smtClean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pt-B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factorul de recombinare a sarcinilor electrice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pt-BR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tabLst>
                    <a:tab pos="4219575" algn="l"/>
                  </a:tabLst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pt-B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alori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  <a:tabLst>
                    <a:tab pos="42195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 (Si);</a:t>
                </a: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  <a:tabLst>
                    <a:tab pos="42195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(Ge)</a:t>
                </a:r>
                <a:endParaRPr lang="ro-RO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diferența de </a:t>
                </a: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tensiune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între borna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 (-) a </a:t>
                </a: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ei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78E32C84-2E31-4F0D-9283-4B537A75B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3125045"/>
                <a:ext cx="5941423" cy="3116127"/>
              </a:xfrm>
              <a:blipFill>
                <a:blip r:embed="rId3"/>
                <a:stretch>
                  <a:fillRect l="-1128" b="-1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BF010-4CD8-49A9-BBEC-91C286CB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4073" y="6395027"/>
            <a:ext cx="4114800" cy="365125"/>
          </a:xfrm>
        </p:spPr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4A057-5A3B-4BD9-80A6-6FE1374F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42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45EFC-772E-4579-8C91-A721334F8771}"/>
              </a:ext>
            </a:extLst>
          </p:cNvPr>
          <p:cNvSpPr txBox="1"/>
          <p:nvPr/>
        </p:nvSpPr>
        <p:spPr>
          <a:xfrm>
            <a:off x="8583470" y="2142230"/>
            <a:ext cx="31230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0070C0"/>
                </a:solidFill>
              </a:rPr>
              <a:t>Ecuaţia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fundamentală</a:t>
            </a:r>
            <a:r>
              <a:rPr lang="en-US" sz="2000" b="1" dirty="0">
                <a:solidFill>
                  <a:srgbClr val="0070C0"/>
                </a:solidFill>
              </a:rPr>
              <a:t> a </a:t>
            </a:r>
            <a:r>
              <a:rPr lang="en-US" sz="2000" b="1" dirty="0" err="1">
                <a:solidFill>
                  <a:srgbClr val="0070C0"/>
                </a:solidFill>
              </a:rPr>
              <a:t>diodelor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semiconductoare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endParaRPr lang="ro-RO" sz="2000" dirty="0">
              <a:solidFill>
                <a:srgbClr val="0070C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17980C1-41A5-4464-817C-19F49F541A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476" y="1011680"/>
                <a:ext cx="10908323" cy="17827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 ce s-a prezentat până acum poate fi exprimat matematic printr-o 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Ecuaţie idealizată specifică diodelor:</a:t>
                </a:r>
              </a:p>
              <a:p>
                <a:pPr algn="ctr">
                  <a:buFont typeface="Wingdings" panose="05000000000000000000" pitchFamily="2" charset="2"/>
                  <a:buChar char="Ø"/>
                </a:pPr>
                <a:r>
                  <a:rPr lang="ro-RO" sz="22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o-RO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p>
                        <m:f>
                          <m:fPr>
                            <m:ctrlPr>
                              <a:rPr lang="ro-RO" sz="2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</m:e>
                              <m:sub>
                                <m:r>
                                  <a:rPr lang="ro-RO" sz="2200" b="1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b="1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𝛈</m:t>
                            </m:r>
                            <m:r>
                              <a:rPr lang="en-US" sz="2200" b="1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ro-RO" sz="22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e>
                              <m:sub>
                                <m:r>
                                  <a:rPr lang="en-US" sz="2200" b="1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17980C1-41A5-4464-817C-19F49F541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76" y="1011680"/>
                <a:ext cx="10908323" cy="1782761"/>
              </a:xfrm>
              <a:prstGeom prst="rect">
                <a:avLst/>
              </a:prstGeom>
              <a:blipFill>
                <a:blip r:embed="rId4"/>
                <a:stretch>
                  <a:fillRect l="-615" b="-4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>
            <a:off x="7720149" y="2496173"/>
            <a:ext cx="5878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06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C3AD2-2834-4087-A5F2-A5BFA371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DF168-F7E3-4A7B-A09C-9F4F054F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43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60EEE-9BE5-4D63-9DF0-E196F4ADB237}"/>
              </a:ext>
            </a:extLst>
          </p:cNvPr>
          <p:cNvSpPr txBox="1"/>
          <p:nvPr/>
        </p:nvSpPr>
        <p:spPr>
          <a:xfrm>
            <a:off x="6669257" y="6139448"/>
            <a:ext cx="5361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Fig.1</a:t>
            </a:r>
            <a:r>
              <a:rPr lang="ro-RO" sz="1400" b="1" dirty="0"/>
              <a:t>5 </a:t>
            </a:r>
            <a:r>
              <a:rPr lang="pt-BR" sz="1400" b="1" dirty="0"/>
              <a:t>Caracteristica Volt Amper </a:t>
            </a:r>
            <a:r>
              <a:rPr lang="ro-RO" sz="1400" b="1" dirty="0"/>
              <a:t>- </a:t>
            </a:r>
            <a:r>
              <a:rPr lang="pt-BR" sz="1400" b="1" dirty="0"/>
              <a:t>Dioda semiconductoare</a:t>
            </a:r>
            <a:endParaRPr lang="ro-RO" sz="1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  <a:endParaRPr lang="ro-RO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0026" y="1540928"/>
            <a:ext cx="1154538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Ecuaţia fundamentală a diodei semiconductoare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poate fi exprimată grafic printr-o caracteristică numită → Volt - Amper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103998" y="2660085"/>
                <a:ext cx="2233175" cy="543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ro-RO" b="1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o-RO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p>
                        <m:f>
                          <m:fPr>
                            <m:ctrlPr>
                              <a:rPr lang="ro-RO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𝐩</m:t>
                                </m:r>
                              </m:sub>
                            </m:sSub>
                          </m:num>
                          <m:den>
                            <m:r>
                              <a:rPr lang="en-US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𝛈</m:t>
                            </m:r>
                            <m:r>
                              <a:rPr lang="en-US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ro-RO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b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𝐕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998" y="2660085"/>
                <a:ext cx="2233175" cy="54380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0" y="1110040"/>
            <a:ext cx="743799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49288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 Volt – Amper - Dioda semiconductoare: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944" y="2991178"/>
            <a:ext cx="3684542" cy="2858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73257" y="3837239"/>
                <a:ext cx="6519874" cy="16158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intrarea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diodei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invers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168400" lvl="1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tinde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un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idual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saturaţie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o-RO" sz="2200" i="1" dirty="0">
                  <a:latin typeface="Cambria Math"/>
                </a:endParaRPr>
              </a:p>
              <a:p>
                <a:pPr marL="1168400" lvl="1" indent="-404813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200" i="0"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22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57" y="3837239"/>
                <a:ext cx="6519874" cy="1615827"/>
              </a:xfrm>
              <a:prstGeom prst="rect">
                <a:avLst/>
              </a:prstGeom>
              <a:blipFill rotWithShape="1">
                <a:blip r:embed="rId4"/>
                <a:stretch>
                  <a:fillRect l="-1028" b="-263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706" y="2170885"/>
            <a:ext cx="1689559" cy="820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404528" y="3398222"/>
            <a:ext cx="135636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/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1436914" y="2648924"/>
            <a:ext cx="8987246" cy="14136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760" y="2931986"/>
            <a:ext cx="4258218" cy="291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>
            <a:off x="6544491" y="4645152"/>
            <a:ext cx="1110343" cy="8079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73829" y="5303520"/>
            <a:ext cx="4689565" cy="1495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23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C3AD2-2834-4087-A5F2-A5BFA371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DF168-F7E3-4A7B-A09C-9F4F054F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44</a:t>
            </a:fld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60EEE-9BE5-4D63-9DF0-E196F4ADB237}"/>
              </a:ext>
            </a:extLst>
          </p:cNvPr>
          <p:cNvSpPr txBox="1"/>
          <p:nvPr/>
        </p:nvSpPr>
        <p:spPr>
          <a:xfrm>
            <a:off x="6669257" y="6139448"/>
            <a:ext cx="5361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Fig.1</a:t>
            </a:r>
            <a:r>
              <a:rPr lang="ro-RO" sz="1400" b="1" dirty="0"/>
              <a:t>5 </a:t>
            </a:r>
            <a:r>
              <a:rPr lang="pt-BR" sz="1400" b="1" dirty="0"/>
              <a:t>Caracteristica Volt Amper </a:t>
            </a:r>
            <a:r>
              <a:rPr lang="ro-RO" sz="1400" b="1" dirty="0"/>
              <a:t>- </a:t>
            </a:r>
            <a:r>
              <a:rPr lang="pt-BR" sz="1400" b="1" dirty="0"/>
              <a:t>Dioda semiconductoare</a:t>
            </a:r>
            <a:endParaRPr lang="ro-RO" sz="1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0026" y="1540928"/>
            <a:ext cx="1154538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Ecuaţia fundamentală a diodei semiconductoare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poate fi exprimată grafic printr-o caracteristică numită → Volt - Amper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067930" y="2660085"/>
                <a:ext cx="2305311" cy="5427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ro-RO" b="1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o-RO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p>
                        <m:f>
                          <m:fPr>
                            <m:ctrlPr>
                              <a:rPr lang="ro-RO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</m:e>
                              <m:sub>
                                <m:r>
                                  <a:rPr lang="ro-RO" b="1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sub>
                            </m:sSub>
                          </m:num>
                          <m:den>
                            <m:r>
                              <a:rPr lang="en-US" b="1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𝛈</m:t>
                            </m:r>
                            <m:r>
                              <a:rPr lang="en-US" b="1" i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ro-RO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b="1" i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𝐕</m:t>
                                </m:r>
                              </m:e>
                              <m:sub>
                                <m:r>
                                  <a:rPr lang="en-US" b="1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930" y="2660085"/>
                <a:ext cx="2305311" cy="5427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0" y="1110040"/>
            <a:ext cx="743799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49288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 Volt – Amper - Dioda semiconductoare: 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706" y="2170885"/>
            <a:ext cx="1689559" cy="820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097" y="2931986"/>
            <a:ext cx="4258218" cy="291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59062" y="3661846"/>
                <a:ext cx="6519874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măsură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creşte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tensiunea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borna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diodei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168400" lvl="1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creşte exponential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şi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62" y="3661846"/>
                <a:ext cx="6519874" cy="1107996"/>
              </a:xfrm>
              <a:prstGeom prst="rect">
                <a:avLst/>
              </a:prstGeom>
              <a:blipFill rotWithShape="1">
                <a:blip r:embed="rId5"/>
                <a:stretch>
                  <a:fillRect l="-1028" b="-497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799" y="2991178"/>
            <a:ext cx="4352516" cy="291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5525589" y="4558937"/>
            <a:ext cx="4537117" cy="4441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04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5AA839-23CA-4BB9-B2A4-9EE46F7BD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914400"/>
            <a:ext cx="5340532" cy="193330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Întrebare:</a:t>
            </a:r>
            <a:endParaRPr lang="ro-RO" sz="22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legătură are dioda cu un calculator?</a:t>
            </a:r>
            <a:endParaRPr lang="ro-RO" sz="2200" dirty="0"/>
          </a:p>
          <a:p>
            <a:pPr>
              <a:lnSpc>
                <a:spcPct val="160000"/>
              </a:lnSpc>
            </a:pPr>
            <a:r>
              <a:rPr lang="ro-RO" sz="2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Răspuns</a:t>
            </a:r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06EF3-F28C-4678-A8CC-0A701474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FB139-BAD3-474A-8025-800F3FD3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45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4063" y="5541680"/>
            <a:ext cx="10800805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68400" lvl="1" indent="-404813">
              <a:lnSpc>
                <a:spcPct val="150000"/>
              </a:lnSpc>
              <a:buFont typeface="Symbol"/>
              <a:buChar char="Þ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rebuie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să fie găsite şi circuite care să răspundă cu “DA” sau “NU”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342899" y="2747100"/>
            <a:ext cx="5451566" cy="2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Sistemele numerice aplică aritmetica binară: </a:t>
            </a:r>
          </a:p>
          <a:p>
            <a:pPr lvl="1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– mare, R – mică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“1”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– m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 –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=&gt;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“0”; </a:t>
            </a:r>
          </a:p>
          <a:p>
            <a:pPr lvl="2">
              <a:lnSpc>
                <a:spcPct val="16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C5AA839-23CA-4BB9-B2A4-9EE46F7BD1EC}"/>
              </a:ext>
            </a:extLst>
          </p:cNvPr>
          <p:cNvSpPr txBox="1">
            <a:spLocks/>
          </p:cNvSpPr>
          <p:nvPr/>
        </p:nvSpPr>
        <p:spPr>
          <a:xfrm>
            <a:off x="6096000" y="2747100"/>
            <a:ext cx="5910942" cy="26202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Calculatorul este un aparat care lucrează simplu: </a:t>
            </a:r>
          </a:p>
          <a:p>
            <a:pPr lvl="1">
              <a:lnSpc>
                <a:spcPct val="16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 ce poate răspunde :</a:t>
            </a:r>
          </a:p>
          <a:p>
            <a:pPr lvl="2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“1” sau “0”; </a:t>
            </a:r>
          </a:p>
          <a:p>
            <a:pPr lvl="2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Adevărat sau Fals.</a:t>
            </a:r>
          </a:p>
        </p:txBody>
      </p:sp>
    </p:spTree>
    <p:extLst>
      <p:ext uri="{BB962C8B-B14F-4D97-AF65-F5344CB8AC3E}">
        <p14:creationId xmlns:p14="http://schemas.microsoft.com/office/powerpoint/2010/main" val="162418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12AE4-4B0A-4C28-B169-2B6CE493B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4" y="914400"/>
            <a:ext cx="11006797" cy="7315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 mai simplu dispozitiv care răspunde cu DA sau NU → Comutator:</a:t>
            </a:r>
            <a:endParaRPr lang="ro-RO" dirty="0"/>
          </a:p>
          <a:p>
            <a:endParaRPr lang="ro-RO" dirty="0"/>
          </a:p>
          <a:p>
            <a:pPr marL="0" indent="0">
              <a:buNone/>
            </a:pPr>
            <a:endParaRPr lang="ro-R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40476-BEEE-42DA-92DE-4108BC37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E6EDC-0065-4EA4-9A54-0C8EED7F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46</a:t>
            </a:fld>
            <a:endParaRPr lang="ro-R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DBF5C-B1EF-40CA-9BE3-3661F6289DE4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" t="5603" r="4729" b="4444"/>
          <a:stretch/>
        </p:blipFill>
        <p:spPr bwMode="auto">
          <a:xfrm>
            <a:off x="2678382" y="1631858"/>
            <a:ext cx="6835236" cy="1580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A58EE5-1BAC-4833-AAD0-40864F4641C9}"/>
              </a:ext>
            </a:extLst>
          </p:cNvPr>
          <p:cNvSpPr txBox="1"/>
          <p:nvPr/>
        </p:nvSpPr>
        <p:spPr>
          <a:xfrm>
            <a:off x="3666979" y="3263497"/>
            <a:ext cx="4858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Fig.1</a:t>
            </a:r>
            <a:r>
              <a:rPr lang="ro-RO" sz="1400" b="1" dirty="0"/>
              <a:t>6 </a:t>
            </a:r>
            <a:r>
              <a:rPr lang="it-IT" sz="1400" b="1" dirty="0"/>
              <a:t>Reprezentare simbolică a unui comutator</a:t>
            </a:r>
            <a:endParaRPr lang="ro-RO" sz="1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114" y="3897824"/>
            <a:ext cx="482890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Comutatorul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poziţii: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885509" y="3674301"/>
                <a:ext cx="6096000" cy="104721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o-RO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și </a:t>
                </a:r>
                <a14:m>
                  <m:oMath xmlns:m="http://schemas.openxmlformats.org/officeDocument/2006/math">
                    <m:r>
                      <a:rPr lang="ro-RO" sz="22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=&gt; Comutator închis („1”)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o-RO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 </a:t>
                </a:r>
                <a14:m>
                  <m:oMath xmlns:m="http://schemas.openxmlformats.org/officeDocument/2006/math">
                    <m:r>
                      <a:rPr lang="ro-RO" sz="22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=&gt; Comutator deschis („0”)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509" y="3674301"/>
                <a:ext cx="6096000" cy="1047210"/>
              </a:xfrm>
              <a:prstGeom prst="rect">
                <a:avLst/>
              </a:prstGeom>
              <a:blipFill>
                <a:blip r:embed="rId3"/>
                <a:stretch>
                  <a:fillRect l="-1100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70112" y="4757296"/>
            <a:ext cx="1182188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De-a lungul timpului s-au căutat să se găsească comutatoare electronice: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doar mecanice → lente → sisteme numerice ce lucrează la frecvenţe mici.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Folosirea materialelor semiconductoare =&gt;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 ≈ Comutator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(funcţionare) </a:t>
            </a:r>
          </a:p>
        </p:txBody>
      </p:sp>
      <p:sp>
        <p:nvSpPr>
          <p:cNvPr id="15" name="Left Brace 14"/>
          <p:cNvSpPr/>
          <p:nvPr/>
        </p:nvSpPr>
        <p:spPr>
          <a:xfrm>
            <a:off x="4611189" y="4005949"/>
            <a:ext cx="182880" cy="4920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8112034" y="2899954"/>
            <a:ext cx="1502229" cy="11059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4415247" y="3043646"/>
            <a:ext cx="5199016" cy="14543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16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8742D-1D78-4534-A9C6-6088F7F54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82" y="1097285"/>
            <a:ext cx="11819708" cy="1254030"/>
          </a:xfrm>
        </p:spPr>
        <p:txBody>
          <a:bodyPr>
            <a:normAutofit/>
          </a:bodyPr>
          <a:lstStyle/>
          <a:p>
            <a:pPr marL="228600" lvl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 ≈ Comutator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(funcţionare)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mici aproximări se poate observa că dioda semiconductoare se comportă ca şi un comutator: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0BC14-FBC5-4806-8BE5-FAE4B625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35A33-F8ED-4384-98FC-C59F2D0C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47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60EEE-9BE5-4D63-9DF0-E196F4ADB237}"/>
              </a:ext>
            </a:extLst>
          </p:cNvPr>
          <p:cNvSpPr txBox="1"/>
          <p:nvPr/>
        </p:nvSpPr>
        <p:spPr>
          <a:xfrm>
            <a:off x="7356985" y="5985560"/>
            <a:ext cx="4794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Fig.1</a:t>
            </a:r>
            <a:r>
              <a:rPr lang="ro-RO" sz="1400" b="1" dirty="0"/>
              <a:t>5 </a:t>
            </a:r>
            <a:r>
              <a:rPr lang="pt-BR" sz="1400" b="1" dirty="0"/>
              <a:t>Caracteristica Volt Amper </a:t>
            </a:r>
            <a:r>
              <a:rPr lang="ro-RO" sz="1400" b="1" dirty="0"/>
              <a:t>- </a:t>
            </a:r>
            <a:r>
              <a:rPr lang="pt-BR" sz="1400" b="1" dirty="0"/>
              <a:t>Dioda semiconductoare</a:t>
            </a:r>
            <a:endParaRPr lang="ro-RO" sz="1400" b="1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705" y="2112271"/>
            <a:ext cx="1689559" cy="820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43989" y="2251672"/>
            <a:ext cx="453432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deschisă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(conducţie):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Polarizată direct : A (+), C (-)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→ mare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43988" y="4370546"/>
                <a:ext cx="4534322" cy="212365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Dioda închisă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(blocată):</a:t>
                </a:r>
              </a:p>
              <a:p>
                <a:pPr marL="8001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Polarizată invers : A (-), C (+)</a:t>
                </a:r>
              </a:p>
              <a:p>
                <a:pPr marL="1257300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→ mic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1257300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 →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mare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88" y="4370546"/>
                <a:ext cx="4534322" cy="2123658"/>
              </a:xfrm>
              <a:prstGeom prst="rect">
                <a:avLst/>
              </a:prstGeom>
              <a:blipFill rotWithShape="1">
                <a:blip r:embed="rId3"/>
                <a:stretch>
                  <a:fillRect l="-1344" b="-258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502144" y="3670663"/>
            <a:ext cx="385484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1200" indent="-404813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Interpretare → 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“1”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188" y="5578204"/>
            <a:ext cx="384789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1200" indent="-404813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Interpretare → 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“0”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</p:txBody>
      </p:sp>
      <p:sp>
        <p:nvSpPr>
          <p:cNvPr id="14" name="Right Brace 13"/>
          <p:cNvSpPr/>
          <p:nvPr/>
        </p:nvSpPr>
        <p:spPr>
          <a:xfrm>
            <a:off x="3135085" y="3519672"/>
            <a:ext cx="52251" cy="5953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Right Brace 18"/>
          <p:cNvSpPr/>
          <p:nvPr/>
        </p:nvSpPr>
        <p:spPr>
          <a:xfrm>
            <a:off x="3197363" y="5626230"/>
            <a:ext cx="52251" cy="5953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592" y="2932564"/>
            <a:ext cx="4130301" cy="2945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>
            <a:off x="2455817" y="2704011"/>
            <a:ext cx="7772400" cy="27283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502144" y="4820194"/>
            <a:ext cx="5119342" cy="7580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87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0BC14-FBC5-4806-8BE5-FAE4B625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35A33-F8ED-4384-98FC-C59F2D0C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48</a:t>
            </a:fld>
            <a:endParaRPr lang="ro-R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72C00-AC0F-449D-8725-DC513A4776E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1"/>
          <a:stretch/>
        </p:blipFill>
        <p:spPr bwMode="auto">
          <a:xfrm>
            <a:off x="1773282" y="2592585"/>
            <a:ext cx="2989217" cy="28023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F767D7-0811-49AB-95F0-286824A45412}"/>
              </a:ext>
            </a:extLst>
          </p:cNvPr>
          <p:cNvSpPr txBox="1"/>
          <p:nvPr/>
        </p:nvSpPr>
        <p:spPr>
          <a:xfrm>
            <a:off x="688648" y="5764586"/>
            <a:ext cx="4858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Fig.1</a:t>
            </a:r>
            <a:r>
              <a:rPr lang="ro-RO" sz="1400" b="1" dirty="0"/>
              <a:t>7</a:t>
            </a:r>
            <a:r>
              <a:rPr lang="it-IT" sz="1400" b="1" dirty="0"/>
              <a:t>  Caracteristica V/A a unui commutator ideal</a:t>
            </a:r>
            <a:endParaRPr lang="ro-RO" sz="1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503" y="940223"/>
            <a:ext cx="22512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49288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4503" y="1388918"/>
            <a:ext cx="102948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9288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 nu se comportă ca şi un comutator ideal: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492" y="2006659"/>
            <a:ext cx="913420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 V/A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unui comutator ideal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poate vizualiza în fig. 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403509"/>
            <a:ext cx="480277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o anumită comandă: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curentul creşte la infinit.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853543" y="3957507"/>
            <a:ext cx="6048103" cy="5539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30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7685C-7121-4060-97AC-BD5DFD49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6833C-319E-4E4A-B600-858D8E5A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49</a:t>
            </a:fld>
            <a:endParaRPr lang="ro-RO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25D129-7A66-47B0-BE78-D3F072076FB6}"/>
              </a:ext>
            </a:extLst>
          </p:cNvPr>
          <p:cNvSpPr txBox="1"/>
          <p:nvPr/>
        </p:nvSpPr>
        <p:spPr>
          <a:xfrm>
            <a:off x="552993" y="5992383"/>
            <a:ext cx="4858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Fig.1</a:t>
            </a:r>
            <a:r>
              <a:rPr lang="ro-RO" sz="1400" b="1" dirty="0"/>
              <a:t>8</a:t>
            </a:r>
            <a:r>
              <a:rPr lang="it-IT" sz="1400" b="1" dirty="0"/>
              <a:t> Caracteristica V/A pentru o diodă semiconductoare</a:t>
            </a:r>
            <a:endParaRPr lang="ro-RO" sz="1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993" y="1092259"/>
            <a:ext cx="11164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 V/A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diodei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de a unui comutator ideal</a:t>
            </a: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05" y="2165716"/>
            <a:ext cx="4716409" cy="3363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9" y="1721581"/>
            <a:ext cx="4452257" cy="393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411035" y="2046071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liniariză  caracteristica 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diodei: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trasarea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2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tangente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187" y="4279790"/>
            <a:ext cx="564185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1200" indent="-404813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caracteristică aproape de cea ideală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644537" y="2886891"/>
            <a:ext cx="4428309" cy="11234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3474720" y="2886891"/>
            <a:ext cx="4598127" cy="15414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340580" y="3263928"/>
                <a:ext cx="5013219" cy="10537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Punctul de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intersectie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Tensiune de prag </a:t>
                </a:r>
                <a:endParaRPr lang="ro-RO" sz="2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580" y="3263928"/>
                <a:ext cx="5013219" cy="1053750"/>
              </a:xfrm>
              <a:prstGeom prst="rect">
                <a:avLst/>
              </a:prstGeom>
              <a:blipFill rotWithShape="1">
                <a:blip r:embed="rId4"/>
                <a:stretch>
                  <a:fillRect l="-1338" b="-1098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H="1">
            <a:off x="3291840" y="4153989"/>
            <a:ext cx="4010297" cy="274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75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7685C-7121-4060-97AC-BD5DFD49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6833C-319E-4E4A-B600-858D8E5A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50</a:t>
            </a:fld>
            <a:endParaRPr lang="ro-RO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25D129-7A66-47B0-BE78-D3F072076FB6}"/>
              </a:ext>
            </a:extLst>
          </p:cNvPr>
          <p:cNvSpPr txBox="1"/>
          <p:nvPr/>
        </p:nvSpPr>
        <p:spPr>
          <a:xfrm>
            <a:off x="552993" y="5992383"/>
            <a:ext cx="4858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Fig.1</a:t>
            </a:r>
            <a:r>
              <a:rPr lang="ro-RO" sz="1400" b="1" dirty="0"/>
              <a:t>8</a:t>
            </a:r>
            <a:r>
              <a:rPr lang="it-IT" sz="1400" b="1" dirty="0"/>
              <a:t> Caracteristica V/A pentru o diodă semiconductoare</a:t>
            </a:r>
            <a:endParaRPr lang="ro-RO" sz="14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411" y="1092258"/>
            <a:ext cx="114365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 V/A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diodei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aproape de caracteristica  ideală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455146" y="5227354"/>
                <a:ext cx="6477951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49287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Practic  interesează în funcţie de cum:</a:t>
                </a:r>
              </a:p>
              <a:p>
                <a:pPr marL="1106487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răspunde circuitul la tensiunea de prag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146" y="5227354"/>
                <a:ext cx="6477951" cy="1107996"/>
              </a:xfrm>
              <a:prstGeom prst="rect">
                <a:avLst/>
              </a:prstGeom>
              <a:blipFill rotWithShape="1">
                <a:blip r:embed="rId2"/>
                <a:stretch>
                  <a:fillRect b="-497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529943" y="1563383"/>
                <a:ext cx="2856411" cy="545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/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ro-RO" sz="2200" b="0" i="0" smtClean="0">
                        <a:solidFill>
                          <a:srgbClr val="002060"/>
                        </a:solidFill>
                        <a:latin typeface="Cambria Math"/>
                      </a:rPr>
                      <m:t>:</m:t>
                    </m:r>
                  </m:oMath>
                </a14:m>
                <a:endParaRPr lang="ro-RO" sz="2200" b="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943" y="1563383"/>
                <a:ext cx="2856411" cy="545919"/>
              </a:xfrm>
              <a:prstGeom prst="rect">
                <a:avLst/>
              </a:prstGeom>
              <a:blipFill rotWithShape="1">
                <a:blip r:embed="rId3"/>
                <a:stretch>
                  <a:fillRect l="-2132" b="-200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687438" y="2109302"/>
                <a:ext cx="6244045" cy="539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11200" lvl="1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(neglijabil, nu poate influenţa logica)</a:t>
                </a:r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438" y="2109302"/>
                <a:ext cx="6244045" cy="539378"/>
              </a:xfrm>
              <a:prstGeom prst="rect">
                <a:avLst/>
              </a:prstGeom>
              <a:blipFill rotWithShape="1">
                <a:blip r:embed="rId4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87438" y="3478713"/>
                <a:ext cx="2196307" cy="539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438" y="3478713"/>
                <a:ext cx="2196307" cy="539378"/>
              </a:xfrm>
              <a:prstGeom prst="rect">
                <a:avLst/>
              </a:prstGeom>
              <a:blipFill rotWithShape="1">
                <a:blip r:embed="rId5"/>
                <a:stretch>
                  <a:fillRect l="-3056" b="-2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154220" y="4100917"/>
                <a:ext cx="2125980" cy="600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4000" indent="-404813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a:rPr lang="ro-RO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220" y="4100917"/>
                <a:ext cx="2125980" cy="600164"/>
              </a:xfrm>
              <a:prstGeom prst="rect">
                <a:avLst/>
              </a:prstGeom>
              <a:blipFill rotWithShape="1">
                <a:blip r:embed="rId6"/>
                <a:stretch>
                  <a:fillRect l="-4023" b="-1020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37" y="1836342"/>
            <a:ext cx="4108821" cy="345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6683480" y="2669646"/>
            <a:ext cx="2800154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0" indent="-4048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→ blocată</a:t>
            </a:r>
            <a:endParaRPr lang="ro-RO" sz="2200" dirty="0">
              <a:solidFill>
                <a:srgbClr val="00B050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80123" y="4701081"/>
            <a:ext cx="2800154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0" indent="-4048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→ conducţie</a:t>
            </a:r>
            <a:endParaRPr lang="ro-RO" sz="2200" dirty="0">
              <a:solidFill>
                <a:srgbClr val="00B050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450647" y="2109302"/>
            <a:ext cx="4334944" cy="21491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351314" y="3183896"/>
            <a:ext cx="4528809" cy="17868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2"/>
          </p:cNvCxnSpPr>
          <p:nvPr/>
        </p:nvCxnSpPr>
        <p:spPr>
          <a:xfrm flipH="1">
            <a:off x="3122023" y="4018091"/>
            <a:ext cx="3663569" cy="82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3827417" y="4970770"/>
            <a:ext cx="3130731" cy="2565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58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FE332-5C99-4C7D-9E1A-6068390BE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39955-6D66-45FA-B6CD-57B0C10D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51</a:t>
            </a:fld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38200" y="1642451"/>
                <a:ext cx="1051560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Situaţia prezentată nu este una reală → imaginară → însă totuşi posibilă pentru a face ca aceste sisteme să lucreze în dispozitive numerice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Pentru a avea o caracteristică V-A cât mai apropiată de cea ideală: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Trebuie ca panta (tangenta) să fie cât mai abruptă se folosesc: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Diode cu Si de comuta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ţie </a:t>
                </a:r>
                <a14:m>
                  <m:oMath xmlns:m="http://schemas.openxmlformats.org/officeDocument/2006/math">
                    <m:r>
                      <a:rPr lang="ro-RO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neglijabil (caracteristică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apropie de cea</a:t>
                </a:r>
                <a:r>
                  <a:rPr lang="it-IT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ideală)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ro-RO" sz="2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2451"/>
                <a:ext cx="10515600" cy="3785652"/>
              </a:xfrm>
              <a:prstGeom prst="rect">
                <a:avLst/>
              </a:prstGeom>
              <a:blipFill rotWithShape="1"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4089FADB-A757-4B04-A469-7DB35C6A77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123" y="958333"/>
            <a:ext cx="2179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050" y="4275934"/>
            <a:ext cx="1128195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Dioda → singurul dispozitiv ce realizează funcții logice DA, NU, (închis, deschis).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Celelalte dispozitive → dispozitive ajutătoare pentru a face ca circuitul să funcţioneze mai rapid.</a:t>
            </a:r>
          </a:p>
        </p:txBody>
      </p:sp>
    </p:spTree>
    <p:extLst>
      <p:ext uri="{BB962C8B-B14F-4D97-AF65-F5344CB8AC3E}">
        <p14:creationId xmlns:p14="http://schemas.microsoft.com/office/powerpoint/2010/main" val="4373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98" y="457200"/>
            <a:ext cx="8663354" cy="703384"/>
          </a:xfrm>
        </p:spPr>
        <p:txBody>
          <a:bodyPr>
            <a:normAutofit/>
          </a:bodyPr>
          <a:lstStyle/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Parametrii statici ai diodelor semiconductoare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52</a:t>
            </a:fld>
            <a:endParaRPr lang="ro-RO"/>
          </a:p>
        </p:txBody>
      </p:sp>
      <p:sp>
        <p:nvSpPr>
          <p:cNvPr id="9" name="Rectangle 8"/>
          <p:cNvSpPr/>
          <p:nvPr/>
        </p:nvSpPr>
        <p:spPr>
          <a:xfrm>
            <a:off x="351690" y="1645170"/>
            <a:ext cx="405618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ensiunea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prag →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582" y="1716192"/>
            <a:ext cx="3927233" cy="367642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/>
          <p:cNvSpPr/>
          <p:nvPr/>
        </p:nvSpPr>
        <p:spPr>
          <a:xfrm>
            <a:off x="351690" y="2761125"/>
            <a:ext cx="6096000" cy="26314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Primul parametru static caracteristic diodelor semiconductoare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preia din caracteristica V/A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o valoare tipică de 0,6 V (pentru diode de Siliciu).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5951775" y="5822438"/>
            <a:ext cx="5955195" cy="324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15000"/>
              </a:lnSpc>
              <a:spcAft>
                <a:spcPts val="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Caracteristica Volt /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Amper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Dioda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semiconductoare</a:t>
            </a:r>
            <a:endParaRPr lang="ro-RO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712677" y="4076870"/>
            <a:ext cx="4677508" cy="131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75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53</a:t>
            </a:fld>
            <a:endParaRPr lang="ro-R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5652655" y="5113842"/>
            <a:ext cx="5862831" cy="324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15000"/>
              </a:lnSpc>
              <a:spcAft>
                <a:spcPts val="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19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Caracteristica Volt /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Amper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Dioda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semiconductoare</a:t>
            </a:r>
            <a:endParaRPr lang="ro-RO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458" y="1656114"/>
            <a:ext cx="1160585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circuitele numerice: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adoptă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diodele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reprezintă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carcateristica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Volt/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Amper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o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trecere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abruptă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(1),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461" y="3779772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numesc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comutaţie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ensiunea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diodele 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Si: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0,6V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Ge: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0,3V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1620098" y="457200"/>
            <a:ext cx="8663354" cy="70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Parametrii statici ai diodelor semiconductoare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045" y="2717943"/>
            <a:ext cx="3499401" cy="239749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6"/>
          <p:cNvSpPr/>
          <p:nvPr/>
        </p:nvSpPr>
        <p:spPr>
          <a:xfrm>
            <a:off x="351690" y="1055950"/>
            <a:ext cx="405618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</a:t>
            </a:r>
            <a:r>
              <a:rPr lang="ro-RO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ensiunea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prag →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190999" y="3042138"/>
            <a:ext cx="4278923" cy="11371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625969" y="3610708"/>
            <a:ext cx="6646985" cy="7151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9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0" y="3093272"/>
            <a:ext cx="4736125" cy="2998304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doilea parametru ce caracterizează diodele semiconductoare: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(SI)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(Ge)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ro-R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sz="2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54</a:t>
            </a:fld>
            <a:endParaRPr lang="ro-R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5938982" y="5929384"/>
            <a:ext cx="5869581" cy="324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15000"/>
              </a:lnSpc>
              <a:spcAft>
                <a:spcPts val="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Fig.1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Caracteristica Volt /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Amper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Dioda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semiconductoare</a:t>
            </a:r>
            <a:endParaRPr lang="ro-RO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1620098" y="457200"/>
            <a:ext cx="8663354" cy="70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Parametrii statici ai diodelor semiconductoare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1690" y="1639670"/>
            <a:ext cx="50878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Curentul rezidual (saturaţie) →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807" y="2286001"/>
            <a:ext cx="3610645" cy="32409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Arrow Connector 12"/>
          <p:cNvCxnSpPr/>
          <p:nvPr/>
        </p:nvCxnSpPr>
        <p:spPr>
          <a:xfrm>
            <a:off x="4806462" y="2286001"/>
            <a:ext cx="2192215" cy="2145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76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2735" y="2418080"/>
                <a:ext cx="7432433" cy="3208997"/>
              </a:xfrm>
            </p:spPr>
            <p:txBody>
              <a:bodyPr>
                <a:normAutofit fontScale="25000" lnSpcReduction="20000"/>
              </a:bodyPr>
              <a:lstStyle/>
              <a:p>
                <a:pPr lvl="0"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:r>
                  <a:rPr lang="ro-RO" sz="8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 treilea parametru caracteristic diodelor semiconductoare: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en-US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8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o-RO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rezistenţa directă → în regim de conducţie:</a:t>
                </a:r>
              </a:p>
              <a:p>
                <a:pPr lvl="2">
                  <a:lnSpc>
                    <a:spcPct val="170000"/>
                  </a:lnSpc>
                  <a:buFont typeface="Wingdings" panose="05000000000000000000" pitchFamily="2" charset="2"/>
                  <a:buChar char="Ø"/>
                </a:pPr>
                <a:r>
                  <a:rPr lang="ro-RO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reprezentată de căderea directă a curentului pe diodă:</a:t>
                </a:r>
              </a:p>
              <a:p>
                <a:pPr>
                  <a:lnSpc>
                    <a:spcPct val="170000"/>
                  </a:lnSpc>
                  <a:buFont typeface="Wingdings" panose="05000000000000000000" pitchFamily="2" charset="2"/>
                  <a:buChar char="§"/>
                </a:pPr>
                <a:r>
                  <a:rPr lang="ro-RO" sz="8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calculează într-un anumit punct: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8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88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88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sz="88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8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8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8800" b="0" i="0" smtClean="0">
                                <a:latin typeface="Cambria Math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8800" b="0" i="0" smtClean="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8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8800" b="0" i="0" smtClean="0">
                                <a:latin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8800" b="0" i="0" smtClean="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8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(20÷30 Ω)</a:t>
                </a:r>
                <a:endParaRPr lang="ro-RO" sz="8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E2D3E3-E0DA-4993-A096-E2A86A957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735" y="2418080"/>
                <a:ext cx="7432433" cy="3208997"/>
              </a:xfrm>
              <a:blipFill rotWithShape="1">
                <a:blip r:embed="rId2"/>
                <a:stretch>
                  <a:fillRect l="-90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55</a:t>
            </a:fld>
            <a:endParaRPr lang="ro-R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6096000" y="5881807"/>
            <a:ext cx="5841517" cy="324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15000"/>
              </a:lnSpc>
              <a:spcAft>
                <a:spcPts val="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Caracteristica Volt /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Amper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Dioda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semiconductoare</a:t>
            </a:r>
            <a:endParaRPr lang="ro-RO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1620098" y="457200"/>
            <a:ext cx="8663354" cy="70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Parametrii statici ai diodelor semiconductoare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1690" y="1314549"/>
            <a:ext cx="3786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Rezistenţa directă  →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025" y="2423182"/>
            <a:ext cx="4049513" cy="313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/>
          <p:cNvCxnSpPr/>
          <p:nvPr/>
        </p:nvCxnSpPr>
        <p:spPr>
          <a:xfrm flipV="1">
            <a:off x="4536831" y="4103077"/>
            <a:ext cx="5369169" cy="3516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260123" y="3376246"/>
            <a:ext cx="4114799" cy="18991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27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163" y="2277404"/>
                <a:ext cx="7432433" cy="2039213"/>
              </a:xfrm>
            </p:spPr>
            <p:txBody>
              <a:bodyPr>
                <a:normAutofit/>
              </a:bodyPr>
              <a:lstStyle/>
              <a:p>
                <a:pPr lvl="0">
                  <a:lnSpc>
                    <a:spcPct val="17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 patrulea parametru caracteristic diodelor semiconductoare: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rezistenţa indirectă → în regim blocat: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≈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 ÷10 M Ω)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o-RO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E2D3E3-E0DA-4993-A096-E2A86A957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63" y="2277404"/>
                <a:ext cx="7432433" cy="2039213"/>
              </a:xfrm>
              <a:blipFill rotWithShape="1">
                <a:blip r:embed="rId2"/>
                <a:stretch>
                  <a:fillRect l="-90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56</a:t>
            </a:fld>
            <a:endParaRPr lang="ro-R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6260122" y="5257435"/>
            <a:ext cx="5677396" cy="324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15000"/>
              </a:lnSpc>
              <a:spcAft>
                <a:spcPts val="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 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Caracteristica Volt /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Amper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Dioda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semiconductoare</a:t>
            </a:r>
            <a:endParaRPr lang="ro-RO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1620098" y="457200"/>
            <a:ext cx="8663354" cy="70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Parametrii statici ai diodelor semiconductoare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1690" y="1314549"/>
            <a:ext cx="3786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Rezistenţa inversă  →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595" y="1960880"/>
            <a:ext cx="4049513" cy="313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5756030" y="3294184"/>
            <a:ext cx="3153508" cy="15071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198" y="4478215"/>
            <a:ext cx="3786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Curentul prin diodă  →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 txBox="1">
            <a:spLocks/>
          </p:cNvSpPr>
          <p:nvPr/>
        </p:nvSpPr>
        <p:spPr>
          <a:xfrm>
            <a:off x="50163" y="4582108"/>
            <a:ext cx="7432433" cy="2599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o-RO" sz="2400" dirty="0"/>
          </a:p>
        </p:txBody>
      </p:sp>
      <p:sp>
        <p:nvSpPr>
          <p:cNvPr id="12" name="Rectangle 11"/>
          <p:cNvSpPr/>
          <p:nvPr/>
        </p:nvSpPr>
        <p:spPr>
          <a:xfrm>
            <a:off x="164121" y="5124546"/>
            <a:ext cx="6096000" cy="5901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÷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4121" y="5881806"/>
            <a:ext cx="80889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Parametrii statici → utilizaţi la proiectarea circuitelor numerice.</a:t>
            </a:r>
          </a:p>
        </p:txBody>
      </p:sp>
    </p:spTree>
    <p:extLst>
      <p:ext uri="{BB962C8B-B14F-4D97-AF65-F5344CB8AC3E}">
        <p14:creationId xmlns:p14="http://schemas.microsoft.com/office/powerpoint/2010/main" val="204050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57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6742545" y="5165555"/>
            <a:ext cx="51212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Volt /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Amper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comutație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1620098" y="457200"/>
            <a:ext cx="8663354" cy="70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Parametrii statici ai diodelor semiconductoare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1689" y="1073623"/>
            <a:ext cx="3786556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1689" y="1822957"/>
            <a:ext cx="10193062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Dintre toate diodele semiconductoare în circuitele numerice se aleg diodele cu :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696" y="2433063"/>
            <a:ext cx="3213797" cy="2510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51689" y="2725873"/>
            <a:ext cx="252046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mare;  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mic;  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2465" y="5543451"/>
            <a:ext cx="10011509" cy="105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Caracteristica Volt/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U/I să fie cât mai perpendiculară pe axa tensiunii 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 de comutație.</a:t>
            </a:r>
            <a:endParaRPr lang="ro-RO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23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849" y="1441433"/>
                <a:ext cx="7221415" cy="4923692"/>
              </a:xfrm>
            </p:spPr>
            <p:txBody>
              <a:bodyPr>
                <a:noAutofit/>
              </a:bodyPr>
              <a:lstStyle/>
              <a:p>
                <a:pPr lvl="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Dioda deschisă (în conducţie):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ro-RO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Poate fi exprimată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d.p.d.v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electric  prin 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Rezistenţa directă prin care trece un curent direct;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ro-RO" sz="22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Tensiunea de prag.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i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i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i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→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variază ( ≈15 ÷30 Ω)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>
                            <a:latin typeface="Cambria Math" panose="02040503050406030204" pitchFamily="18" charset="0"/>
                          </a:rPr>
                          <m:t>1÷100 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d>
                  </m:oMath>
                </a14:m>
                <a:endParaRPr lang="ro-RO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=(0,6÷0,65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849" y="1441433"/>
                <a:ext cx="7221415" cy="4923692"/>
              </a:xfrm>
              <a:blipFill>
                <a:blip r:embed="rId2"/>
                <a:stretch>
                  <a:fillRect l="-929" b="-2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58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7682099" y="4626348"/>
            <a:ext cx="34513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Dioda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conducţie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1162898" y="257908"/>
            <a:ext cx="8663354" cy="70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Parametrii statici ai diodelor semiconductoare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567" y="1885766"/>
            <a:ext cx="1624767" cy="227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76200" y="841269"/>
            <a:ext cx="99060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iod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comutaţie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simplificată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următor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74278" y="2450123"/>
            <a:ext cx="6166337" cy="363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Left Brace 21"/>
          <p:cNvSpPr/>
          <p:nvPr/>
        </p:nvSpPr>
        <p:spPr>
          <a:xfrm>
            <a:off x="596116" y="3691120"/>
            <a:ext cx="45719" cy="62132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4" name="Rectangle 23"/>
          <p:cNvSpPr/>
          <p:nvPr/>
        </p:nvSpPr>
        <p:spPr>
          <a:xfrm>
            <a:off x="3645877" y="5385136"/>
            <a:ext cx="779584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437" y="1841436"/>
            <a:ext cx="3451338" cy="254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Straight Arrow Connector 25"/>
          <p:cNvCxnSpPr/>
          <p:nvPr/>
        </p:nvCxnSpPr>
        <p:spPr>
          <a:xfrm flipV="1">
            <a:off x="7057292" y="3114214"/>
            <a:ext cx="2883877" cy="5769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>
          <a:xfrm flipV="1">
            <a:off x="3645877" y="3691120"/>
            <a:ext cx="6180375" cy="5355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1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399" y="1570893"/>
                <a:ext cx="7221415" cy="4196861"/>
              </a:xfrm>
            </p:spPr>
            <p:txBody>
              <a:bodyPr>
                <a:noAutofit/>
              </a:bodyPr>
              <a:lstStyle/>
              <a:p>
                <a:pPr lvl="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Dioda blocată (polarizată invers):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ro-RO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Poate fi exprimată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d.p.d.v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electric  prin 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i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Rezistenţa inversă prin care trece un curent invers;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rezistenţa este foarte mare =&gt; curentul este neglijabil.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sz="2200" i="0">
                        <a:latin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ct</m:t>
                    </m:r>
                    <m:r>
                      <a:rPr lang="en-US" sz="2200" i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0">
                            <a:latin typeface="Cambria Math" panose="02040503050406030204" pitchFamily="18" charset="0"/>
                          </a:rPr>
                          <m:t>1÷100 </m:t>
                        </m:r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d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200" i="0">
                        <a:latin typeface="Cambria Math" panose="02040503050406030204" pitchFamily="18" charset="0"/>
                      </a:rPr>
                      <m:t>=(10÷100 </m:t>
                    </m:r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200" i="0">
                        <a:latin typeface="Cambria Math" panose="02040503050406030204" pitchFamily="18" charset="0"/>
                      </a:rPr>
                      <m:t>Ω)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E2D3E3-E0DA-4993-A096-E2A86A957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399" y="1570893"/>
                <a:ext cx="7221415" cy="4196861"/>
              </a:xfrm>
              <a:blipFill rotWithShape="1"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59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8011709" y="4928118"/>
            <a:ext cx="25507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Dioda 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blocată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1162898" y="257908"/>
            <a:ext cx="8663354" cy="703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Parametrii statici ai diodelor semiconductoare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8954" y="978489"/>
            <a:ext cx="99060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iod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comutaţie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simplificată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următor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701" y="2328496"/>
            <a:ext cx="1710299" cy="2102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5836532"/>
            <a:ext cx="9906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buFont typeface="Wingdings" panose="05000000000000000000" pitchFamily="2" charset="2"/>
              <a:buChar char="Ø"/>
            </a:pPr>
            <a:r>
              <a:rPr lang="ro-RO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 statici (catalog) ajută la dimensionarea circuitului.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992923" y="2450123"/>
            <a:ext cx="6412523" cy="750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171" y="2212730"/>
            <a:ext cx="3525357" cy="233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 flipV="1">
            <a:off x="1301262" y="3681046"/>
            <a:ext cx="8241323" cy="1641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55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631" y="381427"/>
            <a:ext cx="9472246" cy="802605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Punctul de funcţionare al diodei semiconductoare</a:t>
            </a:r>
            <a:endParaRPr lang="ro-R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918" y="1250570"/>
            <a:ext cx="11049743" cy="1176107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Dioda formată din siliciu → cea mai utilizată în circuitele numerice.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Orice dispozitiv semiconductor (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Dioada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semiconductoare) → plasat într-un circuit.</a:t>
            </a:r>
          </a:p>
          <a:p>
            <a:pPr marL="0" indent="0">
              <a:buNone/>
            </a:pPr>
            <a:endParaRPr lang="ro-RO" sz="2200" dirty="0"/>
          </a:p>
          <a:p>
            <a:pPr marL="0" indent="0">
              <a:buNone/>
            </a:pPr>
            <a:endParaRPr lang="ro-RO" sz="22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60</a:t>
            </a:fld>
            <a:endParaRPr lang="ro-R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624" y="2915018"/>
            <a:ext cx="3511492" cy="2559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8097715" y="5749670"/>
            <a:ext cx="37265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format din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rezistenţă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9630" y="2936044"/>
            <a:ext cx="7653354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Exemplu: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consideră un circuit simplu format dintr-o: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Rezistenţă 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 o diodă D legate în serie.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Rezistenţa (R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rolul de a limita curentul (I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dioda (D)</a:t>
            </a:r>
          </a:p>
          <a:p>
            <a:pPr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884985" y="3540369"/>
            <a:ext cx="2813538" cy="7114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884985" y="4251789"/>
            <a:ext cx="407599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884985" y="4091354"/>
            <a:ext cx="3598984" cy="8675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2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631" y="381427"/>
            <a:ext cx="9472246" cy="802605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Punctul de funcţionare al diodei semiconductoare</a:t>
            </a:r>
            <a:endParaRPr lang="ro-R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2" y="4744047"/>
            <a:ext cx="11049743" cy="1680199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baza parametrilor statici → se poate determina punctul de funcţionare al diodei: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intersecţia caracteristicii V/A cu aşa numita dreaptă de sarcină: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obţinută de obicei din circuite în care este încorporată dioda.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sz="2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61</a:t>
            </a:fld>
            <a:endParaRPr lang="ro-RO" dirty="0"/>
          </a:p>
        </p:txBody>
      </p:sp>
      <p:sp>
        <p:nvSpPr>
          <p:cNvPr id="4" name="Rectangle 3"/>
          <p:cNvSpPr/>
          <p:nvPr/>
        </p:nvSpPr>
        <p:spPr>
          <a:xfrm>
            <a:off x="456544" y="1093004"/>
            <a:ext cx="5655459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Oricare diodă→  ataşată o caracteristică V/A.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DDE1BA-6844-49D4-BC47-EB37469C9A56}"/>
              </a:ext>
            </a:extLst>
          </p:cNvPr>
          <p:cNvSpPr/>
          <p:nvPr/>
        </p:nvSpPr>
        <p:spPr>
          <a:xfrm>
            <a:off x="947030" y="4309450"/>
            <a:ext cx="3810082" cy="311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Caracteristica Volt /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Amper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diod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endParaRPr lang="ro-RO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03" y="1668549"/>
            <a:ext cx="3288759" cy="2405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223" y="1820552"/>
            <a:ext cx="3304807" cy="2408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6433038" y="4313169"/>
            <a:ext cx="37265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format din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rezistenţă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284273" y="4073920"/>
            <a:ext cx="1826989" cy="13890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8721969" y="3786554"/>
            <a:ext cx="23446" cy="20749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13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588" y="1798837"/>
            <a:ext cx="6193458" cy="3115669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Dreapta de sarcină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dependentă de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tensiunea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aplicată la bornele circuitului electronic ce conţine dioda D;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valoarea rezistenţei echivalente (R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lvl="2">
              <a:lnSpc>
                <a:spcPct val="150000"/>
              </a:lnSpc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legată în serie cu dioda .</a:t>
            </a:r>
          </a:p>
          <a:p>
            <a:pPr marL="0" indent="0">
              <a:lnSpc>
                <a:spcPct val="150000"/>
              </a:lnSpc>
              <a:buNone/>
            </a:pPr>
            <a:endParaRPr lang="ro-RO" sz="22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62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19" y="182134"/>
            <a:ext cx="9472246" cy="638481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Punctul de funcţionare al diodei semiconductoare</a:t>
            </a:r>
            <a:endParaRPr lang="ro-RO" sz="28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757" y="847537"/>
            <a:ext cx="3304807" cy="2408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943" y="3356672"/>
            <a:ext cx="3288759" cy="2405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/>
          <p:cNvCxnSpPr>
            <a:endCxn id="11" idx="1"/>
          </p:cNvCxnSpPr>
          <p:nvPr/>
        </p:nvCxnSpPr>
        <p:spPr>
          <a:xfrm flipV="1">
            <a:off x="2954215" y="2052036"/>
            <a:ext cx="4194542" cy="7028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486400" y="1547446"/>
            <a:ext cx="2965938" cy="22977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1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63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19" y="182134"/>
            <a:ext cx="9472246" cy="638481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Punctul de funcţionare al diodei semiconductoare</a:t>
            </a:r>
            <a:endParaRPr lang="ro-RO" sz="28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757" y="1473249"/>
            <a:ext cx="3304807" cy="2408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943" y="3766980"/>
            <a:ext cx="3288759" cy="2405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1842" y="809083"/>
            <a:ext cx="83297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Dreapta de sarcină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formează pe baza ecuaţiei matematice:</a:t>
            </a:r>
            <a:endParaRPr lang="ro-RO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40850" y="1473249"/>
                <a:ext cx="254877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endParaRPr lang="ro-RO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850" y="1473249"/>
                <a:ext cx="2548775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2632" t="-7143" b="-2428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74241" y="2246861"/>
                <a:ext cx="4168097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I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 =&gt;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o-RO" sz="22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41" y="2246861"/>
                <a:ext cx="4168097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1901" t="-10000" b="-2714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74241" y="3064255"/>
                <a:ext cx="3628836" cy="62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Dacă U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 =&gt;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41" y="3064255"/>
                <a:ext cx="3628836" cy="620170"/>
              </a:xfrm>
              <a:prstGeom prst="rect">
                <a:avLst/>
              </a:prstGeom>
              <a:blipFill rotWithShape="1">
                <a:blip r:embed="rId6"/>
                <a:stretch>
                  <a:fillRect l="-2185" b="-99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772524" y="2676590"/>
            <a:ext cx="303858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0" indent="-404813">
              <a:lnSpc>
                <a:spcPct val="150000"/>
              </a:lnSpc>
              <a:buFont typeface="Symbol"/>
              <a:buChar char="Þ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ro-RO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formeză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două puncte:</a:t>
            </a:r>
            <a:endParaRPr lang="ro-RO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552092" y="2490637"/>
            <a:ext cx="220433" cy="8837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969" y="3749053"/>
            <a:ext cx="3157171" cy="262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/>
          <p:cNvCxnSpPr/>
          <p:nvPr/>
        </p:nvCxnSpPr>
        <p:spPr>
          <a:xfrm>
            <a:off x="3772524" y="2676590"/>
            <a:ext cx="6027968" cy="32318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" idx="2"/>
          </p:cNvCxnSpPr>
          <p:nvPr/>
        </p:nvCxnSpPr>
        <p:spPr>
          <a:xfrm>
            <a:off x="3552092" y="3374340"/>
            <a:ext cx="4208585" cy="13266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1842" y="4013846"/>
            <a:ext cx="6500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Dreapta de sarcină se construieşte prin: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unirea celor două puncte:</a:t>
            </a:r>
            <a:endParaRPr lang="ro-RO" sz="22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597" y="3766980"/>
            <a:ext cx="3477543" cy="2633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503548" y="5116520"/>
            <a:ext cx="693031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0" indent="-404813">
              <a:lnSpc>
                <a:spcPct val="150000"/>
              </a:lnSpc>
              <a:buFont typeface="Symbol"/>
              <a:buChar char="Þ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- Punctul de funcţionare al diodei → funcţie de: </a:t>
            </a:r>
            <a:endParaRPr lang="ro-RO" sz="22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4241" y="5618353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căderea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endParaRPr lang="ro-RO" sz="2200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189625" y="4841631"/>
            <a:ext cx="4215821" cy="2422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406769" y="5533292"/>
            <a:ext cx="7561385" cy="850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5187461" y="5575823"/>
            <a:ext cx="2573216" cy="3326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291815" y="6172351"/>
            <a:ext cx="3676339" cy="228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280632B-A009-BBA9-34C9-2841F0BDBC1F}"/>
              </a:ext>
            </a:extLst>
          </p:cNvPr>
          <p:cNvSpPr/>
          <p:nvPr/>
        </p:nvSpPr>
        <p:spPr>
          <a:xfrm>
            <a:off x="7496206" y="6457922"/>
            <a:ext cx="37265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Punct de funcționare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diodă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3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4" grpId="0"/>
      <p:bldP spid="5" grpId="0" animBg="1"/>
      <p:bldP spid="20" grpId="0"/>
      <p:bldP spid="22" grpId="0"/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187" y="949570"/>
            <a:ext cx="10602936" cy="46635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Punctul de funcţionare (P) al diodei → poate fi controlat/stabilit în două moduri: </a:t>
            </a:r>
          </a:p>
          <a:p>
            <a:pPr marL="0" lvl="0" indent="0"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64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6038185" y="6061871"/>
            <a:ext cx="50749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26</a:t>
            </a:r>
            <a:r>
              <a:rPr lang="en-US" sz="1400" b="1" dirty="0"/>
              <a:t>  </a:t>
            </a:r>
            <a:r>
              <a:rPr lang="en-US" sz="1400" b="1" dirty="0" err="1"/>
              <a:t>Punct</a:t>
            </a:r>
            <a:r>
              <a:rPr lang="en-US" sz="1400" b="1" dirty="0"/>
              <a:t> de </a:t>
            </a:r>
            <a:r>
              <a:rPr lang="en-US" sz="1400" b="1" dirty="0" err="1"/>
              <a:t>funcţionare</a:t>
            </a:r>
            <a:r>
              <a:rPr lang="en-US" sz="1400" b="1" dirty="0"/>
              <a:t> </a:t>
            </a:r>
            <a:r>
              <a:rPr lang="en-US" sz="1400" b="1" dirty="0" err="1"/>
              <a:t>funcţie</a:t>
            </a:r>
            <a:r>
              <a:rPr lang="en-US" sz="1400" b="1" dirty="0"/>
              <a:t> de </a:t>
            </a:r>
            <a:r>
              <a:rPr lang="en-US" sz="1400" b="1" dirty="0" err="1"/>
              <a:t>rezistenţa</a:t>
            </a:r>
            <a:r>
              <a:rPr lang="en-US" sz="1400" b="1" dirty="0"/>
              <a:t> R</a:t>
            </a:r>
            <a:r>
              <a:rPr lang="en-US" sz="1400" b="1" baseline="-25000" dirty="0"/>
              <a:t>A</a:t>
            </a:r>
            <a:endParaRPr lang="ro-RO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3B8A09-7AEF-4627-BD75-9A1BF02ABB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442" y="1341836"/>
            <a:ext cx="4114799" cy="44617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4FF666-42A9-424E-9AF4-F12651BF4F9A}"/>
              </a:ext>
            </a:extLst>
          </p:cNvPr>
          <p:cNvSpPr/>
          <p:nvPr/>
        </p:nvSpPr>
        <p:spPr>
          <a:xfrm>
            <a:off x="9854443" y="3118857"/>
            <a:ext cx="2285571" cy="1177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ro-RO" sz="25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5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  </a:t>
            </a:r>
            <a:r>
              <a:rPr lang="ro-RO" sz="25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 R</a:t>
            </a:r>
            <a:r>
              <a:rPr lang="ro-RO" sz="25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o-RO" sz="2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25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5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5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  </a:t>
            </a:r>
            <a:r>
              <a:rPr lang="ro-RO" sz="25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o-RO" sz="25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o-RO" sz="25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5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o-RO" sz="2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Punctul de funcţionare al diodei semiconductoare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297644" y="1544883"/>
            <a:ext cx="4809330" cy="1892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proiectare 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Dimensionarea circuitului :</a:t>
            </a:r>
          </a:p>
          <a:p>
            <a:pPr marL="12573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Modificarea rezistenţei → 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43B6717-DD03-9EF0-B02C-D53680ADA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895" y="3710531"/>
            <a:ext cx="3304807" cy="2408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87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187" y="949570"/>
            <a:ext cx="10602936" cy="46635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Punctul de funcţionare (P) al diodei → poate fi controlat/stabilit în două moduri: </a:t>
            </a:r>
          </a:p>
          <a:p>
            <a:pPr marL="0" lvl="0" indent="0"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65</a:t>
            </a:fld>
            <a:endParaRPr lang="ro-RO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Punctul de </a:t>
            </a:r>
            <a:r>
              <a:rPr lang="ro-RO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funcţionare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 diodei semiconductoare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164123" y="1383265"/>
            <a:ext cx="583936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Prin modificarea semnalului de comandă: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respectiv a tensiunii de la intrare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6705600" y="5966691"/>
            <a:ext cx="48299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27</a:t>
            </a:r>
            <a:r>
              <a:rPr lang="en-US" sz="1400" b="1" dirty="0"/>
              <a:t>  </a:t>
            </a:r>
            <a:r>
              <a:rPr lang="en-US" sz="1400" b="1" dirty="0" err="1"/>
              <a:t>Punct</a:t>
            </a:r>
            <a:r>
              <a:rPr lang="en-US" sz="1400" b="1" dirty="0"/>
              <a:t> de </a:t>
            </a:r>
            <a:r>
              <a:rPr lang="en-US" sz="1400" b="1" dirty="0" err="1"/>
              <a:t>funcţionare</a:t>
            </a:r>
            <a:r>
              <a:rPr lang="en-US" sz="1400" b="1" dirty="0"/>
              <a:t> </a:t>
            </a:r>
            <a:r>
              <a:rPr lang="en-US" sz="1400" b="1" dirty="0" err="1"/>
              <a:t>diodă</a:t>
            </a:r>
            <a:r>
              <a:rPr lang="en-US" sz="1400" b="1" dirty="0"/>
              <a:t> </a:t>
            </a:r>
            <a:r>
              <a:rPr lang="en-US" sz="1400" b="1" dirty="0" err="1"/>
              <a:t>semiconductoare</a:t>
            </a:r>
            <a:r>
              <a:rPr lang="ro-RO" sz="1400" b="1" dirty="0"/>
              <a:t> în </a:t>
            </a:r>
          </a:p>
          <a:p>
            <a:r>
              <a:rPr lang="ro-RO" sz="1400" b="1" dirty="0"/>
              <a:t>              </a:t>
            </a:r>
            <a:r>
              <a:rPr lang="en-US" sz="1400" b="1" dirty="0" err="1"/>
              <a:t>funcţie</a:t>
            </a:r>
            <a:r>
              <a:rPr lang="en-US" sz="1400" b="1" dirty="0"/>
              <a:t> de  </a:t>
            </a:r>
            <a:r>
              <a:rPr lang="en-US" sz="1400" b="1" dirty="0" err="1"/>
              <a:t>tensiunea</a:t>
            </a:r>
            <a:r>
              <a:rPr lang="en-US" sz="1400" b="1" dirty="0"/>
              <a:t> de </a:t>
            </a:r>
            <a:r>
              <a:rPr lang="en-US" sz="1400" b="1" dirty="0" err="1"/>
              <a:t>intrare</a:t>
            </a:r>
            <a:r>
              <a:rPr lang="en-US" sz="1400" b="1" dirty="0"/>
              <a:t> V</a:t>
            </a:r>
            <a:r>
              <a:rPr lang="en-US" sz="1400" b="1" baseline="-25000" dirty="0"/>
              <a:t>A</a:t>
            </a:r>
            <a:endParaRPr lang="ro-RO" sz="1400" dirty="0"/>
          </a:p>
        </p:txBody>
      </p:sp>
      <p:sp>
        <p:nvSpPr>
          <p:cNvPr id="2" name="Rectangle 1"/>
          <p:cNvSpPr/>
          <p:nvPr/>
        </p:nvSpPr>
        <p:spPr>
          <a:xfrm>
            <a:off x="177312" y="4068996"/>
            <a:ext cx="679498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 pot modifica static sau dinamic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poate fi semnal sinusoidal sau impuls la intrare:</a:t>
            </a:r>
          </a:p>
          <a:p>
            <a:pPr lvl="2"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Dreapta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paralelă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anterioară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3454" y="2436193"/>
            <a:ext cx="2501069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4000" lvl="1" indent="-404813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variabil: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09600" y="2975571"/>
                <a:ext cx="2848708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ro-RO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endParaRPr lang="ro-RO" sz="2200" dirty="0">
                  <a:latin typeface="Cambria Math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ro-RO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975571"/>
                <a:ext cx="2848708" cy="1107996"/>
              </a:xfrm>
              <a:prstGeom prst="rect">
                <a:avLst/>
              </a:prstGeom>
              <a:blipFill rotWithShape="1">
                <a:blip r:embed="rId2"/>
                <a:stretch>
                  <a:fillRect b="-329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301262" y="5123400"/>
            <a:ext cx="2701702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4000" lvl="1" indent="-404813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ieşire va fi la fel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674" y="3114911"/>
            <a:ext cx="3477543" cy="2633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380" y="1383265"/>
            <a:ext cx="2428130" cy="1769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Straight Arrow Connector 21"/>
          <p:cNvCxnSpPr/>
          <p:nvPr/>
        </p:nvCxnSpPr>
        <p:spPr>
          <a:xfrm flipV="1">
            <a:off x="5451231" y="1937263"/>
            <a:ext cx="2836984" cy="3309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14" y="1384628"/>
            <a:ext cx="4307215" cy="42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 flipV="1">
            <a:off x="2652113" y="2268242"/>
            <a:ext cx="4112101" cy="114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652113" y="3411415"/>
            <a:ext cx="6468441" cy="5744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031" y="1422252"/>
            <a:ext cx="4506505" cy="43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Straight Arrow Connector 27"/>
          <p:cNvCxnSpPr>
            <a:endCxn id="4099" idx="1"/>
          </p:cNvCxnSpPr>
          <p:nvPr/>
        </p:nvCxnSpPr>
        <p:spPr>
          <a:xfrm flipV="1">
            <a:off x="2652113" y="3585487"/>
            <a:ext cx="3865918" cy="2596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652113" y="3845169"/>
            <a:ext cx="5788502" cy="7151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6" name="Straight Arrow Connector 4095"/>
          <p:cNvCxnSpPr/>
          <p:nvPr/>
        </p:nvCxnSpPr>
        <p:spPr>
          <a:xfrm flipV="1">
            <a:off x="6307015" y="3715328"/>
            <a:ext cx="2133600" cy="2295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0" name="Straight Arrow Connector 4099"/>
          <p:cNvCxnSpPr/>
          <p:nvPr/>
        </p:nvCxnSpPr>
        <p:spPr>
          <a:xfrm flipV="1">
            <a:off x="6307015" y="4431816"/>
            <a:ext cx="1981200" cy="15785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04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40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2E53-608F-4771-B265-87CCC087A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3" y="177555"/>
            <a:ext cx="10515600" cy="807183"/>
          </a:xfrm>
        </p:spPr>
        <p:txBody>
          <a:bodyPr>
            <a:normAutofit fontScale="90000"/>
          </a:bodyPr>
          <a:lstStyle/>
          <a:p>
            <a:r>
              <a:rPr lang="ro-RO" sz="28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Observații</a:t>
            </a:r>
            <a:r>
              <a:rPr lang="en-US" sz="28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br>
              <a:rPr lang="ro-RO" sz="2800" dirty="0">
                <a:solidFill>
                  <a:srgbClr val="00B050"/>
                </a:solidFill>
              </a:rPr>
            </a:br>
            <a:endParaRPr lang="ro-RO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81F4C-4295-468F-AAA0-39C174443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911225"/>
            <a:ext cx="10515600" cy="3191852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Calculatorul → format din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Circuitele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rândul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dintre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cum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6635D-C724-40C9-9D6C-CEB3B8E7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DE08A-5045-47E5-B8EC-C5B2C97D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66</a:t>
            </a:fld>
            <a:endParaRPr lang="ro-RO"/>
          </a:p>
        </p:txBody>
      </p:sp>
      <p:sp>
        <p:nvSpPr>
          <p:cNvPr id="6" name="Rectangle 5"/>
          <p:cNvSpPr/>
          <p:nvPr/>
        </p:nvSpPr>
        <p:spPr>
          <a:xfrm>
            <a:off x="445476" y="3561509"/>
            <a:ext cx="1035147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reţinut!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singurul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ajutorul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căruia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87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E14C3-4B01-44B8-B8B1-FAACBA0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0BBAE-104F-40E5-9D00-1CDD44A2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67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32A45-2B10-4124-8755-246B0F606C98}"/>
              </a:ext>
            </a:extLst>
          </p:cNvPr>
          <p:cNvSpPr/>
          <p:nvPr/>
        </p:nvSpPr>
        <p:spPr>
          <a:xfrm>
            <a:off x="379247" y="1642693"/>
            <a:ext cx="11433506" cy="237991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  <a:scene3d>
              <a:camera prst="obliqueBottomLef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o-RO" sz="5400" b="1" cap="none" spc="0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Vă mulțumesc pentru atenție!</a:t>
            </a:r>
            <a:endParaRPr lang="en-US" sz="5400" b="1" cap="none" spc="0" dirty="0">
              <a:ln/>
              <a:solidFill>
                <a:schemeClr val="accent3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9E20A-FF53-4798-B519-15368B3D9B29}"/>
              </a:ext>
            </a:extLst>
          </p:cNvPr>
          <p:cNvSpPr/>
          <p:nvPr/>
        </p:nvSpPr>
        <p:spPr>
          <a:xfrm>
            <a:off x="354303" y="6400412"/>
            <a:ext cx="12472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200" dirty="0"/>
              <a:t>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32522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11914</TotalTime>
  <Words>5561</Words>
  <Application>Microsoft Office PowerPoint</Application>
  <PresentationFormat>Widescreen</PresentationFormat>
  <Paragraphs>795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Tw Cen MT</vt:lpstr>
      <vt:lpstr>Wingdings</vt:lpstr>
      <vt:lpstr>Circuit</vt:lpstr>
      <vt:lpstr>Office Theme</vt:lpstr>
      <vt:lpstr>Electronică Digitală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Parametrii dispozitivelor semiconductoare</vt:lpstr>
      <vt:lpstr>PowerPoint Presentation</vt:lpstr>
      <vt:lpstr>PowerPoint Presentation</vt:lpstr>
      <vt:lpstr>PowerPoint Presentation</vt:lpstr>
      <vt:lpstr>Parametrii dispozitivelor semiconductoare</vt:lpstr>
      <vt:lpstr>Parametrii dispozitivelor semiconductoare</vt:lpstr>
      <vt:lpstr>Metode de deplasare a a sarcinilor electrice</vt:lpstr>
      <vt:lpstr>PowerPoint Presentation</vt:lpstr>
      <vt:lpstr>Parametrii dispozitivelor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DIODA SEMICONDUCTOARE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Parametrii statici ai diodelor semiconductoare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Punctul de funcţionare al diodei semiconductoare</vt:lpstr>
      <vt:lpstr>Punctul de funcţionare al diodei semiconductoare</vt:lpstr>
      <vt:lpstr>Punctul de funcţionare al diodei semiconductoare</vt:lpstr>
      <vt:lpstr>Punctul de funcţionare al diodei semiconductoare</vt:lpstr>
      <vt:lpstr>PowerPoint Presentation</vt:lpstr>
      <vt:lpstr>PowerPoint Presentation</vt:lpstr>
      <vt:lpstr>Observații: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Digitale</dc:title>
  <dc:creator>Lucian Gaina</dc:creator>
  <cp:lastModifiedBy>Daniela Stanescu</cp:lastModifiedBy>
  <cp:revision>637</cp:revision>
  <dcterms:created xsi:type="dcterms:W3CDTF">2020-08-05T12:22:10Z</dcterms:created>
  <dcterms:modified xsi:type="dcterms:W3CDTF">2026-01-09T17:10:26Z</dcterms:modified>
</cp:coreProperties>
</file>