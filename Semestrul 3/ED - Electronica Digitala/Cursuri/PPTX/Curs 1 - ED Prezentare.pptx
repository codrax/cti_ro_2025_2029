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6" r:id="rId1"/>
    <p:sldMasterId id="2147483705" r:id="rId2"/>
    <p:sldMasterId id="2147483753" r:id="rId3"/>
  </p:sldMasterIdLst>
  <p:notesMasterIdLst>
    <p:notesMasterId r:id="rId72"/>
  </p:notesMasterIdLst>
  <p:sldIdLst>
    <p:sldId id="256" r:id="rId4"/>
    <p:sldId id="257" r:id="rId5"/>
    <p:sldId id="460" r:id="rId6"/>
    <p:sldId id="468" r:id="rId7"/>
    <p:sldId id="469" r:id="rId8"/>
    <p:sldId id="470" r:id="rId9"/>
    <p:sldId id="471" r:id="rId10"/>
    <p:sldId id="466" r:id="rId11"/>
    <p:sldId id="463" r:id="rId12"/>
    <p:sldId id="465" r:id="rId13"/>
    <p:sldId id="457" r:id="rId14"/>
    <p:sldId id="464" r:id="rId15"/>
    <p:sldId id="434" r:id="rId16"/>
    <p:sldId id="435" r:id="rId17"/>
    <p:sldId id="429" r:id="rId18"/>
    <p:sldId id="430" r:id="rId19"/>
    <p:sldId id="431" r:id="rId20"/>
    <p:sldId id="346" r:id="rId21"/>
    <p:sldId id="347" r:id="rId22"/>
    <p:sldId id="348" r:id="rId23"/>
    <p:sldId id="432" r:id="rId24"/>
    <p:sldId id="512" r:id="rId25"/>
    <p:sldId id="265" r:id="rId26"/>
    <p:sldId id="266" r:id="rId27"/>
    <p:sldId id="448" r:id="rId28"/>
    <p:sldId id="267" r:id="rId29"/>
    <p:sldId id="446" r:id="rId30"/>
    <p:sldId id="447" r:id="rId31"/>
    <p:sldId id="357" r:id="rId32"/>
    <p:sldId id="353" r:id="rId33"/>
    <p:sldId id="355" r:id="rId34"/>
    <p:sldId id="356" r:id="rId35"/>
    <p:sldId id="358" r:id="rId36"/>
    <p:sldId id="359" r:id="rId37"/>
    <p:sldId id="364" r:id="rId38"/>
    <p:sldId id="365" r:id="rId39"/>
    <p:sldId id="361" r:id="rId40"/>
    <p:sldId id="363" r:id="rId41"/>
    <p:sldId id="467" r:id="rId42"/>
    <p:sldId id="369" r:id="rId43"/>
    <p:sldId id="370" r:id="rId44"/>
    <p:sldId id="372" r:id="rId45"/>
    <p:sldId id="373" r:id="rId46"/>
    <p:sldId id="374" r:id="rId47"/>
    <p:sldId id="375" r:id="rId48"/>
    <p:sldId id="376" r:id="rId49"/>
    <p:sldId id="377" r:id="rId50"/>
    <p:sldId id="449" r:id="rId51"/>
    <p:sldId id="385" r:id="rId52"/>
    <p:sldId id="386" r:id="rId53"/>
    <p:sldId id="387" r:id="rId54"/>
    <p:sldId id="450" r:id="rId55"/>
    <p:sldId id="451" r:id="rId56"/>
    <p:sldId id="452" r:id="rId57"/>
    <p:sldId id="453" r:id="rId58"/>
    <p:sldId id="454" r:id="rId59"/>
    <p:sldId id="443" r:id="rId60"/>
    <p:sldId id="389" r:id="rId61"/>
    <p:sldId id="391" r:id="rId62"/>
    <p:sldId id="392" r:id="rId63"/>
    <p:sldId id="393" r:id="rId64"/>
    <p:sldId id="394" r:id="rId65"/>
    <p:sldId id="395" r:id="rId66"/>
    <p:sldId id="397" r:id="rId67"/>
    <p:sldId id="398" r:id="rId68"/>
    <p:sldId id="399" r:id="rId69"/>
    <p:sldId id="400" r:id="rId70"/>
    <p:sldId id="428" r:id="rId71"/>
  </p:sldIdLst>
  <p:sldSz cx="12192000" cy="6858000"/>
  <p:notesSz cx="7559675" cy="10691813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 varScale="1">
        <p:scale>
          <a:sx n="79" d="100"/>
          <a:sy n="79" d="100"/>
        </p:scale>
        <p:origin x="25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C0DAC-9DEA-4F82-B351-A088FAF4EFBC}" type="datetimeFigureOut">
              <a:rPr lang="ro-RO" smtClean="0"/>
              <a:t>29.09.2026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BE0FD-171C-4DDF-8710-E941C03990D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049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4155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E0FD-171C-4DDF-8710-E941C03990D0}" type="slidenum">
              <a:rPr lang="ro-RO" smtClean="0"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2391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3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7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7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5"/>
            <a:ext cx="2743200" cy="365125"/>
          </a:xfrm>
        </p:spPr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6" y="5410205"/>
            <a:ext cx="5124887" cy="365125"/>
          </a:xfrm>
        </p:spPr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4" y="5410203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455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57103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30"/>
            <a:ext cx="9906000" cy="2852737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8425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415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30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22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3" y="3073401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9" y="2249485"/>
            <a:ext cx="464660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73401"/>
            <a:ext cx="487521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440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622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4570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7" y="609601"/>
            <a:ext cx="3856037" cy="163988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2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7" y="2249486"/>
            <a:ext cx="3856037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19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5934508" cy="163988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5"/>
            <a:ext cx="3666691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2249486"/>
            <a:ext cx="5934511" cy="354171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782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4304668"/>
            <a:ext cx="9912355" cy="81935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2" y="606426"/>
            <a:ext cx="9912355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5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146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7" y="609600"/>
            <a:ext cx="9905955" cy="342900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4419603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81980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2"/>
            <a:ext cx="9302752" cy="2748429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2" y="4309919"/>
            <a:ext cx="9906003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1" y="2764972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12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134045"/>
            <a:ext cx="9906001" cy="2511835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6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1182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5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21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9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5" y="3363435"/>
            <a:ext cx="3195831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3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3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7496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4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62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5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8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5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3" y="4980858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2072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7479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1" y="609603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1" y="609603"/>
            <a:ext cx="774859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33074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808756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37605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2633333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5447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D89FB-8F56-44D3-A4F4-D1E787AC13C9}"/>
              </a:ext>
            </a:extLst>
          </p:cNvPr>
          <p:cNvSpPr txBox="1"/>
          <p:nvPr userDrawn="1"/>
        </p:nvSpPr>
        <p:spPr>
          <a:xfrm>
            <a:off x="838200" y="6400412"/>
            <a:ext cx="2743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900" b="0" dirty="0"/>
              <a:t> </a:t>
            </a:r>
            <a:r>
              <a:rPr lang="ro-RO" sz="9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404126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9839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8518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9154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4654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9269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43061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9709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5386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2955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798537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34817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0523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26303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06101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62299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0705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98303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19138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99357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06145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54326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0409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2804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Daniela Stănescu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101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3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5" y="618518"/>
            <a:ext cx="9905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5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9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4" y="5883278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1" y="3"/>
            <a:ext cx="1378631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12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Electronic</a:t>
            </a:r>
            <a:r>
              <a:rPr lang="ro-RO" dirty="0"/>
              <a:t>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1" y="3"/>
            <a:ext cx="1378631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Daniela Stănescu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158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71.png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5" Type="http://schemas.openxmlformats.org/officeDocument/2006/relationships/image" Target="../media/image27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electronică Digitală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 anchor="ctr">
            <a:normAutofit/>
          </a:bodyPr>
          <a:lstStyle/>
          <a:p>
            <a:pPr algn="ctr"/>
            <a:r>
              <a:rPr lang="ro-RO">
                <a:solidFill>
                  <a:schemeClr val="bg2"/>
                </a:solidFill>
              </a:rPr>
              <a:t>Curs 1</a:t>
            </a:r>
            <a:endParaRPr lang="ro-RO" dirty="0">
              <a:solidFill>
                <a:schemeClr val="bg2"/>
              </a:solidFill>
            </a:endParaRPr>
          </a:p>
          <a:p>
            <a:pPr algn="ctr"/>
            <a:r>
              <a:rPr lang="ro-RO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28329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/>
          <p:cNvSpPr/>
          <p:nvPr/>
        </p:nvSpPr>
        <p:spPr>
          <a:xfrm>
            <a:off x="191344" y="1077545"/>
            <a:ext cx="11593288" cy="55198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DE CE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  →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”</a:t>
            </a:r>
            <a:r>
              <a:rPr lang="ro-RO" sz="2400" dirty="0">
                <a:solidFill>
                  <a:srgbClr val="00B050"/>
                </a:solidFill>
                <a:latin typeface="Times New Roman"/>
                <a:ea typeface="DejaVu Sans"/>
              </a:rPr>
              <a:t>Electronică digitală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” ?</a:t>
            </a:r>
            <a:endParaRPr lang="en-US" sz="2400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la 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funcționării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ermi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fiabilă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formația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“0”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“1”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alculator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→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procesoare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 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reguli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50000"/>
              </a:lnSpc>
              <a:buSzPct val="95000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9155-85D6-DC41-F7F6-4C8D649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5214-280B-6EA9-9800-5286B021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>
            <a:extLst>
              <a:ext uri="{FF2B5EF4-FFF2-40B4-BE49-F238E27FC236}">
                <a16:creationId xmlns:a16="http://schemas.microsoft.com/office/drawing/2014/main" id="{04F49508-B9B9-CA5C-489C-2320FCA3EAC1}"/>
              </a:ext>
            </a:extLst>
          </p:cNvPr>
          <p:cNvSpPr/>
          <p:nvPr/>
        </p:nvSpPr>
        <p:spPr>
          <a:xfrm>
            <a:off x="236609" y="1125367"/>
            <a:ext cx="11593288" cy="17281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calculator: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este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suficient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asociere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 → „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circuitele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calculator.</a:t>
            </a:r>
          </a:p>
        </p:txBody>
      </p:sp>
      <p:sp>
        <p:nvSpPr>
          <p:cNvPr id="86" name="CustomShape 4">
            <a:extLst>
              <a:ext uri="{FF2B5EF4-FFF2-40B4-BE49-F238E27FC236}">
                <a16:creationId xmlns:a16="http://schemas.microsoft.com/office/drawing/2014/main" id="{A51EB4FD-C337-775E-BDB7-FCFD42B8E34B}"/>
              </a:ext>
            </a:extLst>
          </p:cNvPr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09563-4AF2-694A-5FF4-6CB84EDAF09D}"/>
              </a:ext>
            </a:extLst>
          </p:cNvPr>
          <p:cNvSpPr/>
          <p:nvPr/>
        </p:nvSpPr>
        <p:spPr>
          <a:xfrm>
            <a:off x="3935760" y="251288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A5D41-CC56-6B3D-2129-D8D270FA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91EDB-387F-814D-41AC-6867C59EA257}"/>
              </a:ext>
            </a:extLst>
          </p:cNvPr>
          <p:cNvSpPr txBox="1"/>
          <p:nvPr/>
        </p:nvSpPr>
        <p:spPr>
          <a:xfrm>
            <a:off x="299356" y="3868969"/>
            <a:ext cx="11629292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4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fiabil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 cu pas.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113A1-E82E-B1C6-331F-2A9224CBB0A8}"/>
              </a:ext>
            </a:extLst>
          </p:cNvPr>
          <p:cNvSpPr/>
          <p:nvPr/>
        </p:nvSpPr>
        <p:spPr>
          <a:xfrm>
            <a:off x="265751" y="3104675"/>
            <a:ext cx="2068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Observaţie: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D7403-1546-17BE-CCC9-58269C24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26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9BB097-3375-4A21-9A7C-0AB0066C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8B9DF5-F504-06DA-73A3-3BC3468C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C0EC3-4E01-42C8-9020-B5DB6F5E1669}"/>
              </a:ext>
            </a:extLst>
          </p:cNvPr>
          <p:cNvSpPr/>
          <p:nvPr/>
        </p:nvSpPr>
        <p:spPr>
          <a:xfrm>
            <a:off x="3719736" y="5326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0CB25-996E-93C1-DA36-ABA5B8C80636}"/>
              </a:ext>
            </a:extLst>
          </p:cNvPr>
          <p:cNvSpPr txBox="1"/>
          <p:nvPr/>
        </p:nvSpPr>
        <p:spPr>
          <a:xfrm>
            <a:off x="276034" y="642103"/>
            <a:ext cx="1172496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Cursul va începe cu prezentarea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unor elemente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aparent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simple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construiesc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 cu pas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pornind de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fundamental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kern="1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4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xemplu</a:t>
            </a:r>
            <a:r>
              <a:rPr lang="ro-RO" sz="24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b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ircuitele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RC </a:t>
            </a:r>
            <a:r>
              <a:rPr lang="en-US" sz="2400" b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trece-jos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trece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-sus</a:t>
            </a:r>
            <a:r>
              <a:rPr lang="ro-RO" sz="24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ro-RO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formate din o rezistență și un condensator :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i="1" dirty="0">
                <a:solidFill>
                  <a:srgbClr val="00B050"/>
                </a:solidFill>
              </a:rPr>
              <a:t>Întrebare: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0CD1B-2B7D-175F-DEC8-28B8F7F8AD5B}"/>
              </a:ext>
            </a:extLst>
          </p:cNvPr>
          <p:cNvSpPr txBox="1"/>
          <p:nvPr/>
        </p:nvSpPr>
        <p:spPr>
          <a:xfrm>
            <a:off x="3580278" y="5657235"/>
            <a:ext cx="8640960" cy="1236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prelucrarea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semnalelor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o-RO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alimentarea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circuitelor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9AECFEF6-7D0D-D2DC-4B43-1F075E82E5F9}"/>
              </a:ext>
            </a:extLst>
          </p:cNvPr>
          <p:cNvSpPr/>
          <p:nvPr/>
        </p:nvSpPr>
        <p:spPr>
          <a:xfrm>
            <a:off x="3948442" y="5915474"/>
            <a:ext cx="102840" cy="720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5BAC3-B6A2-C6F2-EEF2-305EEAAA288F}"/>
              </a:ext>
            </a:extLst>
          </p:cNvPr>
          <p:cNvSpPr txBox="1"/>
          <p:nvPr/>
        </p:nvSpPr>
        <p:spPr>
          <a:xfrm>
            <a:off x="-137332" y="4201952"/>
            <a:ext cx="12358569" cy="170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să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intereseze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circuite formate din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rezistențe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condensatoare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ro-RO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că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ajută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să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înțeleagă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cum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pot:</a:t>
            </a:r>
          </a:p>
          <a:p>
            <a:pPr marL="2171700" lvl="4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filtra, </a:t>
            </a:r>
            <a:r>
              <a:rPr lang="en-US" sz="24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separa</a:t>
            </a:r>
            <a:r>
              <a:rPr 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modela</a:t>
            </a:r>
            <a:r>
              <a:rPr lang="en-US" sz="24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semnale</a:t>
            </a:r>
            <a:r>
              <a:rPr lang="en-US" sz="2400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o-RO" sz="2400" kern="1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C30C8-06E9-458D-4544-A977CE55ECC0}"/>
              </a:ext>
            </a:extLst>
          </p:cNvPr>
          <p:cNvSpPr txBox="1"/>
          <p:nvPr/>
        </p:nvSpPr>
        <p:spPr>
          <a:xfrm>
            <a:off x="276034" y="5933666"/>
            <a:ext cx="377524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Astfel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principii apar </a:t>
            </a:r>
            <a:r>
              <a:rPr lang="en-US" sz="2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</a:p>
        </p:txBody>
      </p:sp>
    </p:spTree>
    <p:extLst>
      <p:ext uri="{BB962C8B-B14F-4D97-AF65-F5344CB8AC3E}">
        <p14:creationId xmlns:p14="http://schemas.microsoft.com/office/powerpoint/2010/main" val="187368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814E-DE0C-009E-FB7F-902604D3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316170-0103-6E9E-8AFA-1A1DFB94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ED805-3249-170C-74DF-80C134F7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EBB9A5-BD5E-A9B4-098B-866D5F86EC02}"/>
              </a:ext>
            </a:extLst>
          </p:cNvPr>
          <p:cNvSpPr/>
          <p:nvPr/>
        </p:nvSpPr>
        <p:spPr>
          <a:xfrm>
            <a:off x="3863752" y="191165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196C8-1F3F-DE7A-9B4C-A46AD981F2D9}"/>
              </a:ext>
            </a:extLst>
          </p:cNvPr>
          <p:cNvSpPr txBox="1"/>
          <p:nvPr/>
        </p:nvSpPr>
        <p:spPr>
          <a:xfrm>
            <a:off x="233518" y="683608"/>
            <a:ext cx="11724964" cy="6099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circuitele RC → analiza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comportame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rolul diodelor în circuitele digitale</a:t>
            </a:r>
            <a:endParaRPr lang="ro-RO" sz="2400" kern="100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kern="1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Diode: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cunoaștem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simbol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714500" lvl="3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fi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funcții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elementare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b="1" i="1" dirty="0">
                <a:solidFill>
                  <a:srgbClr val="00B050"/>
                </a:solidFill>
              </a:rPr>
              <a:t>Întrebare: </a:t>
            </a: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poate un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realizeze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operație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ro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Pornind de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construiesc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elementare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ȘI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SAU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gitală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electronic.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67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FE6DA3-2227-81A4-8DCB-BA408750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4F2AB3-8C9D-EC05-0F28-E3BE6AB6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574CF-052A-D37A-2BB5-160BA5A2271D}"/>
              </a:ext>
            </a:extLst>
          </p:cNvPr>
          <p:cNvSpPr txBox="1"/>
          <p:nvPr/>
        </p:nvSpPr>
        <p:spPr>
          <a:xfrm>
            <a:off x="335360" y="808821"/>
            <a:ext cx="11737304" cy="57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Aft>
                <a:spcPts val="800"/>
              </a:spcAft>
            </a:pP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Urmează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partea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care ne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apropie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direct de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calculatoare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b="1" kern="1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="1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ranzistorul</a:t>
            </a:r>
            <a:r>
              <a:rPr lang="ro-RO" sz="2400" b="1" kern="1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componentă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fundamental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 → se va vedea cum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poate fi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 element de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comutație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pornind de la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tranzistoare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pot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circuite</a:t>
            </a:r>
            <a:r>
              <a:rPr lang="en-US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logice</a:t>
            </a:r>
            <a:r>
              <a:rPr lang="en-US" sz="2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va urmări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construcția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unor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porți</a:t>
            </a:r>
            <a:r>
              <a:rPr lang="ro-RO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logice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precum </a:t>
            </a:r>
            <a:r>
              <a:rPr lang="en-US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 ajutorul diodelor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rezistențelor :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va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vedea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cum o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funcție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scrisă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foarte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simplu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poate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într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-un circuit electronic real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construit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00565-2E26-D991-419C-98DEFAD460EE}"/>
              </a:ext>
            </a:extLst>
          </p:cNvPr>
          <p:cNvSpPr/>
          <p:nvPr/>
        </p:nvSpPr>
        <p:spPr>
          <a:xfrm>
            <a:off x="3863752" y="191165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2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8A540-A8CA-D8D9-E628-8EAC9A70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D7004E-C70B-BE0C-0BF9-4C1C4584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5ED84-7813-38BF-8138-F0D9F24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7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FC581-CEBC-1D8C-EE05-5968D0DDF8AC}"/>
              </a:ext>
            </a:extLst>
          </p:cNvPr>
          <p:cNvSpPr/>
          <p:nvPr/>
        </p:nvSpPr>
        <p:spPr>
          <a:xfrm>
            <a:off x="3863752" y="191165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EEFF5-4BB9-B039-1D6F-7C65CBE353E5}"/>
              </a:ext>
            </a:extLst>
          </p:cNvPr>
          <p:cNvSpPr txBox="1"/>
          <p:nvPr/>
        </p:nvSpPr>
        <p:spPr>
          <a:xfrm>
            <a:off x="524377" y="1169246"/>
            <a:ext cx="11143245" cy="462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erspectivă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procesorul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dincolo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vizibil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software: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procesor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nu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„cutie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magică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o-RO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asă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rezultate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Este o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structură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complexă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care:</a:t>
            </a:r>
          </a:p>
          <a:p>
            <a:pPr marL="1257300" lvl="2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o-RO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ealizează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nivel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fizic</a:t>
            </a:r>
            <a:r>
              <a:rPr lang="ro-RO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operații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foarte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precise.</a:t>
            </a:r>
          </a:p>
          <a:p>
            <a:pPr marL="342900" marR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o-RO" sz="2400" b="1" kern="1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400" b="1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biectivul </a:t>
            </a:r>
            <a:r>
              <a:rPr lang="en-US" sz="2400" b="1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cursului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legătura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mecanismele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hardware.</a:t>
            </a:r>
            <a:endParaRPr lang="ro-RO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5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7A1DD-0C13-C5EC-E7B9-DC94420C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4">
            <a:extLst>
              <a:ext uri="{FF2B5EF4-FFF2-40B4-BE49-F238E27FC236}">
                <a16:creationId xmlns:a16="http://schemas.microsoft.com/office/drawing/2014/main" id="{A06CB989-111B-F23A-EDC2-B4A93564B23C}"/>
              </a:ext>
            </a:extLst>
          </p:cNvPr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BFC7FE-3D49-6085-14A3-4F06D5AB1707}"/>
              </a:ext>
            </a:extLst>
          </p:cNvPr>
          <p:cNvSpPr/>
          <p:nvPr/>
        </p:nvSpPr>
        <p:spPr>
          <a:xfrm>
            <a:off x="3935760" y="251288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F9D22-8C4A-3B01-E939-22F5D453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64F95-09CB-84CA-FB0C-87A86750F6E5}"/>
              </a:ext>
            </a:extLst>
          </p:cNvPr>
          <p:cNvSpPr txBox="1"/>
          <p:nvPr/>
        </p:nvSpPr>
        <p:spPr>
          <a:xfrm>
            <a:off x="499479" y="2152663"/>
            <a:ext cx="1146129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Inginer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Absolvent UPT – CTI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partea 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cunoaște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de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funcționare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electronica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/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A04C21-8B79-15E0-114A-443E3D9C148B}"/>
              </a:ext>
            </a:extLst>
          </p:cNvPr>
          <p:cNvSpPr/>
          <p:nvPr/>
        </p:nvSpPr>
        <p:spPr>
          <a:xfrm>
            <a:off x="499479" y="1534423"/>
            <a:ext cx="19319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Concluzie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B64D5-8307-B427-445B-FD5F157E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376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27A64-B7E8-1483-4AA5-D564B508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5D90-847F-BAE7-1F0F-0FD9E2FB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3CD14-7859-EA80-1071-3B279D959F0D}"/>
              </a:ext>
            </a:extLst>
          </p:cNvPr>
          <p:cNvSpPr txBox="1"/>
          <p:nvPr/>
        </p:nvSpPr>
        <p:spPr>
          <a:xfrm>
            <a:off x="2657193" y="1775305"/>
            <a:ext cx="547260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 digitale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(“0”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“1”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5263D-CB9C-B0D0-FE97-D4330124DB3F}"/>
              </a:ext>
            </a:extLst>
          </p:cNvPr>
          <p:cNvSpPr txBox="1"/>
          <p:nvPr/>
        </p:nvSpPr>
        <p:spPr>
          <a:xfrm>
            <a:off x="4021897" y="1022595"/>
            <a:ext cx="27432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Electronica digitală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F976C-59F1-2146-6510-A3EE6C5D56CC}"/>
              </a:ext>
            </a:extLst>
          </p:cNvPr>
          <p:cNvSpPr txBox="1"/>
          <p:nvPr/>
        </p:nvSpPr>
        <p:spPr>
          <a:xfrm>
            <a:off x="3161249" y="2450742"/>
            <a:ext cx="446449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Porți logice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ȘI, NU, DA, 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9955D-9155-B63A-0BFB-C163FFED065A}"/>
              </a:ext>
            </a:extLst>
          </p:cNvPr>
          <p:cNvSpPr txBox="1"/>
          <p:nvPr/>
        </p:nvSpPr>
        <p:spPr>
          <a:xfrm>
            <a:off x="523414" y="3429000"/>
            <a:ext cx="492854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combinaționale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sumatoare, multiplexoare, codificatoare, decodificatoare, 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ADC8A-EC56-2301-C1C8-9E7F37B7E6C6}"/>
              </a:ext>
            </a:extLst>
          </p:cNvPr>
          <p:cNvSpPr txBox="1"/>
          <p:nvPr/>
        </p:nvSpPr>
        <p:spPr>
          <a:xfrm>
            <a:off x="5599978" y="3460666"/>
            <a:ext cx="53285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secvențiale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registre, numărătoare,  memorii,</a:t>
            </a:r>
          </a:p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488-CF6C-01AD-BFF2-9ABE22D1EDBD}"/>
              </a:ext>
            </a:extLst>
          </p:cNvPr>
          <p:cNvSpPr txBox="1"/>
          <p:nvPr/>
        </p:nvSpPr>
        <p:spPr>
          <a:xfrm>
            <a:off x="2559574" y="5076494"/>
            <a:ext cx="6696744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Unități complexe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procesoare,  memorii RAM, ROM, FPGA, 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BFCDB9-1A6C-C501-B071-0E3951E1014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2987685" y="2912407"/>
            <a:ext cx="2405812" cy="51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10837B-9A2F-2292-0527-CF526D3FDB33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5393497" y="2912407"/>
            <a:ext cx="2870777" cy="54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F13D5F-F7EE-362B-0E22-49CAFEF7EB0D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flipH="1">
            <a:off x="5907946" y="4660995"/>
            <a:ext cx="2356328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B1C1C6F-C2B4-2C8F-0068-773EB23EEE74}"/>
              </a:ext>
            </a:extLst>
          </p:cNvPr>
          <p:cNvSpPr txBox="1"/>
          <p:nvPr/>
        </p:nvSpPr>
        <p:spPr>
          <a:xfrm>
            <a:off x="3868805" y="6203670"/>
            <a:ext cx="375694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 complet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4CA0B2B-6D91-A7D5-9E4F-9FDB8C75EDF0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>
            <a:off x="5393497" y="1484260"/>
            <a:ext cx="0" cy="291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D865BD1-328E-9C49-0A75-41FC25872A54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5393497" y="2236970"/>
            <a:ext cx="0" cy="213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3E551D1-3A48-ADBB-917D-5B81655D02B3}"/>
              </a:ext>
            </a:extLst>
          </p:cNvPr>
          <p:cNvCxnSpPr>
            <a:stCxn id="18" idx="2"/>
          </p:cNvCxnSpPr>
          <p:nvPr/>
        </p:nvCxnSpPr>
        <p:spPr>
          <a:xfrm>
            <a:off x="5907946" y="5907491"/>
            <a:ext cx="0" cy="35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3864DB-D027-F06A-1EA5-4A6C7A848192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2987685" y="4629329"/>
            <a:ext cx="2920261" cy="447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B46C54B-CD4D-443B-C439-99837F803E88}"/>
              </a:ext>
            </a:extLst>
          </p:cNvPr>
          <p:cNvSpPr/>
          <p:nvPr/>
        </p:nvSpPr>
        <p:spPr>
          <a:xfrm>
            <a:off x="2431570" y="145431"/>
            <a:ext cx="682474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 în calculator - Structură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4E751-7011-65B2-2D7D-544968FE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44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8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33C68-3C5A-E5A8-EA8E-21CDDBC6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72022-A5EB-92FD-380B-1B8D5E6A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A2983-395E-04C4-86FA-0F23A0598CDB}"/>
              </a:ext>
            </a:extLst>
          </p:cNvPr>
          <p:cNvSpPr txBox="1"/>
          <p:nvPr/>
        </p:nvSpPr>
        <p:spPr>
          <a:xfrm>
            <a:off x="1090059" y="1820181"/>
            <a:ext cx="885698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 digitale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Mesaje/instrucțiuni/informații →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Comunicații 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2A358-D573-762A-EA00-0287C8E02773}"/>
              </a:ext>
            </a:extLst>
          </p:cNvPr>
          <p:cNvSpPr txBox="1"/>
          <p:nvPr/>
        </p:nvSpPr>
        <p:spPr>
          <a:xfrm>
            <a:off x="3581400" y="998195"/>
            <a:ext cx="3874303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Electronica digitală 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Echipa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1C0FB-12AB-EC98-388A-EC0EEE837B80}"/>
              </a:ext>
            </a:extLst>
          </p:cNvPr>
          <p:cNvSpPr txBox="1"/>
          <p:nvPr/>
        </p:nvSpPr>
        <p:spPr>
          <a:xfrm>
            <a:off x="1846142" y="2561429"/>
            <a:ext cx="734481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Porți logice  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Muncitorii →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Sarcini simple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8D1A3-416A-A054-9482-3189C7ADFA48}"/>
              </a:ext>
            </a:extLst>
          </p:cNvPr>
          <p:cNvSpPr txBox="1"/>
          <p:nvPr/>
        </p:nvSpPr>
        <p:spPr>
          <a:xfrm>
            <a:off x="200549" y="3302677"/>
            <a:ext cx="1063600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combinaționale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Circuite secvențiale 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Echipele →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Sarcini complexe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77996F-F2F9-4F4B-146D-D28411975096}"/>
              </a:ext>
            </a:extLst>
          </p:cNvPr>
          <p:cNvSpPr txBox="1"/>
          <p:nvPr/>
        </p:nvSpPr>
        <p:spPr>
          <a:xfrm>
            <a:off x="1180066" y="4106390"/>
            <a:ext cx="867696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Unități complexe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procesor,  memoria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Managerii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Coordonare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7D9B0E-DA10-E001-7800-4AA0070A6823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5518550" y="3023094"/>
            <a:ext cx="1" cy="279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1A9E94-1D07-8C6E-11DD-3DE1D6ED11D0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flipH="1">
            <a:off x="5518549" y="3764342"/>
            <a:ext cx="1" cy="34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98CF410-4982-0715-B642-E7421B170C95}"/>
              </a:ext>
            </a:extLst>
          </p:cNvPr>
          <p:cNvSpPr txBox="1"/>
          <p:nvPr/>
        </p:nvSpPr>
        <p:spPr>
          <a:xfrm>
            <a:off x="2031683" y="4999574"/>
            <a:ext cx="697373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 complet 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Organizație funcțională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8DE8265-9740-D5A8-79B2-55A0BBDAECE1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5518551" y="1459860"/>
            <a:ext cx="1" cy="360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01B118-605A-ACD4-5A1B-36D01AADC74E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518551" y="2281846"/>
            <a:ext cx="0" cy="279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E7C619C-A8FD-CFF1-9D7C-356AC4D63948}"/>
              </a:ext>
            </a:extLst>
          </p:cNvPr>
          <p:cNvSpPr/>
          <p:nvPr/>
        </p:nvSpPr>
        <p:spPr>
          <a:xfrm>
            <a:off x="983432" y="145431"/>
            <a:ext cx="943304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 în calculator – </a:t>
            </a:r>
            <a:r>
              <a:rPr lang="en-US" sz="26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Analogie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Echip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de lucru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C8253DD-2EA0-E735-7BAD-0BFE8D79BF15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flipH="1">
            <a:off x="5518548" y="4568055"/>
            <a:ext cx="1" cy="431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C0A45-5871-3C76-5BD3-38C404F5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4072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8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39C09-79C1-11EF-D5CB-7F977642D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EBA3A-2B71-83E4-1FB1-A3B3FCD2536E}"/>
              </a:ext>
            </a:extLst>
          </p:cNvPr>
          <p:cNvSpPr txBox="1"/>
          <p:nvPr/>
        </p:nvSpPr>
        <p:spPr>
          <a:xfrm>
            <a:off x="1929850" y="1860605"/>
            <a:ext cx="797111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digitale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(“0”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“1”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Literele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68477-7DD7-E8F4-50CE-BB10CF9FF06F}"/>
              </a:ext>
            </a:extLst>
          </p:cNvPr>
          <p:cNvSpPr txBox="1"/>
          <p:nvPr/>
        </p:nvSpPr>
        <p:spPr>
          <a:xfrm>
            <a:off x="2792223" y="973297"/>
            <a:ext cx="624637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Electronica digitală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Alfabet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278CA-129A-637B-5D37-50A0694E899E}"/>
              </a:ext>
            </a:extLst>
          </p:cNvPr>
          <p:cNvSpPr txBox="1"/>
          <p:nvPr/>
        </p:nvSpPr>
        <p:spPr>
          <a:xfrm>
            <a:off x="1929850" y="2753262"/>
            <a:ext cx="797111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Porți logice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ȘI, NU, DA, SAU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Reguli de gramatică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9D287-7C01-F875-87A5-DDC8C2478122}"/>
              </a:ext>
            </a:extLst>
          </p:cNvPr>
          <p:cNvSpPr txBox="1"/>
          <p:nvPr/>
        </p:nvSpPr>
        <p:spPr>
          <a:xfrm>
            <a:off x="1312433" y="3920638"/>
            <a:ext cx="453650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</a:t>
            </a:r>
            <a:r>
              <a:rPr lang="ro-RO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combinaționale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C3F8E-DBE3-8E0B-AFF6-6CAA913C2859}"/>
              </a:ext>
            </a:extLst>
          </p:cNvPr>
          <p:cNvSpPr txBox="1"/>
          <p:nvPr/>
        </p:nvSpPr>
        <p:spPr>
          <a:xfrm>
            <a:off x="6334121" y="3892990"/>
            <a:ext cx="525256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secvențiale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Fraze cu memorie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CD626-7B8D-98A3-181F-BF255CA0A5A4}"/>
              </a:ext>
            </a:extLst>
          </p:cNvPr>
          <p:cNvSpPr txBox="1"/>
          <p:nvPr/>
        </p:nvSpPr>
        <p:spPr>
          <a:xfrm>
            <a:off x="2521714" y="4852600"/>
            <a:ext cx="762481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Unități complexe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Capitole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B06A01-C9B4-AD91-2558-F5899C88530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3580685" y="3214927"/>
            <a:ext cx="2334725" cy="705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F86280-D4AC-D432-4787-8D6C50A6A66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5915410" y="3214927"/>
            <a:ext cx="3044995" cy="67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8537CB-D89D-50FD-9D9A-7EB02C6C627F}"/>
              </a:ext>
            </a:extLst>
          </p:cNvPr>
          <p:cNvSpPr txBox="1"/>
          <p:nvPr/>
        </p:nvSpPr>
        <p:spPr>
          <a:xfrm>
            <a:off x="3039647" y="5784562"/>
            <a:ext cx="611270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 complet =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Cartea întreagă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E15E629-AC5D-D99F-27EE-AC77580727B6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5915410" y="1434962"/>
            <a:ext cx="1" cy="42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C92B1C2-61BB-B085-787B-508AAE5C4604}"/>
              </a:ext>
            </a:extLst>
          </p:cNvPr>
          <p:cNvSpPr/>
          <p:nvPr/>
        </p:nvSpPr>
        <p:spPr>
          <a:xfrm>
            <a:off x="479376" y="145431"/>
            <a:ext cx="1015312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 în calculator – Analogie cu Structura unei cărți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B007523-C02D-1D53-3EA5-9334BD55DFC0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5915410" y="2322270"/>
            <a:ext cx="0" cy="43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CD5A8AA-3D7A-1B22-1468-E7E81BF7FDB0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3580685" y="4382303"/>
            <a:ext cx="2753436" cy="47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8A828D5-3544-1F5E-F1B6-A07548AD138C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flipH="1">
            <a:off x="6334121" y="4354655"/>
            <a:ext cx="2626284" cy="497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DEEFD2C-56B2-BFC1-30DB-2C2F2E85968C}"/>
              </a:ext>
            </a:extLst>
          </p:cNvPr>
          <p:cNvCxnSpPr>
            <a:stCxn id="18" idx="2"/>
          </p:cNvCxnSpPr>
          <p:nvPr/>
        </p:nvCxnSpPr>
        <p:spPr>
          <a:xfrm>
            <a:off x="6334121" y="5314265"/>
            <a:ext cx="0" cy="47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8F92-5635-61B4-5EE8-C2E3A351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75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72AD9-B469-B935-E6B2-AD8D282A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5DB24-7A02-4B33-1446-0C7937F22FBD}"/>
              </a:ext>
            </a:extLst>
          </p:cNvPr>
          <p:cNvSpPr txBox="1"/>
          <p:nvPr/>
        </p:nvSpPr>
        <p:spPr>
          <a:xfrm>
            <a:off x="0" y="753090"/>
            <a:ext cx="11522496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Electronica digitală → disciplină cu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aplicativ:</a:t>
            </a: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Constituie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 principal 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analiza:</a:t>
            </a:r>
          </a:p>
          <a:p>
            <a:pPr marL="1714500" lvl="3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semnalelor digitale, </a:t>
            </a:r>
          </a:p>
          <a:p>
            <a:pPr marL="1714500" lvl="3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dispozitivelor digitale → cât 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circuitelor digitale care le integrează.</a:t>
            </a: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Importanță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studiu disciplină 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lectronica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mecanismele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57300" lvl="2" indent="-3429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 algn="just">
              <a:lnSpc>
                <a:spcPct val="150000"/>
              </a:lnSpc>
              <a:buSzPct val="95000"/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calcul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0" lvl="3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4F12F-BDC4-40A5-CB43-8EF1DCE9FCCF}"/>
              </a:ext>
            </a:extLst>
          </p:cNvPr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1DD7A-B970-CA9D-9A2A-2DC268D2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698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2"/>
          <p:cNvSpPr/>
          <p:nvPr/>
        </p:nvSpPr>
        <p:spPr>
          <a:xfrm>
            <a:off x="263352" y="404664"/>
            <a:ext cx="11665296" cy="59046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SzPct val="95000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Electronic</a:t>
            </a:r>
            <a:r>
              <a:rPr lang="ro-RO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DejaVu Sans"/>
              </a:rPr>
              <a:t>– curs</a:t>
            </a:r>
          </a:p>
          <a:p>
            <a:pPr>
              <a:lnSpc>
                <a:spcPct val="100000"/>
              </a:lnSpc>
              <a:buSzPct val="95000"/>
            </a:pPr>
            <a:endParaRPr lang="ro-RO" dirty="0"/>
          </a:p>
          <a:p>
            <a:pPr>
              <a:lnSpc>
                <a:spcPct val="100000"/>
              </a:lnSpc>
              <a:buSzPct val="95000"/>
            </a:pPr>
            <a:endParaRPr dirty="0"/>
          </a:p>
          <a:p>
            <a:pPr marL="914400" lvl="1" indent="-457200" algn="just">
              <a:lnSpc>
                <a:spcPct val="150000"/>
              </a:lnSpc>
              <a:buSzPct val="85000"/>
              <a:buAutoNum type="arabicPeriod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efinire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semnale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numerice și posibilități de analiză ale acestora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</a:p>
          <a:p>
            <a:pPr marL="1257300" lvl="2" indent="-342900" algn="just">
              <a:lnSpc>
                <a:spcPct val="150000"/>
              </a:lnSpc>
              <a:buSzPct val="85000"/>
              <a:buFont typeface="Wingdings" panose="05000000000000000000" pitchFamily="2" charset="2"/>
              <a:buChar char="Ø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atât din punct de vedere teoretic, cât și practic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0000"/>
              </a:lnSpc>
              <a:buSzPct val="850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8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</a:t>
            </a:r>
            <a:r>
              <a:rPr lang="ro-RO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escriere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elemente →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conduc la distorsionarea semnalelor numerice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SzPct val="85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85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</a:t>
            </a:r>
            <a:r>
              <a:rPr lang="ro-RO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odul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în care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semnalele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distorsionate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pot fi refăcute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astfel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încât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</a:p>
          <a:p>
            <a:pPr marL="1257300" lvl="2" indent="-342900" algn="just">
              <a:lnSpc>
                <a:spcPct val="150000"/>
              </a:lnSpc>
              <a:buSzPct val="85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să poată fi detectate și recunoscute de circuitele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numerice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9D801-1595-4825-D51D-D9DA1E6A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4541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2"/>
          <p:cNvSpPr/>
          <p:nvPr/>
        </p:nvSpPr>
        <p:spPr>
          <a:xfrm>
            <a:off x="263352" y="404664"/>
            <a:ext cx="11737304" cy="597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buSzPct val="95000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	</a:t>
            </a:r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Electronic</a:t>
            </a:r>
            <a:r>
              <a:rPr lang="ro-RO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(ED) 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DejaVu Sans"/>
              </a:rPr>
              <a:t>– curs</a:t>
            </a:r>
          </a:p>
          <a:p>
            <a:pPr lvl="1" algn="just">
              <a:lnSpc>
                <a:spcPct val="150000"/>
              </a:lnSpc>
              <a:buSzPct val="85000"/>
            </a:pPr>
            <a:endParaRPr lang="ro-RO" dirty="0"/>
          </a:p>
          <a:p>
            <a:pPr lvl="1" algn="just">
              <a:lnSpc>
                <a:spcPct val="150000"/>
              </a:lnSpc>
              <a:buSzPct val="85000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</a:t>
            </a:r>
            <a:r>
              <a:rPr lang="ro-RO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. 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</a:t>
            </a:r>
            <a:r>
              <a:rPr lang="ro-RO" sz="2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ispozitive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digitale</a:t>
            </a:r>
            <a:r>
              <a:rPr lang="ro-RO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:</a:t>
            </a:r>
          </a:p>
          <a:p>
            <a:pPr lvl="1" algn="just">
              <a:lnSpc>
                <a:spcPct val="150000"/>
              </a:lnSpc>
              <a:buSzPct val="85000"/>
            </a:pPr>
            <a:endParaRPr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70000"/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Prezentare;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70000"/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Funcţionalitate din punct de vedere numeric;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SzPct val="70000"/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Regim de funcţionare: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modul de alegere al celor mai adecvate regimuri de funcţionare :</a:t>
            </a:r>
          </a:p>
          <a:p>
            <a:pPr marL="1714500" lvl="3" indent="-342900" algn="just">
              <a:lnSpc>
                <a:spcPct val="150000"/>
              </a:lnSpc>
              <a:buSzPct val="70000"/>
              <a:buFont typeface="Courier New" panose="02070309020205020404" pitchFamily="49" charset="0"/>
              <a:buChar char="o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ar putea fi utilizate în generarea unor semnale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numerice:</a:t>
            </a:r>
          </a:p>
          <a:p>
            <a:pPr marL="2171700" lvl="4" indent="-342900" algn="just">
              <a:lnSpc>
                <a:spcPct val="150000"/>
              </a:lnSpc>
              <a:buSzPct val="70000"/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ce pot satisface parametrii numerici impuşi în circuitele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digitale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numerice;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007B9-67F9-D89D-A9C4-88C0A997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875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/>
          <p:cNvSpPr/>
          <p:nvPr/>
        </p:nvSpPr>
        <p:spPr>
          <a:xfrm>
            <a:off x="156886" y="754462"/>
            <a:ext cx="11881320" cy="55198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6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457200" indent="-4572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Obiectiv curs: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amiliarizarea cu noțiunile de bază legate de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</a:p>
          <a:p>
            <a:pPr marL="1371600" lvl="2" indent="-4572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circuitele integrate digitale.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SzPct val="95000"/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va urmări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0" lvl="2" indent="-457200" algn="just">
              <a:lnSpc>
                <a:spcPct val="150000"/>
              </a:lnSpc>
              <a:buSzPct val="95000"/>
              <a:buFont typeface="Courier New" panose="02070309020205020404" pitchFamily="49" charset="0"/>
              <a:buChar char="o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însușirea elementelor teoretice prezentate în cadrul cursului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828800" lvl="3" indent="-4572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să se îmbine într-un mod armonios cu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4" indent="-4572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realizarea lucrărilor practice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desfăşurate în cadrul laboratorului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SzPct val="950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8900" lvl="5" indent="-342900" algn="just">
              <a:buSzPct val="80000"/>
              <a:buFont typeface="Wingdings" panose="05000000000000000000" pitchFamily="2" charset="2"/>
              <a:buChar char="ü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Importanță: fără circuite integrate digitale nu există calculator!</a:t>
            </a:r>
            <a:endParaRPr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59F4E-6B8A-AD37-4DC5-D2D9767C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2179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/>
          <p:cNvSpPr/>
          <p:nvPr/>
        </p:nvSpPr>
        <p:spPr>
          <a:xfrm>
            <a:off x="191344" y="704160"/>
            <a:ext cx="11881320" cy="55198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72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Structură curs: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9336" y="1196752"/>
            <a:ext cx="119533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Analiză aspecte legate de proiectarea circuitelor digitale: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vederea alegerii circuitelor integrate corespunzătoare.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Prezentarea principalelor tehnologii utilizate în  domeniul circuitelor integrate digitale: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Modalităţi interpretare → frecvenţele la care trebuie să lucreze circuitele digitale;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consumul maxim de putere admis pentru fiecare circuit în parte. 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486" y="4365104"/>
            <a:ext cx="117373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Condiţiile de lucru →  alt factor important ce se va lua în calcul  în studiu pentru: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funcţionare corectă a circuitelor digitale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perturba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etc.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6608-C165-A342-B8B2-481B30D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308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/>
          <p:cNvSpPr/>
          <p:nvPr/>
        </p:nvSpPr>
        <p:spPr>
          <a:xfrm>
            <a:off x="191344" y="704160"/>
            <a:ext cx="11881320" cy="55198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72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Structură curs:</a:t>
            </a:r>
            <a:endParaRPr 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9336" y="1278129"/>
            <a:ext cx="11953328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 final curs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scurtă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Clasificarea Circuitelor integrate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Circuite integrate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fabricație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integrate.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amintite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Tehnologia </a:t>
            </a:r>
            <a:r>
              <a:rPr lang="en-US" sz="24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bipolară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DTL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ransistor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TTL 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ransistor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ransistor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Tehnologia </a:t>
            </a:r>
            <a:r>
              <a:rPr lang="en-US" sz="24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unipolară</a:t>
            </a:r>
            <a:r>
              <a:rPr lang="en-US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 (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emiconductor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);CMOS (Complementary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emiconductor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ECB20-3C92-A478-299E-FA73D71F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731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2"/>
          <p:cNvSpPr/>
          <p:nvPr/>
        </p:nvSpPr>
        <p:spPr>
          <a:xfrm>
            <a:off x="191344" y="1412776"/>
            <a:ext cx="11881320" cy="4392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 err="1">
                <a:solidFill>
                  <a:srgbClr val="000000"/>
                </a:solidFill>
                <a:latin typeface="Times New Roman"/>
              </a:rPr>
              <a:t>D.p.d.v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. didactic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prezintă o importanţă semnificativă în ceea ce priveşte:</a:t>
            </a: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dezvoltarea viitoare profesională a fiecărui student în parte în domeniul calculatoarelor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Familiarizează studenţii cu aspectele interne ale structurii unui calculator a cărui construcţie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bazează pe circuite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digitale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 cu diferite grade de integrare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4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Prezentare circuite digitale și logice:</a:t>
            </a:r>
            <a:endParaRPr lang="ro-RO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2286000" lvl="6" indent="-342900" algn="just">
              <a:lnSpc>
                <a:spcPct val="150000"/>
              </a:lnSpc>
              <a:buSzPct val="95000"/>
              <a:buFont typeface="Courier New" panose="02070309020205020404" pitchFamily="49" charset="0"/>
              <a:buChar char="o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Funcționalitate;</a:t>
            </a:r>
            <a:endParaRPr lang="ro-RO" sz="2400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2286000" lvl="6" indent="-342900" algn="just">
              <a:lnSpc>
                <a:spcPct val="150000"/>
              </a:lnSpc>
              <a:buSzPct val="95000"/>
              <a:buFont typeface="Courier New" panose="02070309020205020404" pitchFamily="49" charset="0"/>
              <a:buChar char="o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Modalități de proiectare.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95000"/>
            </a:pPr>
            <a:endParaRPr lang="vi-VN" sz="2400" dirty="0">
              <a:solidFill>
                <a:srgbClr val="000000"/>
              </a:solidFill>
              <a:latin typeface="+mj-lt"/>
              <a:ea typeface="DejaVu Sans"/>
            </a:endParaRPr>
          </a:p>
          <a:p>
            <a:pPr marL="800100" lvl="1" indent="-342900">
              <a:buSzPct val="95000"/>
              <a:buFont typeface="Wingdings" panose="05000000000000000000" pitchFamily="2" charset="2"/>
              <a:buChar char="Ø"/>
            </a:pPr>
            <a:endParaRPr lang="vi-VN" sz="2200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>
              <a:lnSpc>
                <a:spcPct val="100000"/>
              </a:lnSpc>
              <a:buSzPct val="95000"/>
              <a:buFont typeface="Wingdings 2" charset="2"/>
              <a:buChar char=""/>
            </a:pPr>
            <a:endParaRPr lang="vi-VN" sz="2200" dirty="0"/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91344" y="332656"/>
            <a:ext cx="104411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Particularități disciplin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a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Times New Roman"/>
              </a:rPr>
              <a:t>“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Electronică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Digital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ă</a:t>
            </a:r>
            <a:r>
              <a:rPr lang="en-US" sz="2600" b="1" dirty="0">
                <a:solidFill>
                  <a:srgbClr val="002060"/>
                </a:solidFill>
                <a:latin typeface="Times New Roman"/>
              </a:rPr>
              <a:t>”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6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58F50-00BD-B7E9-BEAA-4CC76462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54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2"/>
          <p:cNvSpPr/>
          <p:nvPr/>
        </p:nvSpPr>
        <p:spPr>
          <a:xfrm>
            <a:off x="335360" y="1700808"/>
            <a:ext cx="11593288" cy="35283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Integrarea pe scară largă şi foarte largă:</a:t>
            </a: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cunoaşte atât modificări tehnologice, cât şi arhitecturale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 măsură ce dimensiunile dispozitivelor semiconductoare integrate se reduc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puterea consumată scade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gradul de integrare va creşte semnificativ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3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tendinţa dezvoltării unui calculator într-un cip;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91344" y="332656"/>
            <a:ext cx="104411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Particularități disciplin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Times New Roman"/>
              </a:rPr>
              <a:t>“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Electronică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Digital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”</a:t>
            </a:r>
            <a:endParaRPr lang="ro-RO" sz="26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9FCE-04C6-0931-38F7-44F07D90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9051535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2"/>
          <p:cNvSpPr/>
          <p:nvPr/>
        </p:nvSpPr>
        <p:spPr>
          <a:xfrm>
            <a:off x="221621" y="1689870"/>
            <a:ext cx="11488718" cy="20162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/>
              </a:rPr>
              <a:t>C</a:t>
            </a:r>
            <a:r>
              <a:rPr lang="vi-VN" sz="2400" dirty="0">
                <a:latin typeface="Times New Roman"/>
              </a:rPr>
              <a:t>unoaşterea atât a tehnologiei actuale, cât şi a eventualelor tehnologii care pot apărea domeniul circuitelor integrate</a:t>
            </a:r>
            <a:r>
              <a:rPr lang="ro-RO" sz="2400" dirty="0">
                <a:latin typeface="Times New Roman"/>
              </a:rPr>
              <a:t> numerice:</a:t>
            </a:r>
          </a:p>
          <a:p>
            <a:pPr marL="8001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/>
              </a:rPr>
              <a:t>  obligatorie pentru un inginer în calculatoare.</a:t>
            </a:r>
            <a:endParaRPr lang="en-US" sz="2400" dirty="0">
              <a:latin typeface="Times New Roman"/>
            </a:endParaRPr>
          </a:p>
          <a:p>
            <a:pPr marL="0" lvl="1" algn="just"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1344" y="260648"/>
            <a:ext cx="104411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Particularități disciplin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Times New Roman"/>
              </a:rPr>
              <a:t>“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Electronică</a:t>
            </a:r>
            <a:r>
              <a:rPr lang="vi-VN" sz="2600" b="1" dirty="0">
                <a:solidFill>
                  <a:srgbClr val="002060"/>
                </a:solidFill>
                <a:latin typeface="Times New Roman"/>
              </a:rPr>
              <a:t> Digital</a:t>
            </a:r>
            <a:r>
              <a:rPr lang="ro-RO" sz="2600" b="1" dirty="0">
                <a:solidFill>
                  <a:srgbClr val="002060"/>
                </a:solidFill>
                <a:latin typeface="Times New Roman"/>
              </a:rPr>
              <a:t>ă</a:t>
            </a: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”</a:t>
            </a:r>
            <a:endParaRPr lang="ro-RO" sz="2600" b="1" dirty="0"/>
          </a:p>
        </p:txBody>
      </p:sp>
      <p:sp>
        <p:nvSpPr>
          <p:cNvPr id="2" name="Rectangle 1"/>
          <p:cNvSpPr/>
          <p:nvPr/>
        </p:nvSpPr>
        <p:spPr>
          <a:xfrm>
            <a:off x="178640" y="1117659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vi-VN" sz="2400" b="1" dirty="0">
                <a:solidFill>
                  <a:srgbClr val="00B050"/>
                </a:solidFill>
                <a:latin typeface="Times New Roman"/>
              </a:rPr>
              <a:t>Concluzie:</a:t>
            </a:r>
            <a:endParaRPr lang="en-US" sz="2400" b="1" dirty="0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1344" y="3438583"/>
            <a:ext cx="11620447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Cunoştinţele acumulate → frecvent utilizate într-o serie de alte discipline cuprinse în: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programa şcolară a </a:t>
            </a:r>
            <a:r>
              <a:rPr lang="ro-RO" sz="2400" dirty="0" err="1">
                <a:solidFill>
                  <a:srgbClr val="000000"/>
                </a:solidFill>
                <a:latin typeface="Times New Roman"/>
                <a:ea typeface="DejaVu Sans"/>
              </a:rPr>
              <a:t>secţiilor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de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 ”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Calculatoare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”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și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“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Tehnologia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ro-RO" sz="2400" dirty="0" err="1">
                <a:solidFill>
                  <a:srgbClr val="000000"/>
                </a:solidFill>
                <a:latin typeface="Times New Roman"/>
              </a:rPr>
              <a:t>nformaţiei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”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şi nu numai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272" y="5229200"/>
            <a:ext cx="11359963" cy="1133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Studiul acestor discipline va conduce la câştigarea unor competenţe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ce 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vor fi de folos studenţilor în viitoarea  carieră profesională.</a:t>
            </a:r>
            <a:endParaRPr lang="vi-VN" sz="24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A41563-7D22-3DA5-DA59-0E2C89BE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715209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2"/>
          <p:cNvSpPr/>
          <p:nvPr/>
        </p:nvSpPr>
        <p:spPr>
          <a:xfrm>
            <a:off x="161999" y="669096"/>
            <a:ext cx="11881320" cy="55198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6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7408" y="1182548"/>
            <a:ext cx="103267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mod practic la ora actuală → Electronica digitală → peste tot întâlnită: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în permanenţă interes pentru dezvoltări ulterioare prin: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îmbunătăţirea tehnologiilor în vederea ridicării performanţelor acestora.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1999" y="647528"/>
            <a:ext cx="2068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Observaţie: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F2C8D-1663-8EEC-7800-C1511C38A156}"/>
              </a:ext>
            </a:extLst>
          </p:cNvPr>
          <p:cNvSpPr/>
          <p:nvPr/>
        </p:nvSpPr>
        <p:spPr>
          <a:xfrm>
            <a:off x="268482" y="2669341"/>
            <a:ext cx="11923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 citatului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o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Programele Software vin din Rai atunci când ai în spate un bun Hardware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Olsen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2336A-64D1-6E26-C16C-4D5C803CCD25}"/>
              </a:ext>
            </a:extLst>
          </p:cNvPr>
          <p:cNvSpPr/>
          <p:nvPr/>
        </p:nvSpPr>
        <p:spPr>
          <a:xfrm>
            <a:off x="386031" y="3974164"/>
            <a:ext cx="1823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0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Remarcă: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E60839-FFE9-DB5F-4982-44BCA0FC80C8}"/>
              </a:ext>
            </a:extLst>
          </p:cNvPr>
          <p:cNvSpPr/>
          <p:nvPr/>
        </p:nvSpPr>
        <p:spPr>
          <a:xfrm>
            <a:off x="767408" y="4411796"/>
            <a:ext cx="120081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Într-un sistem numeric totul se desfăşoară pe echipamente→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Recomandare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</a:t>
            </a:r>
            <a:r>
              <a:rPr lang="it-IT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it-IT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 Calculatoare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 </a:t>
            </a:r>
            <a:r>
              <a:rPr lang="it-IT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ehnologia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nformaţiei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calitate de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viitori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ingineri 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însuşirea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mod echilibrat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cât mai mult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informatii legate de tot ce se prezint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domeniul calculatoarelor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10667C-4D4B-3ABA-4F8F-27A32D8E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7413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E612-2E78-93C5-CB88-E5EB0B84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FE619-C609-B6EE-D805-65511AA9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Echipamente și Circuite Electrice și Electronice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FDD3C-C3D8-E379-84DB-D1CE8E3D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B65F7-475D-A197-E6A3-FC77B6385A56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Pauza</a:t>
            </a:r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23ED5-8200-B424-5E55-53F78493B878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28353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2"/>
          <p:cNvSpPr/>
          <p:nvPr/>
        </p:nvSpPr>
        <p:spPr>
          <a:xfrm>
            <a:off x="1981200" y="1628800"/>
            <a:ext cx="8228160" cy="4694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9" name="CustomShape 3"/>
          <p:cNvSpPr/>
          <p:nvPr/>
        </p:nvSpPr>
        <p:spPr>
          <a:xfrm>
            <a:off x="2423640" y="1989000"/>
            <a:ext cx="2374920" cy="1006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800" b="1">
                <a:solidFill>
                  <a:srgbClr val="000000"/>
                </a:solidFill>
                <a:latin typeface="Times New Roman"/>
                <a:ea typeface="DejaVu Sans"/>
              </a:rPr>
              <a:t>Calculatorul </a:t>
            </a:r>
            <a:endParaRPr/>
          </a:p>
        </p:txBody>
      </p:sp>
      <p:sp>
        <p:nvSpPr>
          <p:cNvPr id="130" name="CustomShape 4"/>
          <p:cNvSpPr/>
          <p:nvPr/>
        </p:nvSpPr>
        <p:spPr>
          <a:xfrm>
            <a:off x="1271464" y="5013000"/>
            <a:ext cx="4247096" cy="1006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Dispozitive electronice:</a:t>
            </a:r>
            <a:endParaRPr dirty="0"/>
          </a:p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diode, tranzistoare, rezistențe </a:t>
            </a:r>
            <a:endParaRPr dirty="0"/>
          </a:p>
        </p:txBody>
      </p:sp>
      <p:sp>
        <p:nvSpPr>
          <p:cNvPr id="131" name="CustomShape 5"/>
          <p:cNvSpPr/>
          <p:nvPr/>
        </p:nvSpPr>
        <p:spPr>
          <a:xfrm>
            <a:off x="2423640" y="3429000"/>
            <a:ext cx="2374920" cy="1006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800" b="1" dirty="0">
                <a:solidFill>
                  <a:srgbClr val="000000"/>
                </a:solidFill>
                <a:latin typeface="Times New Roman"/>
                <a:ea typeface="DejaVu Sans"/>
              </a:rPr>
              <a:t>Circuite electronice</a:t>
            </a:r>
            <a:endParaRPr dirty="0"/>
          </a:p>
        </p:txBody>
      </p:sp>
      <p:sp>
        <p:nvSpPr>
          <p:cNvPr id="132" name="CustomShape 6"/>
          <p:cNvSpPr/>
          <p:nvPr/>
        </p:nvSpPr>
        <p:spPr>
          <a:xfrm>
            <a:off x="6672000" y="5013000"/>
            <a:ext cx="5328656" cy="131004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Generează funcții logice prin asamblare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exprimate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prin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tabele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de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adevar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→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aritmetica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binar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ă: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“1”, “0”</a:t>
            </a:r>
            <a:endParaRPr dirty="0"/>
          </a:p>
        </p:txBody>
      </p:sp>
      <p:sp>
        <p:nvSpPr>
          <p:cNvPr id="133" name="CustomShape 7"/>
          <p:cNvSpPr/>
          <p:nvPr/>
        </p:nvSpPr>
        <p:spPr>
          <a:xfrm>
            <a:off x="6912487" y="3532290"/>
            <a:ext cx="3576002" cy="1006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Funcționare corectă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at</a:t>
            </a:r>
            <a:r>
              <a:rPr lang="ro-RO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ât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d.p.d.v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.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logic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cât </a:t>
            </a:r>
            <a:r>
              <a:rPr lang="ro-RO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şi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electronic</a:t>
            </a:r>
            <a:endParaRPr dirty="0"/>
          </a:p>
        </p:txBody>
      </p:sp>
      <p:sp>
        <p:nvSpPr>
          <p:cNvPr id="134" name="CustomShape 8"/>
          <p:cNvSpPr/>
          <p:nvPr/>
        </p:nvSpPr>
        <p:spPr>
          <a:xfrm>
            <a:off x="3575640" y="3141000"/>
            <a:ext cx="142560" cy="214560"/>
          </a:xfrm>
          <a:prstGeom prst="down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5" name="CustomShape 9"/>
          <p:cNvSpPr/>
          <p:nvPr/>
        </p:nvSpPr>
        <p:spPr>
          <a:xfrm>
            <a:off x="3575640" y="4581000"/>
            <a:ext cx="142560" cy="214560"/>
          </a:xfrm>
          <a:prstGeom prst="down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6" name="CustomShape 10"/>
          <p:cNvSpPr/>
          <p:nvPr/>
        </p:nvSpPr>
        <p:spPr>
          <a:xfrm>
            <a:off x="5664000" y="5373360"/>
            <a:ext cx="862560" cy="21456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7" name="CustomShape 11"/>
          <p:cNvSpPr/>
          <p:nvPr/>
        </p:nvSpPr>
        <p:spPr>
          <a:xfrm>
            <a:off x="8617704" y="4676144"/>
            <a:ext cx="142560" cy="214560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CustomShape 12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35648" y="750690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286E7-B44C-2103-CEF1-FF499446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 animBg="1"/>
      <p:bldP spid="1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2"/>
          <p:cNvSpPr/>
          <p:nvPr/>
        </p:nvSpPr>
        <p:spPr>
          <a:xfrm>
            <a:off x="1981200" y="1935360"/>
            <a:ext cx="8228160" cy="438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CustomShape 3"/>
          <p:cNvSpPr/>
          <p:nvPr/>
        </p:nvSpPr>
        <p:spPr>
          <a:xfrm>
            <a:off x="1519068" y="1702163"/>
            <a:ext cx="5219104" cy="17989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Circuitele numerice </a:t>
            </a:r>
            <a:r>
              <a:rPr lang="ro-RO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d.p.d.v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. logic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au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la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baza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6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circuite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elementare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NU, DA, </a:t>
            </a: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ȘI, ȘI-NU, </a:t>
            </a: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SAU, SAU-NU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42" name="CustomShape 4"/>
          <p:cNvSpPr/>
          <p:nvPr/>
        </p:nvSpPr>
        <p:spPr>
          <a:xfrm>
            <a:off x="1481588" y="3916691"/>
            <a:ext cx="5256584" cy="23749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r>
              <a:rPr lang="ro-RO" sz="2800" b="1" dirty="0">
                <a:solidFill>
                  <a:srgbClr val="000000"/>
                </a:solidFill>
                <a:latin typeface="Times New Roman"/>
                <a:ea typeface="DejaVu Sans"/>
              </a:rPr>
              <a:t>Condiții diverse de lucru: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variația temperaturilor 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variația tensiunilor de alimentare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variația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parametrilor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componentelor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                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ea typeface="DejaVu Sans"/>
              </a:rPr>
              <a:t>      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electronice</a:t>
            </a:r>
            <a:endParaRPr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modul de încărcare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144" name="CustomShape 6"/>
          <p:cNvSpPr/>
          <p:nvPr/>
        </p:nvSpPr>
        <p:spPr>
          <a:xfrm>
            <a:off x="3967320" y="3560201"/>
            <a:ext cx="142560" cy="214560"/>
          </a:xfrm>
          <a:prstGeom prst="downArrow">
            <a:avLst>
              <a:gd name="adj1" fmla="val 50000"/>
              <a:gd name="adj2" fmla="val 500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CustomShape 7"/>
          <p:cNvSpPr/>
          <p:nvPr/>
        </p:nvSpPr>
        <p:spPr>
          <a:xfrm>
            <a:off x="7248000" y="4293000"/>
            <a:ext cx="4699582" cy="158256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Modificarea nivelelor logice de tensiune</a:t>
            </a:r>
            <a:endParaRPr dirty="0"/>
          </a:p>
        </p:txBody>
      </p:sp>
      <p:sp>
        <p:nvSpPr>
          <p:cNvPr id="146" name="CustomShape 8"/>
          <p:cNvSpPr/>
          <p:nvPr/>
        </p:nvSpPr>
        <p:spPr>
          <a:xfrm>
            <a:off x="6861559" y="4961591"/>
            <a:ext cx="214560" cy="14256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7" name="CustomShape 9"/>
          <p:cNvSpPr/>
          <p:nvPr/>
        </p:nvSpPr>
        <p:spPr>
          <a:xfrm>
            <a:off x="7219582" y="1933728"/>
            <a:ext cx="4728000" cy="151056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În funcționarea practică: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Circuitele trebuie să răspundă corect </a:t>
            </a:r>
            <a:r>
              <a:rPr lang="ro-RO" sz="2400" b="1" dirty="0" err="1">
                <a:solidFill>
                  <a:srgbClr val="000000"/>
                </a:solidFill>
                <a:latin typeface="Times New Roman"/>
                <a:ea typeface="DejaVu Sans"/>
              </a:rPr>
              <a:t>d.p.d.v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. logic</a:t>
            </a:r>
            <a:endParaRPr dirty="0"/>
          </a:p>
        </p:txBody>
      </p:sp>
      <p:sp>
        <p:nvSpPr>
          <p:cNvPr id="148" name="CustomShape 10"/>
          <p:cNvSpPr/>
          <p:nvPr/>
        </p:nvSpPr>
        <p:spPr>
          <a:xfrm>
            <a:off x="9294974" y="3774761"/>
            <a:ext cx="142560" cy="214560"/>
          </a:xfrm>
          <a:prstGeom prst="upArrow">
            <a:avLst>
              <a:gd name="adj1" fmla="val 50000"/>
              <a:gd name="adj2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9" name="CustomShape 11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35648" y="750690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E8120-860C-DE41-A700-90B9945B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0227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5" grpId="0" animBg="1"/>
      <p:bldP spid="1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3"/>
          <p:cNvSpPr/>
          <p:nvPr/>
        </p:nvSpPr>
        <p:spPr>
          <a:xfrm>
            <a:off x="9448680" y="6356520"/>
            <a:ext cx="7614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r">
              <a:lnSpc>
                <a:spcPct val="100000"/>
              </a:lnSpc>
            </a:pPr>
            <a:fld id="{EC7FF97D-1FA7-4B4F-9320-36C63823909A}" type="slidenum">
              <a:rPr lang="ro-RO" sz="1200">
                <a:solidFill>
                  <a:srgbClr val="035C75"/>
                </a:solidFill>
                <a:latin typeface="Constantia"/>
                <a:ea typeface="DejaVu Sans"/>
              </a:rPr>
              <a:t>25</a:t>
            </a:fld>
            <a:endParaRPr dirty="0"/>
          </a:p>
        </p:txBody>
      </p:sp>
      <p:sp>
        <p:nvSpPr>
          <p:cNvPr id="90" name="CustomShape 4"/>
          <p:cNvSpPr/>
          <p:nvPr/>
        </p:nvSpPr>
        <p:spPr>
          <a:xfrm>
            <a:off x="3504084" y="658882"/>
            <a:ext cx="3455640" cy="913680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800" b="1" dirty="0">
                <a:solidFill>
                  <a:srgbClr val="000000"/>
                </a:solidFill>
                <a:latin typeface="Times New Roman"/>
                <a:ea typeface="DejaVu Sans"/>
              </a:rPr>
              <a:t>Circuitele digitale</a:t>
            </a:r>
            <a:endParaRPr dirty="0"/>
          </a:p>
        </p:txBody>
      </p:sp>
      <p:sp>
        <p:nvSpPr>
          <p:cNvPr id="91" name="CustomShape 5"/>
          <p:cNvSpPr/>
          <p:nvPr/>
        </p:nvSpPr>
        <p:spPr>
          <a:xfrm>
            <a:off x="1199456" y="2194773"/>
            <a:ext cx="3535920" cy="913680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800" b="1" dirty="0">
                <a:solidFill>
                  <a:srgbClr val="000000"/>
                </a:solidFill>
                <a:latin typeface="Times New Roman"/>
                <a:ea typeface="DejaVu Sans"/>
              </a:rPr>
              <a:t>Natură electronică</a:t>
            </a:r>
            <a:endParaRPr dirty="0"/>
          </a:p>
        </p:txBody>
      </p:sp>
      <p:sp>
        <p:nvSpPr>
          <p:cNvPr id="92" name="CustomShape 6"/>
          <p:cNvSpPr/>
          <p:nvPr/>
        </p:nvSpPr>
        <p:spPr>
          <a:xfrm>
            <a:off x="5447928" y="2194773"/>
            <a:ext cx="3535920" cy="913680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800" b="1" dirty="0">
                <a:solidFill>
                  <a:srgbClr val="000000"/>
                </a:solidFill>
                <a:latin typeface="Times New Roman"/>
                <a:ea typeface="DejaVu Sans"/>
              </a:rPr>
              <a:t>Natură logică</a:t>
            </a:r>
            <a:endParaRPr dirty="0"/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295800" y="1691502"/>
            <a:ext cx="655648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5519283" y="1691502"/>
            <a:ext cx="64049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Shape 5"/>
          <p:cNvSpPr/>
          <p:nvPr/>
        </p:nvSpPr>
        <p:spPr>
          <a:xfrm>
            <a:off x="695400" y="3717031"/>
            <a:ext cx="4536503" cy="1654419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50000"/>
              </a:lnSpc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→ realizate: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componente electronice :</a:t>
            </a:r>
          </a:p>
          <a:p>
            <a:pPr marL="800100" lvl="1" indent="-3429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asigură o funcționare corectă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stomShape 5"/>
          <p:cNvSpPr/>
          <p:nvPr/>
        </p:nvSpPr>
        <p:spPr>
          <a:xfrm>
            <a:off x="5519282" y="3683646"/>
            <a:ext cx="5905310" cy="2672873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/>
          <a:lstStyle/>
          <a:p>
            <a:pPr lvl="0">
              <a:lnSpc>
                <a:spcPct val="150000"/>
              </a:lnSpc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→ prezintă funcții cu valori logice: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DA/NU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ȘI/SAU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circuit numeric funcționează corect dacă: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realizează corect funcția logică.</a:t>
            </a:r>
            <a:endParaRPr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63651" y="328498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392144" y="328498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0079D-75B0-2F80-9180-16B1FBAC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05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2"/>
          <p:cNvSpPr/>
          <p:nvPr/>
        </p:nvSpPr>
        <p:spPr>
          <a:xfrm>
            <a:off x="619417" y="1250050"/>
            <a:ext cx="11449272" cy="54700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600" dirty="0">
                <a:solidFill>
                  <a:srgbClr val="000000"/>
                </a:solidFill>
                <a:latin typeface="Times New Roman"/>
                <a:ea typeface="DejaVu Sans"/>
              </a:rPr>
              <a:t>Condiția principală de funcționare a unui circuit digital numeric: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600" dirty="0">
                <a:solidFill>
                  <a:srgbClr val="000000"/>
                </a:solidFill>
                <a:latin typeface="Times New Roman"/>
                <a:ea typeface="DejaVu Sans"/>
              </a:rPr>
              <a:t>Funționare</a:t>
            </a:r>
            <a:r>
              <a:rPr lang="en-US" sz="2600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ro-RO" sz="2600" dirty="0">
                <a:solidFill>
                  <a:srgbClr val="000000"/>
                </a:solidFill>
                <a:latin typeface="Times New Roman"/>
                <a:ea typeface="DejaVu Sans"/>
              </a:rPr>
              <a:t>corectă </a:t>
            </a:r>
            <a:r>
              <a:rPr lang="ro-RO" sz="2600" dirty="0" err="1">
                <a:solidFill>
                  <a:srgbClr val="000000"/>
                </a:solidFill>
                <a:latin typeface="Times New Roman"/>
                <a:ea typeface="DejaVu Sans"/>
              </a:rPr>
              <a:t>d.p.d.v</a:t>
            </a:r>
            <a:r>
              <a:rPr lang="ro-RO" sz="2600" dirty="0">
                <a:solidFill>
                  <a:srgbClr val="000000"/>
                </a:solidFill>
                <a:latin typeface="Times New Roman"/>
                <a:ea typeface="DejaVu Sans"/>
              </a:rPr>
              <a:t>. logic. 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153" name="CustomShape 4"/>
          <p:cNvSpPr/>
          <p:nvPr/>
        </p:nvSpPr>
        <p:spPr>
          <a:xfrm>
            <a:off x="2351640" y="4005000"/>
            <a:ext cx="2230920" cy="1294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ro-RO" sz="2400" b="1">
                <a:solidFill>
                  <a:srgbClr val="000000"/>
                </a:solidFill>
                <a:latin typeface="Times New Roman"/>
                <a:ea typeface="DejaVu Sans"/>
              </a:rPr>
              <a:t>Circuitele electronice</a:t>
            </a:r>
            <a:endParaRPr/>
          </a:p>
        </p:txBody>
      </p:sp>
      <p:sp>
        <p:nvSpPr>
          <p:cNvPr id="154" name="CustomShape 5"/>
          <p:cNvSpPr/>
          <p:nvPr/>
        </p:nvSpPr>
        <p:spPr>
          <a:xfrm>
            <a:off x="5520000" y="4869000"/>
            <a:ext cx="6408648" cy="1294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ro-RO" sz="2400" b="1">
                <a:solidFill>
                  <a:srgbClr val="000000"/>
                </a:solidFill>
                <a:latin typeface="Times New Roman"/>
                <a:ea typeface="DejaVu Sans"/>
              </a:rPr>
              <a:t>Analogice</a:t>
            </a:r>
            <a:endParaRPr/>
          </a:p>
        </p:txBody>
      </p:sp>
      <p:sp>
        <p:nvSpPr>
          <p:cNvPr id="155" name="CustomShape 6"/>
          <p:cNvSpPr/>
          <p:nvPr/>
        </p:nvSpPr>
        <p:spPr>
          <a:xfrm>
            <a:off x="5520000" y="3069000"/>
            <a:ext cx="4750920" cy="1294560"/>
          </a:xfrm>
          <a:prstGeom prst="roundRect">
            <a:avLst>
              <a:gd name="adj" fmla="val 13805"/>
            </a:avLst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ro-RO" sz="2400" b="1">
                <a:solidFill>
                  <a:srgbClr val="000000"/>
                </a:solidFill>
                <a:latin typeface="Times New Roman"/>
                <a:ea typeface="DejaVu Sans"/>
              </a:rPr>
              <a:t>Numerice</a:t>
            </a:r>
            <a:endParaRPr/>
          </a:p>
        </p:txBody>
      </p:sp>
      <p:sp>
        <p:nvSpPr>
          <p:cNvPr id="158" name="CustomShape 9"/>
          <p:cNvSpPr/>
          <p:nvPr/>
        </p:nvSpPr>
        <p:spPr>
          <a:xfrm>
            <a:off x="7572000" y="3143880"/>
            <a:ext cx="107856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ieftine</a:t>
            </a:r>
            <a:endParaRPr dirty="0"/>
          </a:p>
        </p:txBody>
      </p:sp>
      <p:sp>
        <p:nvSpPr>
          <p:cNvPr id="159" name="CustomShape 10"/>
          <p:cNvSpPr/>
          <p:nvPr/>
        </p:nvSpPr>
        <p:spPr>
          <a:xfrm>
            <a:off x="7608000" y="3789000"/>
            <a:ext cx="129456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fiabile</a:t>
            </a:r>
            <a:endParaRPr dirty="0"/>
          </a:p>
        </p:txBody>
      </p:sp>
      <p:sp>
        <p:nvSpPr>
          <p:cNvPr id="160" name="CustomShape 11"/>
          <p:cNvSpPr/>
          <p:nvPr/>
        </p:nvSpPr>
        <p:spPr>
          <a:xfrm>
            <a:off x="7680000" y="4797000"/>
            <a:ext cx="1438560" cy="45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scumpe</a:t>
            </a:r>
            <a:endParaRPr dirty="0"/>
          </a:p>
        </p:txBody>
      </p:sp>
      <p:sp>
        <p:nvSpPr>
          <p:cNvPr id="161" name="CustomShape 12"/>
          <p:cNvSpPr/>
          <p:nvPr/>
        </p:nvSpPr>
        <p:spPr>
          <a:xfrm>
            <a:off x="7608000" y="5567144"/>
            <a:ext cx="4032616" cy="51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dedicate anumitor</a:t>
            </a:r>
            <a:r>
              <a:rPr lang="ro-RO" sz="2400" b="1" dirty="0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aplicații</a:t>
            </a:r>
            <a:endParaRPr dirty="0"/>
          </a:p>
        </p:txBody>
      </p:sp>
      <p:sp>
        <p:nvSpPr>
          <p:cNvPr id="162" name="CustomShape 13"/>
          <p:cNvSpPr/>
          <p:nvPr/>
        </p:nvSpPr>
        <p:spPr>
          <a:xfrm>
            <a:off x="7104000" y="3789000"/>
            <a:ext cx="502560" cy="229320"/>
          </a:xfrm>
          <a:prstGeom prst="straightConnector1">
            <a:avLst/>
          </a:prstGeom>
          <a:noFill/>
          <a:ln>
            <a:solidFill>
              <a:srgbClr val="095294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3" name="CustomShape 14"/>
          <p:cNvSpPr/>
          <p:nvPr/>
        </p:nvSpPr>
        <p:spPr>
          <a:xfrm flipV="1">
            <a:off x="7104000" y="3499560"/>
            <a:ext cx="502560" cy="286560"/>
          </a:xfrm>
          <a:prstGeom prst="straightConnector1">
            <a:avLst/>
          </a:prstGeom>
          <a:noFill/>
          <a:ln>
            <a:solidFill>
              <a:srgbClr val="095294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4" name="CustomShape 15"/>
          <p:cNvSpPr/>
          <p:nvPr/>
        </p:nvSpPr>
        <p:spPr>
          <a:xfrm>
            <a:off x="7104000" y="5589360"/>
            <a:ext cx="502560" cy="229320"/>
          </a:xfrm>
          <a:prstGeom prst="straightConnector1">
            <a:avLst/>
          </a:prstGeom>
          <a:noFill/>
          <a:ln>
            <a:solidFill>
              <a:srgbClr val="095294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5" name="CustomShape 16"/>
          <p:cNvSpPr/>
          <p:nvPr/>
        </p:nvSpPr>
        <p:spPr>
          <a:xfrm flipV="1">
            <a:off x="7104000" y="5299920"/>
            <a:ext cx="502560" cy="286560"/>
          </a:xfrm>
          <a:prstGeom prst="straightConnector1">
            <a:avLst/>
          </a:prstGeom>
          <a:noFill/>
          <a:ln>
            <a:solidFill>
              <a:srgbClr val="095294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6" name="CustomShape 17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795320" y="4869000"/>
            <a:ext cx="574560" cy="432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795320" y="4047928"/>
            <a:ext cx="574560" cy="461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35648" y="260647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0BAD9-111B-89D9-79DE-B6823DAC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 animBg="1"/>
      <p:bldP spid="155" grpId="0" animBg="1"/>
      <p:bldP spid="158" grpId="0"/>
      <p:bldP spid="159" grpId="0"/>
      <p:bldP spid="160" grpId="0"/>
      <p:bldP spid="1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886944" y="980591"/>
            <a:ext cx="3869223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nivel logic superior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6394" y="3701636"/>
            <a:ext cx="418682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</a:t>
            </a:r>
            <a:endParaRPr lang="vi-V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0100" y="1797885"/>
            <a:ext cx="3971660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/>
              </a:rPr>
              <a:t> </a:t>
            </a:r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nivel logic inferior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53963" y="1115112"/>
            <a:ext cx="2151159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intrare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3229" y="2501307"/>
            <a:ext cx="61333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ieșire →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obţine tot un semnal numeric:</a:t>
            </a:r>
          </a:p>
          <a:p>
            <a:pPr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cărui răspuns  depinde numai de: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-3776" y="1797885"/>
            <a:ext cx="58152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Electronica numerică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semnal numeric: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351" y="260646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Left Brace 1"/>
          <p:cNvSpPr/>
          <p:nvPr/>
        </p:nvSpPr>
        <p:spPr>
          <a:xfrm>
            <a:off x="5653963" y="1484784"/>
            <a:ext cx="157492" cy="12961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Left Brace 3"/>
          <p:cNvSpPr/>
          <p:nvPr/>
        </p:nvSpPr>
        <p:spPr>
          <a:xfrm>
            <a:off x="7805122" y="1303756"/>
            <a:ext cx="91238" cy="829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4161488"/>
            <a:ext cx="273367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4271848"/>
            <a:ext cx="8312035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2495600" y="566124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415480" y="4271848"/>
            <a:ext cx="7015891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729542" y="2924944"/>
            <a:ext cx="302562" cy="1958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F08CD-CCF9-76FB-2418-E71D1671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27</a:t>
            </a:fld>
            <a:endParaRPr lang="ro-RO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DC1B88-1650-6918-5C6E-46F50111673F}"/>
              </a:ext>
            </a:extLst>
          </p:cNvPr>
          <p:cNvCxnSpPr>
            <a:cxnSpLocks/>
          </p:cNvCxnSpPr>
          <p:nvPr/>
        </p:nvCxnSpPr>
        <p:spPr>
          <a:xfrm flipH="1">
            <a:off x="1415480" y="1560558"/>
            <a:ext cx="7128792" cy="3236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B59DAE-25A4-DB9F-2DBB-FE19B5610F5E}"/>
              </a:ext>
            </a:extLst>
          </p:cNvPr>
          <p:cNvCxnSpPr>
            <a:cxnSpLocks/>
          </p:cNvCxnSpPr>
          <p:nvPr/>
        </p:nvCxnSpPr>
        <p:spPr>
          <a:xfrm flipH="1">
            <a:off x="1415480" y="2132856"/>
            <a:ext cx="6737920" cy="3744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52117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4018" y="984112"/>
            <a:ext cx="11356954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Orice circuit numeric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 practic un comparator „1” sau „0” 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faţă de tensiunea de prag, iar răspunsul întotdeauna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 de tip semnal de bază: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un impuls.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2509" y="5843185"/>
            <a:ext cx="1127407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 de la ieşire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reprezintă semnalul de la intrarea unui alt circuit numeric.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351" y="260646"/>
            <a:ext cx="316835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Electronic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 Digitală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773" y="3284984"/>
            <a:ext cx="8312035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32B6D-5CD2-389F-8FB7-B9B5CCF3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98279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86865" y="6029188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Impuls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147" y="1416677"/>
            <a:ext cx="3058549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Circuitele numerice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9156" y="2670577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IDEAL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33418" y="3497036"/>
            <a:ext cx="656723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P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rincipalul semnal numeric: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tensiune sau curent: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 care prezintă o valoare diferită de 0:</a:t>
            </a:r>
          </a:p>
          <a:p>
            <a:pPr marL="1714500" lvl="3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pe un interval relativ scurt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</a:rPr>
              <a:t>timp.</a:t>
            </a:r>
            <a:endParaRPr lang="ro-RO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030775" y="2679626"/>
            <a:ext cx="16121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83088" y="1739842"/>
            <a:ext cx="484921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au un semnal de bază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 →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 impuls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83088" y="980728"/>
            <a:ext cx="7297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comandate de semnale dedicate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  → </a:t>
            </a: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semnale numerice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9" idx="3"/>
          </p:cNvCxnSpPr>
          <p:nvPr/>
        </p:nvCxnSpPr>
        <p:spPr>
          <a:xfrm flipV="1">
            <a:off x="3359696" y="1416677"/>
            <a:ext cx="623392" cy="289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3"/>
            <a:endCxn id="13" idx="1"/>
          </p:cNvCxnSpPr>
          <p:nvPr/>
        </p:nvCxnSpPr>
        <p:spPr>
          <a:xfrm>
            <a:off x="3359696" y="1706661"/>
            <a:ext cx="623392" cy="2640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359696" y="260648"/>
            <a:ext cx="5472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Semnale de bază în Circuitele numerice</a:t>
            </a:r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85173B-5ECC-33FB-F9A3-318FC8E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3181697"/>
            <a:ext cx="4124325" cy="26955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8F9E4-894A-F59A-D1A0-4A6892F1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431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1384" y="893911"/>
            <a:ext cx="69115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S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e caracterizează prin trei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parametrii principali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:</a:t>
            </a:r>
            <a:endParaRPr lang="vi-VN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375920" y="1484784"/>
            <a:ext cx="5499128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b="1" dirty="0">
                <a:solidFill>
                  <a:srgbClr val="00B050"/>
                </a:solidFill>
                <a:latin typeface="Times New Roman"/>
                <a:ea typeface="DejaVu Sans"/>
              </a:rPr>
              <a:t>U </a:t>
            </a: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-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amplitudinea impulsului</a:t>
            </a:r>
            <a:r>
              <a:rPr lang="ro-RO" sz="2400" dirty="0">
                <a:solidFill>
                  <a:srgbClr val="00B050"/>
                </a:solidFill>
                <a:latin typeface="Times New Roman"/>
                <a:ea typeface="DejaVu Sans"/>
              </a:rPr>
              <a:t>:</a:t>
            </a:r>
          </a:p>
          <a:p>
            <a:pPr marL="800100" lvl="3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se exprimă în volţi (V)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77641" y="2987470"/>
            <a:ext cx="6261535" cy="11335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vi-VN" sz="2400" b="1" dirty="0">
                <a:solidFill>
                  <a:srgbClr val="00B050"/>
                </a:solidFill>
                <a:latin typeface="Times New Roman"/>
                <a:ea typeface="DejaVu Sans"/>
              </a:rPr>
              <a:t>T</a:t>
            </a:r>
            <a:r>
              <a:rPr lang="vi-VN" sz="2400" b="1" baseline="-25000" dirty="0">
                <a:solidFill>
                  <a:srgbClr val="00B050"/>
                </a:solidFill>
                <a:latin typeface="Times New Roman"/>
                <a:ea typeface="DejaVu Sans"/>
              </a:rPr>
              <a:t>i </a:t>
            </a:r>
            <a:r>
              <a:rPr lang="vi-VN" sz="2400" dirty="0">
                <a:solidFill>
                  <a:srgbClr val="00B050"/>
                </a:solidFill>
                <a:latin typeface="Times New Roman"/>
                <a:ea typeface="DejaVu Sans"/>
              </a:rPr>
              <a:t> -  durata impulsului </a:t>
            </a:r>
            <a:r>
              <a:rPr lang="ro-RO" sz="2400" dirty="0">
                <a:solidFill>
                  <a:srgbClr val="00B050"/>
                </a:solidFill>
                <a:latin typeface="Times New Roman"/>
                <a:ea typeface="DejaVu Sans"/>
              </a:rPr>
              <a:t>:</a:t>
            </a:r>
          </a:p>
          <a:p>
            <a:pPr marL="800100" lvl="3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dirty="0">
                <a:solidFill>
                  <a:srgbClr val="000000"/>
                </a:solidFill>
                <a:latin typeface="Times New Roman"/>
                <a:ea typeface="DejaVu Sans"/>
              </a:rPr>
              <a:t>şi se măsoară în secunde (s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ea typeface="DejaVu Sans"/>
              </a:rPr>
              <a:t>ms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DejaVu Sans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µs, ns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) 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61842" y="4387708"/>
                <a:ext cx="6693583" cy="24702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lvl="2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  - </a:t>
                </a:r>
                <a:r>
                  <a:rPr lang="vi-VN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durata de repetiţie a impulsului</a:t>
                </a:r>
                <a:r>
                  <a:rPr lang="ro-RO" sz="24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:</a:t>
                </a:r>
              </a:p>
              <a:p>
                <a:pPr marL="800100" lvl="3" indent="-34290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vi-VN" sz="2400" dirty="0">
                    <a:solidFill>
                      <a:srgbClr val="000000"/>
                    </a:solidFill>
                    <a:latin typeface="Times New Roman"/>
                    <a:ea typeface="DejaVu Sans"/>
                  </a:rPr>
                  <a:t> se măsoară în secunde(sec)</a:t>
                </a:r>
                <a:endParaRPr lang="en-US" sz="2400" dirty="0">
                  <a:solidFill>
                    <a:srgbClr val="000000"/>
                  </a:solidFill>
                  <a:latin typeface="Times New Roman"/>
                  <a:ea typeface="DejaVu Sans"/>
                </a:endParaRPr>
              </a:p>
              <a:p>
                <a:pPr marL="1257300" lvl="4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400" b="0" i="1">
                            <a:latin typeface="Cambria Math"/>
                          </a:rPr>
                        </m:ctrlPr>
                      </m:fPr>
                      <m:num>
                        <m:r>
                          <a:rPr lang="ro-RO" sz="2400" b="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2400" b="0" i="1"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4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vi-V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= frecvența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(Hz,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KHz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 Hz, G Hz)</a:t>
                </a:r>
                <a:endParaRPr lang="vi-V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DejaVu Sans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842" y="4387708"/>
                <a:ext cx="6693583" cy="2470292"/>
              </a:xfrm>
              <a:prstGeom prst="rect">
                <a:avLst/>
              </a:prstGeom>
              <a:blipFill>
                <a:blip r:embed="rId2"/>
                <a:stretch>
                  <a:fillRect l="-1275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stomShape 4"/>
          <p:cNvSpPr txBox="1">
            <a:spLocks/>
          </p:cNvSpPr>
          <p:nvPr/>
        </p:nvSpPr>
        <p:spPr>
          <a:xfrm>
            <a:off x="2375809" y="171798"/>
            <a:ext cx="4824536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numeric.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1935046"/>
            <a:ext cx="47720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983432" y="1935046"/>
            <a:ext cx="4896544" cy="14939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58" y="2049346"/>
            <a:ext cx="481965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 flipH="1">
            <a:off x="2610583" y="3429000"/>
            <a:ext cx="326939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1" y="1848283"/>
            <a:ext cx="4743450" cy="339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/>
          <p:cNvCxnSpPr>
            <a:cxnSpLocks/>
          </p:cNvCxnSpPr>
          <p:nvPr/>
        </p:nvCxnSpPr>
        <p:spPr>
          <a:xfrm flipH="1" flipV="1">
            <a:off x="3575720" y="2987470"/>
            <a:ext cx="2280209" cy="17979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286865" y="6029188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Impuls ideal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01E7B-337D-9D2F-5B47-9FD5563F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360098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415883" y="975649"/>
            <a:ext cx="1963643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ţii: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6428" y="2554182"/>
            <a:ext cx="774245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se atribuie valori binare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“0”; “1”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1610" y="1225815"/>
            <a:ext cx="7164813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 de la intrarea circuitului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 cu tensiunea de prag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829275" y="3314757"/>
                <a:ext cx="7164813" cy="1143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lvl="2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p>
                    </m:sSup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400" b="0" i="0">
                        <a:latin typeface="Cambria Math"/>
                      </a:rPr>
                      <m:t>≤</m:t>
                    </m:r>
                    <m:r>
                      <a:rPr lang="ro-RO" sz="24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400" b="0">
                        <a:latin typeface="Cambria Math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400" b="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o-RO" sz="2400" b="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e>
                      <m:sup>
                        <m:r>
                          <a:rPr lang="ro-RO" sz="2400" b="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</m:sup>
                    </m:sSup>
                    <m:r>
                      <a:rPr lang="ro-RO" sz="2400" b="0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(în principiu, dar nu întotdeauna)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275" y="3314757"/>
                <a:ext cx="7164813" cy="1143775"/>
              </a:xfrm>
              <a:prstGeom prst="rect">
                <a:avLst/>
              </a:prstGeom>
              <a:blipFill rotWithShape="1">
                <a:blip r:embed="rId2"/>
                <a:stretch>
                  <a:fillRect l="-1105" r="-1276" b="-117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894620" y="4566322"/>
                <a:ext cx="543903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lvl="2" indent="-342900" algn="just">
                  <a:buFont typeface="Wingdings" panose="05000000000000000000" pitchFamily="2" charset="2"/>
                  <a:buChar char="§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400" b="0" dirty="0">
                        <a:latin typeface="Cambria Math"/>
                      </a:rPr>
                      <m:t>&gt;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(întotdeauna)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620" y="4566322"/>
                <a:ext cx="543903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570" t="-10526" b="-2894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922577" y="5332878"/>
                <a:ext cx="7010882" cy="8375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lvl="2" indent="-342900" algn="just">
                  <a:buFont typeface="Wingdings" panose="05000000000000000000" pitchFamily="2" charset="2"/>
                  <a:buChar char="§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400" b="0" i="0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p>
                    </m:sSup>
                    <m:sSup>
                      <m:sSupPr>
                        <m:ctrl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, 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p>
                    </m:sSup>
                    <m:sSup>
                      <m:sSupPr>
                        <m:ctrl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,5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o-RO" sz="2400" b="0" i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p>
                    </m:sSup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(depinde de circuit şi de locul unde este utilizat)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577" y="5332878"/>
                <a:ext cx="7010882" cy="837537"/>
              </a:xfrm>
              <a:prstGeom prst="rect">
                <a:avLst/>
              </a:prstGeom>
              <a:blipFill rotWithShape="1">
                <a:blip r:embed="rId4"/>
                <a:stretch>
                  <a:fillRect l="-1217" t="-5109" r="-1304" b="-1605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stomShape 4"/>
          <p:cNvSpPr txBox="1">
            <a:spLocks/>
          </p:cNvSpPr>
          <p:nvPr/>
        </p:nvSpPr>
        <p:spPr>
          <a:xfrm>
            <a:off x="2279576" y="123545"/>
            <a:ext cx="4824536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numeric.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8" y="2376931"/>
            <a:ext cx="44862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7" y="2368576"/>
            <a:ext cx="44767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80" y="2397992"/>
            <a:ext cx="441007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1286865" y="6029188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Impuls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0E57A-0CD4-B02D-E39F-5A11893A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490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479376" y="1052736"/>
            <a:ext cx="1963643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ţii: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7408" y="1894030"/>
            <a:ext cx="54711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Circuitele digitale numerice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relativ: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7408" y="2795739"/>
            <a:ext cx="82608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Timpul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  proprietatea de bază (esenţială)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61295" y="3337663"/>
            <a:ext cx="1015456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Se doreşte să se lucreze la frecvenţe cât mai mari </a:t>
            </a:r>
            <a:r>
              <a:rPr lang="ro-RO" sz="2400" dirty="0" err="1">
                <a:solidFill>
                  <a:srgbClr val="000000"/>
                </a:solidFill>
                <a:latin typeface="Times New Roman"/>
              </a:rPr>
              <a:t>a.î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.: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sistemele numerice să poată prelucra în unitatea de timp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 cât mai multe informaţii.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5653" y="5259957"/>
            <a:ext cx="969927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Timpul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 reperul care conduce în toate sistemele numerice.</a:t>
            </a:r>
          </a:p>
        </p:txBody>
      </p:sp>
      <p:sp>
        <p:nvSpPr>
          <p:cNvPr id="10" name="CustomShape 4"/>
          <p:cNvSpPr txBox="1">
            <a:spLocks/>
          </p:cNvSpPr>
          <p:nvPr/>
        </p:nvSpPr>
        <p:spPr>
          <a:xfrm>
            <a:off x="2581640" y="123545"/>
            <a:ext cx="4824536" cy="504056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numeric.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6324162" y="2128475"/>
            <a:ext cx="15721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ieftine</a:t>
            </a:r>
            <a:endParaRPr lang="ro-RO" sz="2400" dirty="0"/>
          </a:p>
        </p:txBody>
      </p:sp>
      <p:sp>
        <p:nvSpPr>
          <p:cNvPr id="15" name="Rectangle 14"/>
          <p:cNvSpPr/>
          <p:nvPr/>
        </p:nvSpPr>
        <p:spPr>
          <a:xfrm>
            <a:off x="6238576" y="1656372"/>
            <a:ext cx="1729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 simple</a:t>
            </a:r>
            <a:endParaRPr lang="ro-RO" sz="2400" dirty="0"/>
          </a:p>
        </p:txBody>
      </p:sp>
      <p:sp>
        <p:nvSpPr>
          <p:cNvPr id="3" name="Left Brace 2"/>
          <p:cNvSpPr/>
          <p:nvPr/>
        </p:nvSpPr>
        <p:spPr>
          <a:xfrm>
            <a:off x="6095280" y="1894030"/>
            <a:ext cx="143297" cy="5988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DBC9A-758C-35B3-2F29-4678197E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628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1384" y="1484787"/>
            <a:ext cx="10945216" cy="11339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Componentele electronice nu au un comportament ideal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3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în realitate reacționează cu întârziere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400" y="2962851"/>
            <a:ext cx="82608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Asupra semnalului pot acţiona o multitudine de factori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365" y="3656586"/>
            <a:ext cx="1060121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/>
              </a:rPr>
              <a:t>Impulsul   →  furnizat de un generator de semnale (ce nu este ideal)</a:t>
            </a:r>
          </a:p>
          <a:p>
            <a:pPr lvl="0" algn="just">
              <a:lnSpc>
                <a:spcPct val="150000"/>
              </a:lnSpc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	 =&gt; din start semnalul pleacă distorsionat</a:t>
            </a:r>
          </a:p>
          <a:p>
            <a:pPr lvl="0" algn="just">
              <a:lnSpc>
                <a:spcPct val="150000"/>
              </a:lnSpc>
            </a:pPr>
            <a:r>
              <a:rPr lang="ro-RO" sz="2400" dirty="0">
                <a:solidFill>
                  <a:srgbClr val="000000"/>
                </a:solidFill>
                <a:latin typeface="Times New Roman"/>
              </a:rPr>
              <a:t>	 	=&gt; fiecare circuit produce distorsiunea proprie.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4276" y="5907167"/>
            <a:ext cx="82608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Aproape niciodată nu se regăsesc semnale ideale!</a:t>
            </a:r>
          </a:p>
        </p:txBody>
      </p:sp>
      <p:sp>
        <p:nvSpPr>
          <p:cNvPr id="18" name="CustomShape 4"/>
          <p:cNvSpPr txBox="1">
            <a:spLocks/>
          </p:cNvSpPr>
          <p:nvPr/>
        </p:nvSpPr>
        <p:spPr>
          <a:xfrm>
            <a:off x="3647728" y="423812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digitale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013A-441E-860C-1300-DFAE678C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284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4841032" y="1685457"/>
            <a:ext cx="3312368" cy="428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tensiune: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63352" y="1102330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3676" y="1059980"/>
            <a:ext cx="16121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4"/>
          <p:cNvSpPr/>
          <p:nvPr/>
        </p:nvSpPr>
        <p:spPr>
          <a:xfrm>
            <a:off x="911424" y="5731059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p:sp>
        <p:nvSpPr>
          <p:cNvPr id="14" name="CustomShape 5"/>
          <p:cNvSpPr/>
          <p:nvPr/>
        </p:nvSpPr>
        <p:spPr>
          <a:xfrm>
            <a:off x="6456295" y="2120597"/>
            <a:ext cx="4920436" cy="2639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nivel de tensiune inferioară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nivel de tensiune superioară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tensiunea de prag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Amplitudine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Electronică Digitală</a:t>
            </a:r>
            <a:endParaRPr lang="ro-RO" dirty="0"/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83BDA316-581F-542D-4A1F-CD71A9EA7622}"/>
              </a:ext>
            </a:extLst>
          </p:cNvPr>
          <p:cNvSpPr/>
          <p:nvPr/>
        </p:nvSpPr>
        <p:spPr>
          <a:xfrm>
            <a:off x="4901512" y="4425644"/>
            <a:ext cx="3312369" cy="637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Parametrii  timp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56BB3B-9FEE-6CA1-CED9-F4CF9FD6B066}"/>
                  </a:ext>
                </a:extLst>
              </p:cNvPr>
              <p:cNvSpPr txBox="1"/>
              <p:nvPr/>
            </p:nvSpPr>
            <p:spPr>
              <a:xfrm>
                <a:off x="6497216" y="4900118"/>
                <a:ext cx="5135421" cy="1917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</a:t>
                </a:r>
                <a:r>
                  <a:rPr lang="vi-VN" sz="2400" b="1" baseline="-25000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i </a:t>
                </a: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 -</a:t>
                </a:r>
                <a:r>
                  <a:rPr lang="vi-VN" sz="2400" dirty="0">
                    <a:latin typeface="Times New Roman"/>
                    <a:ea typeface="DejaVu Sans"/>
                  </a:rPr>
                  <a:t>  durata impulsului </a:t>
                </a:r>
                <a:endParaRPr lang="en-US" sz="2400" dirty="0">
                  <a:latin typeface="Times New Roman"/>
                  <a:ea typeface="DejaVu Sans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vi-VN" sz="2400" b="1" dirty="0">
                    <a:solidFill>
                      <a:srgbClr val="00B050"/>
                    </a:solidFill>
                    <a:latin typeface="Times New Roman"/>
                    <a:ea typeface="DejaVu Sans"/>
                  </a:rPr>
                  <a:t>T  </a:t>
                </a:r>
                <a:r>
                  <a:rPr lang="vi-VN" sz="2400" dirty="0">
                    <a:latin typeface="Times New Roman"/>
                    <a:ea typeface="DejaVu Sans"/>
                  </a:rPr>
                  <a:t>- durata de repetiţie a impulsului</a:t>
                </a:r>
                <a:endParaRPr lang="ro-RO" sz="2400" dirty="0">
                  <a:latin typeface="Times New Roman"/>
                  <a:ea typeface="DejaVu Sans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ro-RO" sz="24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2400" i="1"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unde F = frecvența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56BB3B-9FEE-6CA1-CED9-F4CF9FD6B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216" y="4900118"/>
                <a:ext cx="5135421" cy="1917513"/>
              </a:xfrm>
              <a:prstGeom prst="rect">
                <a:avLst/>
              </a:prstGeom>
              <a:blipFill>
                <a:blip r:embed="rId3"/>
                <a:stretch>
                  <a:fillRect l="-1663" b="-2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2">
            <a:extLst>
              <a:ext uri="{FF2B5EF4-FFF2-40B4-BE49-F238E27FC236}">
                <a16:creationId xmlns:a16="http://schemas.microsoft.com/office/drawing/2014/main" id="{32985EBD-C2F6-031B-B423-B8F357E31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09" y="2367375"/>
            <a:ext cx="369570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7C5A971C-49B1-C8DD-6E32-5F113D38F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2507257"/>
            <a:ext cx="41338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FE05A364-275E-C9DF-6FAE-A08BFE0BD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773773"/>
              </p:ext>
            </p:extLst>
          </p:nvPr>
        </p:nvGraphicFramePr>
        <p:xfrm>
          <a:off x="327034" y="2088032"/>
          <a:ext cx="3968766" cy="3461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055680" imgH="2926080" progId="Paint.Picture">
                  <p:embed/>
                </p:oleObj>
              </mc:Choice>
              <mc:Fallback>
                <p:oleObj name="Bitmap Image" r:id="rId6" imgW="3055680" imgH="29260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034" y="2088032"/>
                        <a:ext cx="3968766" cy="3461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71DB6-5AC7-7B19-6FD7-826E8ED6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51139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94035" y="1124747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SEMNAL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64152" y="1109357"/>
            <a:ext cx="16121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b="1" dirty="0">
                <a:solidFill>
                  <a:srgbClr val="002060"/>
                </a:solidFill>
                <a:latin typeface="Times New Roman"/>
              </a:rPr>
              <a:t>Impuls </a:t>
            </a:r>
            <a:endParaRPr lang="ro-RO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6312024" y="1294471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CustomShape 5"/>
          <p:cNvSpPr/>
          <p:nvPr/>
        </p:nvSpPr>
        <p:spPr>
          <a:xfrm>
            <a:off x="5857962" y="1844824"/>
            <a:ext cx="6142694" cy="1742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Posibil să apară: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oscilaţii amortizate: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 zgomotele exterioare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6" name="CustomShape 5"/>
          <p:cNvSpPr/>
          <p:nvPr/>
        </p:nvSpPr>
        <p:spPr>
          <a:xfrm>
            <a:off x="6379772" y="3795789"/>
            <a:ext cx="3449248" cy="1133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Supracreştere semnal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Subcreştere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</a:t>
            </a:r>
          </a:p>
        </p:txBody>
      </p:sp>
      <p:sp>
        <p:nvSpPr>
          <p:cNvPr id="13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5034BD-0E43-86F4-5115-A76276FE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669839"/>
            <a:ext cx="4324350" cy="3924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B4DDC-A67F-285F-49C4-B76DC507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35</a:t>
            </a:fld>
            <a:endParaRPr lang="ro-RO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302F5C-9497-2C98-3A4C-4A68463379B2}"/>
              </a:ext>
            </a:extLst>
          </p:cNvPr>
          <p:cNvCxnSpPr/>
          <p:nvPr/>
        </p:nvCxnSpPr>
        <p:spPr>
          <a:xfrm flipH="1" flipV="1">
            <a:off x="2639616" y="3068960"/>
            <a:ext cx="3816424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34B639-6D50-18F1-2ECA-1269DC01B574}"/>
              </a:ext>
            </a:extLst>
          </p:cNvPr>
          <p:cNvCxnSpPr/>
          <p:nvPr/>
        </p:nvCxnSpPr>
        <p:spPr>
          <a:xfrm flipH="1">
            <a:off x="3863752" y="4725144"/>
            <a:ext cx="2664296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79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2"/>
          <p:cNvSpPr/>
          <p:nvPr/>
        </p:nvSpPr>
        <p:spPr>
          <a:xfrm>
            <a:off x="5390010" y="2621638"/>
            <a:ext cx="6164507" cy="1368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Orice valoare care este:</a:t>
            </a: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peste zona de prag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→  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“1”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logic</a:t>
            </a:r>
            <a:endParaRPr lang="ro-RO" sz="2400" dirty="0"/>
          </a:p>
          <a:p>
            <a:pPr algn="just">
              <a:lnSpc>
                <a:spcPct val="15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dirty="0"/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83" name="CustomShape 5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CustomShape 5"/>
          <p:cNvSpPr/>
          <p:nvPr/>
        </p:nvSpPr>
        <p:spPr>
          <a:xfrm>
            <a:off x="479376" y="798307"/>
            <a:ext cx="6868872" cy="82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it-IT" sz="2400" b="1" dirty="0">
                <a:solidFill>
                  <a:srgbClr val="002060"/>
                </a:solidFill>
                <a:latin typeface="Times New Roman"/>
                <a:ea typeface="DejaVu Sans"/>
              </a:rPr>
              <a:t>Interpretare logică a circuitelor numerice:</a:t>
            </a:r>
            <a:endParaRPr lang="it-IT" sz="2400" dirty="0">
              <a:solidFill>
                <a:srgbClr val="002060"/>
              </a:solidFill>
            </a:endParaRPr>
          </a:p>
        </p:txBody>
      </p:sp>
      <p:sp>
        <p:nvSpPr>
          <p:cNvPr id="18" name="CustomShape 2"/>
          <p:cNvSpPr/>
          <p:nvPr/>
        </p:nvSpPr>
        <p:spPr>
          <a:xfrm>
            <a:off x="5493171" y="4247745"/>
            <a:ext cx="6300706" cy="1296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Orice valoare care este: </a:t>
            </a:r>
          </a:p>
          <a:p>
            <a:pPr marL="800100" lvl="1" indent="-342900" algn="just">
              <a:lnSpc>
                <a:spcPct val="150000"/>
              </a:lnSpc>
              <a:buSzPct val="95000"/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sub zona de prag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 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→  </a:t>
            </a:r>
            <a:r>
              <a:rPr lang="ro-RO" sz="2400" b="1" dirty="0">
                <a:solidFill>
                  <a:srgbClr val="002060"/>
                </a:solidFill>
                <a:latin typeface="Times New Roman"/>
                <a:ea typeface="DejaVu Sans"/>
              </a:rPr>
              <a:t>“0”</a:t>
            </a: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logic</a:t>
            </a:r>
            <a:endParaRPr sz="2400" dirty="0"/>
          </a:p>
          <a:p>
            <a:pPr algn="just">
              <a:lnSpc>
                <a:spcPct val="15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  <a:buSzPct val="95000"/>
            </a:pPr>
            <a:endParaRPr dirty="0"/>
          </a:p>
          <a:p>
            <a:pPr algn="just">
              <a:lnSpc>
                <a:spcPct val="100000"/>
              </a:lnSpc>
            </a:pPr>
            <a:r>
              <a:rPr lang="ro-RO" sz="2400" b="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dirty="0"/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2" name="CustomShape 4"/>
          <p:cNvSpPr/>
          <p:nvPr/>
        </p:nvSpPr>
        <p:spPr>
          <a:xfrm>
            <a:off x="911424" y="6247802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DACBA-7F56-F57D-0004-AD501D933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89" y="2197119"/>
            <a:ext cx="4324350" cy="3924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F4771-0F2E-BBB4-348A-6F892571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36</a:t>
            </a:fld>
            <a:endParaRPr lang="ro-RO"/>
          </a:p>
        </p:txBody>
      </p:sp>
      <p:sp>
        <p:nvSpPr>
          <p:cNvPr id="17" name="CustomShape 5"/>
          <p:cNvSpPr/>
          <p:nvPr/>
        </p:nvSpPr>
        <p:spPr>
          <a:xfrm>
            <a:off x="1199456" y="1580693"/>
            <a:ext cx="10801200" cy="824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Indiferent de forma semnalului   →  totul se compară cu tensiunea de prag 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10E1C1E0-B99C-3A48-4CCA-6FA17BCC0B85}"/>
              </a:ext>
            </a:extLst>
          </p:cNvPr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813B23-51B7-19E7-2009-A9365323DC38}"/>
              </a:ext>
            </a:extLst>
          </p:cNvPr>
          <p:cNvCxnSpPr/>
          <p:nvPr/>
        </p:nvCxnSpPr>
        <p:spPr>
          <a:xfrm flipH="1">
            <a:off x="1991544" y="1988840"/>
            <a:ext cx="9721080" cy="244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823830-10A5-02F3-3778-54AEF26977C4}"/>
              </a:ext>
            </a:extLst>
          </p:cNvPr>
          <p:cNvCxnSpPr/>
          <p:nvPr/>
        </p:nvCxnSpPr>
        <p:spPr>
          <a:xfrm flipH="1">
            <a:off x="2135560" y="3645024"/>
            <a:ext cx="792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DACF65-75A7-C109-C109-A6AC98B912F1}"/>
              </a:ext>
            </a:extLst>
          </p:cNvPr>
          <p:cNvCxnSpPr/>
          <p:nvPr/>
        </p:nvCxnSpPr>
        <p:spPr>
          <a:xfrm flipH="1">
            <a:off x="1703512" y="5157192"/>
            <a:ext cx="8064896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6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uiExpand="1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4957747" y="1512641"/>
            <a:ext cx="5423639" cy="778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Parametrii de timp 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numiţi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generic: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4697" y="922901"/>
            <a:ext cx="417939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IMPULS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4"/>
          <p:cNvSpPr/>
          <p:nvPr/>
        </p:nvSpPr>
        <p:spPr>
          <a:xfrm>
            <a:off x="1919536" y="6217830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stomShape 5"/>
              <p:cNvSpPr/>
              <p:nvPr/>
            </p:nvSpPr>
            <p:spPr>
              <a:xfrm>
                <a:off x="5747835" y="2040430"/>
                <a:ext cx="4155246" cy="1800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/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Fronturi de impuls</a:t>
                </a: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Ridicător 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𝐫</m:t>
                        </m:r>
                      </m:sub>
                    </m:sSub>
                  </m:oMath>
                </a14:m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Coborâtor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1" i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400" b="1" i="0">
                            <a:latin typeface="Cambria Math"/>
                            <a:cs typeface="Times New Roman" panose="020206030504050203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400" b="1" i="0" smtClean="0">
                            <a:latin typeface="Cambria Math"/>
                            <a:cs typeface="Times New Roman" panose="02020603050405020304" pitchFamily="18" charset="0"/>
                          </a:rPr>
                          <m:t>𝐜</m:t>
                        </m:r>
                      </m:sub>
                    </m:sSub>
                  </m:oMath>
                </a14:m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ro-RO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ustom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835" y="2040430"/>
                <a:ext cx="4155246" cy="1800200"/>
              </a:xfrm>
              <a:prstGeom prst="rect">
                <a:avLst/>
              </a:prstGeom>
              <a:blipFill>
                <a:blip r:embed="rId2"/>
                <a:stretch>
                  <a:fillRect l="-2053" b="-10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24443" y="6293446"/>
            <a:ext cx="4114800" cy="365125"/>
          </a:xfrm>
        </p:spPr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11" name="CustomShape 5">
            <a:extLst>
              <a:ext uri="{FF2B5EF4-FFF2-40B4-BE49-F238E27FC236}">
                <a16:creationId xmlns:a16="http://schemas.microsoft.com/office/drawing/2014/main" id="{4051F606-C786-E612-1B36-B8C834EF4F2D}"/>
              </a:ext>
            </a:extLst>
          </p:cNvPr>
          <p:cNvSpPr/>
          <p:nvPr/>
        </p:nvSpPr>
        <p:spPr>
          <a:xfrm>
            <a:off x="4681235" y="922901"/>
            <a:ext cx="5976664" cy="545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plus față de Impuls ideal există: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614C515-10A5-0CD6-7B72-8ACA4E9AC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44" y="1808512"/>
            <a:ext cx="39243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B5DCA-1F58-27BB-7DB9-E02A8214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37</a:t>
            </a:fld>
            <a:endParaRPr lang="ro-RO"/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CA158A32-E7B4-AB3E-E217-EAB97B69098C}"/>
              </a:ext>
            </a:extLst>
          </p:cNvPr>
          <p:cNvSpPr/>
          <p:nvPr/>
        </p:nvSpPr>
        <p:spPr>
          <a:xfrm>
            <a:off x="6087336" y="4474888"/>
            <a:ext cx="5808049" cy="2280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TLH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tranziția de la nivelul logic inferior, la cel superior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THL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tranziția de la nivelul logic superior, la cel inferior</a:t>
            </a:r>
          </a:p>
          <a:p>
            <a:pPr lvl="0"/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711B927F-CC41-6C2D-2A67-02BA8D148C62}"/>
              </a:ext>
            </a:extLst>
          </p:cNvPr>
          <p:cNvSpPr/>
          <p:nvPr/>
        </p:nvSpPr>
        <p:spPr>
          <a:xfrm>
            <a:off x="5624281" y="4052049"/>
            <a:ext cx="3651802" cy="447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Fronturi de tranziţie: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204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67813" y="1007028"/>
            <a:ext cx="4179394" cy="43088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IMPULS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4"/>
          <p:cNvSpPr/>
          <p:nvPr/>
        </p:nvSpPr>
        <p:spPr>
          <a:xfrm>
            <a:off x="983535" y="5661248"/>
            <a:ext cx="2447008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Impuls real</a:t>
            </a:r>
            <a:endParaRPr sz="2000" dirty="0"/>
          </a:p>
        </p:txBody>
      </p:sp>
      <p:sp>
        <p:nvSpPr>
          <p:cNvPr id="15" name="CustomShape 4"/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Parametrii.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02596" y="6356505"/>
            <a:ext cx="4114800" cy="365125"/>
          </a:xfrm>
        </p:spPr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FD5A471-93E0-A279-A793-3F24BFFE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50" y="1706207"/>
            <a:ext cx="3868777" cy="364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A1CA-AAA3-7788-64F0-A131C086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38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3EE49-2B40-67E5-45ED-D4BCBA76EC84}"/>
              </a:ext>
            </a:extLst>
          </p:cNvPr>
          <p:cNvSpPr txBox="1"/>
          <p:nvPr/>
        </p:nvSpPr>
        <p:spPr>
          <a:xfrm>
            <a:off x="5946735" y="1481485"/>
            <a:ext cx="6205863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egiunea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este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definită: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„0” logic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„1” logic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828800" lvl="3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7AB52DF0-808C-FC1E-A552-14B86B946CD2}"/>
              </a:ext>
            </a:extLst>
          </p:cNvPr>
          <p:cNvSpPr/>
          <p:nvPr/>
        </p:nvSpPr>
        <p:spPr>
          <a:xfrm>
            <a:off x="5239579" y="1001930"/>
            <a:ext cx="3651802" cy="447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tranziție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E8062-9B90-2F07-D997-C60F7BAB45B7}"/>
              </a:ext>
            </a:extLst>
          </p:cNvPr>
          <p:cNvSpPr txBox="1"/>
          <p:nvPr/>
        </p:nvSpPr>
        <p:spPr>
          <a:xfrm>
            <a:off x="5026327" y="3842309"/>
            <a:ext cx="618213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Timpul de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parcurgere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zonei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tranziție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stare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„0” logic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„1” logic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85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ACED-9063-A1DA-709B-8E72D970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5">
            <a:extLst>
              <a:ext uri="{FF2B5EF4-FFF2-40B4-BE49-F238E27FC236}">
                <a16:creationId xmlns:a16="http://schemas.microsoft.com/office/drawing/2014/main" id="{57CE69B2-ABBE-6E57-4835-28183D5AA542}"/>
              </a:ext>
            </a:extLst>
          </p:cNvPr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CustomShape 4">
            <a:extLst>
              <a:ext uri="{FF2B5EF4-FFF2-40B4-BE49-F238E27FC236}">
                <a16:creationId xmlns:a16="http://schemas.microsoft.com/office/drawing/2014/main" id="{7FA2C61E-B811-AD2F-5AA5-F70E3492B793}"/>
              </a:ext>
            </a:extLst>
          </p:cNvPr>
          <p:cNvSpPr txBox="1">
            <a:spLocks/>
          </p:cNvSpPr>
          <p:nvPr/>
        </p:nvSpPr>
        <p:spPr>
          <a:xfrm>
            <a:off x="3647728" y="18980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18796-1511-80D4-5BEE-B85398CE0B86}"/>
              </a:ext>
            </a:extLst>
          </p:cNvPr>
          <p:cNvSpPr txBox="1"/>
          <p:nvPr/>
        </p:nvSpPr>
        <p:spPr>
          <a:xfrm>
            <a:off x="644882" y="5467620"/>
            <a:ext cx="1130555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2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Circuitele numerice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trebuie să lucreze la frecvențe cât mai mari pentru a avea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3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calculatoare ce pot efectua cât mai multe operații pe secundă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65B27-E67E-7AE1-2292-F8820A99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490AA3-BA9F-517E-0637-361EF4976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44" y="1808512"/>
            <a:ext cx="39243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3601D-4464-31B1-025F-9990849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39</a:t>
            </a:fld>
            <a:endParaRPr lang="ro-R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E68C1-C1CA-1B4A-DC75-EDEA1E4C6132}"/>
              </a:ext>
            </a:extLst>
          </p:cNvPr>
          <p:cNvSpPr txBox="1"/>
          <p:nvPr/>
        </p:nvSpPr>
        <p:spPr>
          <a:xfrm>
            <a:off x="667813" y="1007028"/>
            <a:ext cx="4179394" cy="43088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IMPULS REAL NUMERIC</a:t>
            </a:r>
            <a:r>
              <a:rPr lang="en-US" sz="22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 </a:t>
            </a:r>
            <a:endParaRPr lang="ro-RO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D5478-3DBA-FB3C-7887-92B507673029}"/>
              </a:ext>
            </a:extLst>
          </p:cNvPr>
          <p:cNvSpPr txBox="1"/>
          <p:nvPr/>
        </p:nvSpPr>
        <p:spPr>
          <a:xfrm>
            <a:off x="4669828" y="2290057"/>
            <a:ext cx="7522172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timpul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tranziți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răspund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digitale de I/O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frecvențe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proiectare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CustomShape 5">
            <a:extLst>
              <a:ext uri="{FF2B5EF4-FFF2-40B4-BE49-F238E27FC236}">
                <a16:creationId xmlns:a16="http://schemas.microsoft.com/office/drawing/2014/main" id="{95ABF5CA-98CC-83AD-BDD3-2E09FA873289}"/>
              </a:ext>
            </a:extLst>
          </p:cNvPr>
          <p:cNvSpPr/>
          <p:nvPr/>
        </p:nvSpPr>
        <p:spPr>
          <a:xfrm>
            <a:off x="4569079" y="1597398"/>
            <a:ext cx="3651802" cy="447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0802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5543666" y="2724398"/>
            <a:ext cx="6024941" cy="806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Tranziţia este ca un semnal exponenţial:</a:t>
            </a:r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9478" y="1147204"/>
            <a:ext cx="1121913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/>
              </a:rPr>
              <a:t>De unde până unde se defineşte tranziţia ?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/>
              </a:rPr>
              <a:t>Unde este stabilit H, şi unde este stabilit L? </a:t>
            </a:r>
            <a:r>
              <a:rPr lang="en-US" sz="2200" dirty="0">
                <a:latin typeface="Times New Roman"/>
              </a:rPr>
              <a:t> </a:t>
            </a:r>
            <a:r>
              <a:rPr lang="ro-RO" sz="2200" dirty="0">
                <a:latin typeface="Times New Roman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stomShape 4"/>
          <p:cNvSpPr txBox="1">
            <a:spLocks/>
          </p:cNvSpPr>
          <p:nvPr/>
        </p:nvSpPr>
        <p:spPr>
          <a:xfrm>
            <a:off x="1919538" y="199493"/>
            <a:ext cx="2952329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tranziţie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4" name="CustomShape 5"/>
          <p:cNvSpPr/>
          <p:nvPr/>
        </p:nvSpPr>
        <p:spPr>
          <a:xfrm>
            <a:off x="5778628" y="3429000"/>
            <a:ext cx="5645964" cy="165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Pleacă de la 0V:</a:t>
            </a:r>
          </a:p>
          <a:p>
            <a:pPr marL="800100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stă un interval mic de timp: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apoi urcă spre nivelul superior.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924944"/>
            <a:ext cx="3859765" cy="3076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631504" y="2060848"/>
            <a:ext cx="1764198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631504" y="2060848"/>
            <a:ext cx="4464496" cy="3384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stomShape 4"/>
          <p:cNvSpPr/>
          <p:nvPr/>
        </p:nvSpPr>
        <p:spPr>
          <a:xfrm>
            <a:off x="1919535" y="6217830"/>
            <a:ext cx="2952331" cy="502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ziţie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AC477-0DA3-1D21-7ED9-4D7D4B4A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01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5"/>
          <p:cNvSpPr/>
          <p:nvPr/>
        </p:nvSpPr>
        <p:spPr>
          <a:xfrm>
            <a:off x="6102966" y="1556792"/>
            <a:ext cx="5249617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Timpii de tranziţie se iau în zona cu trecerea cea mai rapidă</a:t>
            </a:r>
            <a:endParaRPr dirty="0"/>
          </a:p>
        </p:txBody>
      </p:sp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CustomShape 5"/>
          <p:cNvSpPr/>
          <p:nvPr/>
        </p:nvSpPr>
        <p:spPr>
          <a:xfrm>
            <a:off x="6102966" y="3501009"/>
            <a:ext cx="4848989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0,1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­-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0,1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0,9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(V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­-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0,9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2855640" y="5926252"/>
            <a:ext cx="7560840" cy="612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Timpul de tranziţie → cuprins între 0,1·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0,9·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dirty="0"/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1919538" y="199493"/>
            <a:ext cx="2952329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tranziţie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1" y="1880906"/>
            <a:ext cx="3839443" cy="306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Electronică Digitală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2F3F4-2B4F-F1A1-3CE9-E74D65B9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41</a:t>
            </a:fld>
            <a:endParaRPr lang="ro-RO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B672E6-BFE0-28F9-9A07-70C4589A0C97}"/>
              </a:ext>
            </a:extLst>
          </p:cNvPr>
          <p:cNvCxnSpPr/>
          <p:nvPr/>
        </p:nvCxnSpPr>
        <p:spPr>
          <a:xfrm flipH="1">
            <a:off x="2207568" y="3933056"/>
            <a:ext cx="784887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BAA4C1-1D72-4FAF-131C-04AD572A12C9}"/>
              </a:ext>
            </a:extLst>
          </p:cNvPr>
          <p:cNvCxnSpPr/>
          <p:nvPr/>
        </p:nvCxnSpPr>
        <p:spPr>
          <a:xfrm flipH="1" flipV="1">
            <a:off x="2927648" y="2636912"/>
            <a:ext cx="720080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5A8AD2-133B-F7DD-0D61-AF13EFABE483}"/>
              </a:ext>
            </a:extLst>
          </p:cNvPr>
          <p:cNvCxnSpPr/>
          <p:nvPr/>
        </p:nvCxnSpPr>
        <p:spPr>
          <a:xfrm flipH="1" flipV="1">
            <a:off x="2248744" y="4325939"/>
            <a:ext cx="5904656" cy="172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DAD25D-261B-B691-82D1-EF65DF52AE3D}"/>
              </a:ext>
            </a:extLst>
          </p:cNvPr>
          <p:cNvCxnSpPr/>
          <p:nvPr/>
        </p:nvCxnSpPr>
        <p:spPr>
          <a:xfrm flipH="1" flipV="1">
            <a:off x="2927648" y="2564904"/>
            <a:ext cx="5800126" cy="3489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64761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just">
              <a:lnSpc>
                <a:spcPct val="100000"/>
              </a:lnSpc>
              <a:buSzPct val="95000"/>
            </a:pPr>
            <a:endParaRPr sz="2400" dirty="0"/>
          </a:p>
          <a:p>
            <a:pPr algn="just">
              <a:lnSpc>
                <a:spcPct val="100000"/>
              </a:lnSpc>
              <a:buSzPct val="95000"/>
              <a:buFont typeface="Wingdings 2" charset="2"/>
              <a:buChar char=""/>
            </a:pP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1384" y="1402326"/>
            <a:ext cx="1108923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0000"/>
                </a:solidFill>
                <a:latin typeface="Times New Roman"/>
                <a:ea typeface="DejaVu Sans"/>
              </a:rPr>
              <a:t>În mod normal nu se lucrează cu un singur impuls, ci cu un tren de impulsuri ce poate ajunge chiar de ordinul miliardelor.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3647728" y="404664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9646" y="2874996"/>
            <a:ext cx="1135900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calculator poate prelucra miliarde de informaţii/ secundă =&gt; este de aşteptat ca şi aceste impulsuri să fie distorsionate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46" y="4615314"/>
            <a:ext cx="112149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imagine de ansamblu se ia în considerare următorul exemplu: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5E1DD-FC1D-EDAA-B0D4-086F92DF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85971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51384" y="1052736"/>
            <a:ext cx="7416825" cy="16879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/>
              </a:rPr>
              <a:t>Se presupune că 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/>
              </a:rPr>
              <a:t>O poartă comandă multe alte porţi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/>
                <a:cs typeface="Times New Roman" panose="02020603050405020304" pitchFamily="18" charset="0"/>
              </a:rPr>
              <a:t>Poarta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un impuls ideal aplicat</a:t>
            </a:r>
          </a:p>
        </p:txBody>
      </p:sp>
      <p:sp>
        <p:nvSpPr>
          <p:cNvPr id="16" name="CustomShape 5"/>
          <p:cNvSpPr/>
          <p:nvPr/>
        </p:nvSpPr>
        <p:spPr>
          <a:xfrm>
            <a:off x="695400" y="5759969"/>
            <a:ext cx="10729192" cy="810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Legătura între porţi se face cu un cablu (sârmă)    →  conductor electric →   unde electromagnetice →    se suprapun peste semnal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0000"/>
              </a:lnSpc>
            </a:pPr>
            <a:endParaRPr dirty="0"/>
          </a:p>
        </p:txBody>
      </p:sp>
      <p:sp>
        <p:nvSpPr>
          <p:cNvPr id="17" name="CustomShape 4"/>
          <p:cNvSpPr txBox="1">
            <a:spLocks/>
          </p:cNvSpPr>
          <p:nvPr/>
        </p:nvSpPr>
        <p:spPr>
          <a:xfrm>
            <a:off x="3647728" y="189801"/>
            <a:ext cx="618129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 Semnale numerice. Parametrii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18" y="3284984"/>
            <a:ext cx="2908902" cy="1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2276872"/>
            <a:ext cx="4896544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5A41C-FBA4-F805-DF6B-C620ECE4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21476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6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7368" y="980727"/>
            <a:ext cx="10801200" cy="10472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/>
              </a:rPr>
              <a:t>Se pot observa în punctele A, B, C, D mici distorsionări (supracreşteri)  → numite: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/>
              </a:rPr>
              <a:t> zgomote electromagnetice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50345" y="2204867"/>
            <a:ext cx="384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 supratensiune față de nivelul logic superior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8234" y="3212979"/>
            <a:ext cx="384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–  subtensiune față de nivelul logic superior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3349" y="4385135"/>
            <a:ext cx="384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–  subtensiune față de nivelul logic inferior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3349" y="5580194"/>
            <a:ext cx="384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–  supratensiune față de nivelul logic inferior</a:t>
            </a:r>
          </a:p>
        </p:txBody>
      </p:sp>
      <p:sp>
        <p:nvSpPr>
          <p:cNvPr id="11" name="CustomShape 4"/>
          <p:cNvSpPr txBox="1">
            <a:spLocks/>
          </p:cNvSpPr>
          <p:nvPr/>
        </p:nvSpPr>
        <p:spPr>
          <a:xfrm>
            <a:off x="3647728" y="189801"/>
            <a:ext cx="618129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 Semnale numerice. Parametrii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4" y="2027937"/>
            <a:ext cx="4900929" cy="4281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1343472" y="2620365"/>
            <a:ext cx="5832648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631504" y="3628477"/>
            <a:ext cx="5544616" cy="5401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207568" y="4800633"/>
            <a:ext cx="4752528" cy="1004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2567608" y="5373216"/>
            <a:ext cx="460851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D6CE0-DF51-9DB5-D081-3C359E41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317091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2"/>
          <p:cNvSpPr/>
          <p:nvPr/>
        </p:nvSpPr>
        <p:spPr>
          <a:xfrm>
            <a:off x="1981200" y="1124744"/>
            <a:ext cx="8228160" cy="5595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  <a:buSzPct val="95000"/>
            </a:pPr>
            <a:endParaRPr lang="en-US" sz="2400" b="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just">
              <a:lnSpc>
                <a:spcPct val="100000"/>
              </a:lnSpc>
              <a:buSzPct val="95000"/>
            </a:pPr>
            <a:endParaRPr sz="2400" dirty="0"/>
          </a:p>
        </p:txBody>
      </p:sp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8179" y="980728"/>
            <a:ext cx="10945216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se vizionează un film la televizor şi apare o furtună: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imaginea poate fi influenţată (apar mici puncte) sau chiar întreruptă:</a:t>
            </a:r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447944" y="512676"/>
            <a:ext cx="244755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Obervaţii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89609" y="5004035"/>
            <a:ext cx="6840760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D – apropie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tensiunea de prag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sunt cele mai periculoase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6594" y="3447335"/>
            <a:ext cx="6840760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C – sunt mai îndepărtate de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influenţează  din punct de vedere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9782" y="2264203"/>
            <a:ext cx="6654849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datorită zgomotelor electromagnetice: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perturbă semnalele.</a:t>
            </a:r>
          </a:p>
        </p:txBody>
      </p:sp>
      <p:sp>
        <p:nvSpPr>
          <p:cNvPr id="13" name="CustomShape 4"/>
          <p:cNvSpPr txBox="1">
            <a:spLocks/>
          </p:cNvSpPr>
          <p:nvPr/>
        </p:nvSpPr>
        <p:spPr>
          <a:xfrm>
            <a:off x="3632670" y="143941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18" name="Picture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50" y="2402664"/>
            <a:ext cx="4896544" cy="356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983432" y="3717032"/>
            <a:ext cx="4608512" cy="20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847528" y="3922432"/>
            <a:ext cx="3744416" cy="16485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1271464" y="4187171"/>
            <a:ext cx="4320480" cy="12580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2279576" y="5229200"/>
            <a:ext cx="347121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1415480" y="4746724"/>
            <a:ext cx="8999800" cy="5904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A253B-061E-5707-57FC-22F307BD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498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340538" y="1734155"/>
            <a:ext cx="568727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observă că semnalul de la ieşire: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întârziat faţă de semnalul de la intrare.</a:t>
            </a:r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4660908" y="1014504"/>
            <a:ext cx="244755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Obervaţii</a:t>
            </a: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91650" y="4236060"/>
            <a:ext cx="753616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Primul impuls de la ieşire, dacă întârzie foarte mult: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afectează următorul impuls de intrare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poate genera o comandă şi o logică greşită.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6776" y="3055300"/>
            <a:ext cx="566877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de dorit ca timpul de întârziere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să fie cât mai mic 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6541" y="5940414"/>
            <a:ext cx="11305300" cy="5799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Întârzierile influenţează direct asupra frecvenţei de lucru a sistemelor numerice!</a:t>
            </a:r>
          </a:p>
        </p:txBody>
      </p:sp>
      <p:sp>
        <p:nvSpPr>
          <p:cNvPr id="14" name="CustomShape 4"/>
          <p:cNvSpPr txBox="1">
            <a:spLocks/>
          </p:cNvSpPr>
          <p:nvPr/>
        </p:nvSpPr>
        <p:spPr>
          <a:xfrm>
            <a:off x="3634508" y="22749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pic>
        <p:nvPicPr>
          <p:cNvPr id="18" name="Picture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" y="1119713"/>
            <a:ext cx="4325548" cy="4820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716542" y="2934484"/>
            <a:ext cx="6531586" cy="2654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16541" y="3530063"/>
            <a:ext cx="10348011" cy="20591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C3459-D823-F595-EE56-3686A67A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0107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3"/>
          <p:cNvSpPr/>
          <p:nvPr/>
        </p:nvSpPr>
        <p:spPr>
          <a:xfrm>
            <a:off x="7896360" y="5805360"/>
            <a:ext cx="2518920" cy="33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o-RO" sz="1600" b="1">
                <a:solidFill>
                  <a:srgbClr val="FFFFFF"/>
                </a:solidFill>
                <a:latin typeface="Times New Roman"/>
                <a:ea typeface="DejaVu Sans"/>
              </a:rPr>
              <a:t>Figura1. Impuls ideal</a:t>
            </a:r>
            <a:endParaRPr/>
          </a:p>
        </p:txBody>
      </p:sp>
      <p:sp>
        <p:nvSpPr>
          <p:cNvPr id="171" name="CustomShape 4"/>
          <p:cNvSpPr/>
          <p:nvPr/>
        </p:nvSpPr>
        <p:spPr>
          <a:xfrm>
            <a:off x="9448680" y="6356520"/>
            <a:ext cx="760680" cy="36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4"/>
          <p:cNvSpPr txBox="1">
            <a:spLocks/>
          </p:cNvSpPr>
          <p:nvPr/>
        </p:nvSpPr>
        <p:spPr>
          <a:xfrm>
            <a:off x="508411" y="1166924"/>
            <a:ext cx="244755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803" y="3933056"/>
            <a:ext cx="1102169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Timpul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parametrul esenţial  în sistemele numerice: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doreşte ca timpul de răspuns să fie cât mai mic posibil: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pentru a se obţine performanţe cât mai bune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802" y="2175036"/>
            <a:ext cx="11021695" cy="1133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remarcă faptul că → aproape tot ce influenţează un sistem numeric: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timpul.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stomShape 4"/>
          <p:cNvSpPr txBox="1">
            <a:spLocks/>
          </p:cNvSpPr>
          <p:nvPr/>
        </p:nvSpPr>
        <p:spPr>
          <a:xfrm>
            <a:off x="3647728" y="404664"/>
            <a:ext cx="482453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</a:ln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7CF7-0181-356F-899C-47027614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606252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6A64-E8BB-451F-B06C-361CB031E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Pentru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 comportamentului circuitelor numerice :</a:t>
            </a:r>
          </a:p>
          <a:p>
            <a:pPr lvl="1"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definesc în cele ce urmează semnalele simple → cele trei semnale de bază: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treaptă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liniar variabil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 exponențial</a:t>
            </a:r>
          </a:p>
          <a:p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722AA-2D52-4BC2-BC2E-729DFA10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5" name="Rectangle 4"/>
          <p:cNvSpPr/>
          <p:nvPr/>
        </p:nvSpPr>
        <p:spPr>
          <a:xfrm>
            <a:off x="3359696" y="260648"/>
            <a:ext cx="5472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Semnale de bază în Circuitele numerice</a:t>
            </a:r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351718-CA31-C94C-2873-C5EF31C3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122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6354" y="1964431"/>
                <a:ext cx="5181600" cy="2472681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Expresia matematică în timp: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&lt; 0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≥ 0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6354" y="1964431"/>
                <a:ext cx="5181600" cy="2472681"/>
              </a:xfrm>
              <a:blipFill>
                <a:blip r:embed="rId2"/>
                <a:stretch>
                  <a:fillRect l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82BAF-7419-4AE9-8E5F-1EB8C7CC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AA8A9-876D-405C-A0DD-40DFCC8A033F}"/>
              </a:ext>
            </a:extLst>
          </p:cNvPr>
          <p:cNvSpPr txBox="1"/>
          <p:nvPr/>
        </p:nvSpPr>
        <p:spPr>
          <a:xfrm>
            <a:off x="669388" y="5341278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 Fig.3 Semnalul treaptă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068" y="702897"/>
            <a:ext cx="2439835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Semnal treaptă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6363" y="251869"/>
            <a:ext cx="4580867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elementare de bază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8F0440A-D704-23F3-E84C-D206410A6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08" y="1924071"/>
            <a:ext cx="3298105" cy="2709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FB8F18-6319-8D0F-889F-19634B9A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364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47693" y="2204864"/>
                <a:ext cx="5181600" cy="1944856"/>
              </a:xfrm>
            </p:spPr>
            <p:txBody>
              <a:bodyPr anchor="ctr"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xpresi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matematică în timp: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&lt; 0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𝑘𝑡</m:t>
                    </m:r>
                  </m:oMath>
                </a14:m>
                <a:r>
                  <a:rPr lang="ro-RO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≥ 0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47693" y="2204864"/>
                <a:ext cx="5181600" cy="1944856"/>
              </a:xfrm>
              <a:blipFill>
                <a:blip r:embed="rId2"/>
                <a:stretch>
                  <a:fillRect l="-176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82BAF-7419-4AE9-8E5F-1EB8C7CC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AA8A9-876D-405C-A0DD-40DFCC8A033F}"/>
              </a:ext>
            </a:extLst>
          </p:cNvPr>
          <p:cNvSpPr txBox="1"/>
          <p:nvPr/>
        </p:nvSpPr>
        <p:spPr>
          <a:xfrm>
            <a:off x="263352" y="5672969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Fig.4 Semnalul liniar variabil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58662" y="322858"/>
            <a:ext cx="431995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elementare de bază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3068" y="1031142"/>
            <a:ext cx="3231719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Semnal liniar variabil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7EC71513-6866-8964-6022-1BAD9C6EF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181806"/>
            <a:ext cx="3768595" cy="268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181C43-DC6A-E108-56CD-2E4116AF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992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2047347"/>
                <a:ext cx="5715000" cy="3501305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Expresia matematică în timp: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&lt; 0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/>
                        <a:ea typeface="Cambria Math" panose="02040503050406030204" pitchFamily="18" charset="0"/>
                      </a:rPr>
                      <m:t>𝑈</m:t>
                    </m:r>
                    <m:r>
                      <a:rPr lang="ro-RO" sz="2400" b="0" i="1" smtClean="0">
                        <a:latin typeface="Cambria Math"/>
                        <a:ea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ro-RO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  <m:r>
                      <a:rPr lang="ro-RO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pentru t ≥ 0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2047347"/>
                <a:ext cx="5715000" cy="3501305"/>
              </a:xfrm>
              <a:blipFill>
                <a:blip r:embed="rId2"/>
                <a:stretch>
                  <a:fillRect l="-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82BAF-7419-4AE9-8E5F-1EB8C7CC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AA8A9-876D-405C-A0DD-40DFCC8A033F}"/>
              </a:ext>
            </a:extLst>
          </p:cNvPr>
          <p:cNvSpPr txBox="1"/>
          <p:nvPr/>
        </p:nvSpPr>
        <p:spPr>
          <a:xfrm>
            <a:off x="171545" y="5584973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Fig.5 Semnalul exponențial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722077" y="275966"/>
            <a:ext cx="4530969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elementare de bază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3068" y="1031142"/>
            <a:ext cx="2892138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Semnal exponenţial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5EC3FD5-C8C2-FC98-D0B1-B959A79CB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3" y="2243398"/>
            <a:ext cx="3792150" cy="287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D2A1E-CBE7-0300-BD22-4EC1D8A3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625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249" y="125048"/>
            <a:ext cx="6969368" cy="596167"/>
          </a:xfrm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Metode de analiză a circuitelor numerice</a:t>
            </a:r>
            <a:endParaRPr lang="ro-RO" sz="2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15" y="680177"/>
            <a:ext cx="11665964" cy="598918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ro-RO" sz="8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Metoda </a:t>
            </a:r>
            <a:r>
              <a:rPr lang="ro-RO" sz="8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integro</a:t>
            </a:r>
            <a:r>
              <a:rPr lang="ro-RO" sz="8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-diferențială</a:t>
            </a:r>
            <a:r>
              <a:rPr lang="en-US" sz="8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ro-RO" sz="8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60000"/>
              </a:lnSpc>
            </a:pPr>
            <a:r>
              <a:rPr lang="ro-RO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Metodă analitică → determină forma și răspunsul matematic al unui circuit numeric pentru un anumit semnal aplicat la intrare</a:t>
            </a:r>
            <a:endParaRPr lang="en-US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ro-RO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Unui circuit → i se asociază fie o ecuație diferențială, fie un anumit timp de integrare.</a:t>
            </a:r>
          </a:p>
          <a:p>
            <a:pPr>
              <a:lnSpc>
                <a:spcPct val="160000"/>
              </a:lnSpc>
            </a:pP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acestei metode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modul de interpretare al rezultatului.</a:t>
            </a:r>
          </a:p>
          <a:p>
            <a:pPr>
              <a:lnSpc>
                <a:spcPct val="160000"/>
              </a:lnSpc>
            </a:pP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general → metode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integro-diferențiale → se aplică în principiu:</a:t>
            </a:r>
          </a:p>
          <a:p>
            <a:pPr marL="342900" lvl="1" indent="0">
              <a:lnSpc>
                <a:spcPct val="160000"/>
              </a:lnSpc>
              <a:buNone/>
            </a:pP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fr-FR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</a:t>
            </a:r>
            <a:r>
              <a:rPr lang="fr-FR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singura constată </a:t>
            </a: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notat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</a:t>
            </a:r>
            <a:r>
              <a:rPr lang="fr-FR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 → 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cu un număr redus de constante;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ro-RO" sz="8800" dirty="0"/>
          </a:p>
          <a:p>
            <a:pPr lvl="1">
              <a:buFont typeface="Wingdings" panose="05000000000000000000" pitchFamily="2" charset="2"/>
              <a:buChar char="Ø"/>
            </a:pPr>
            <a:endParaRPr lang="ro-RO" sz="3100" dirty="0"/>
          </a:p>
          <a:p>
            <a:pPr lvl="1">
              <a:buFont typeface="Wingdings" panose="05000000000000000000" pitchFamily="2" charset="2"/>
              <a:buChar char="Ø"/>
            </a:pPr>
            <a:endParaRPr lang="ro-RO" sz="3100" dirty="0"/>
          </a:p>
          <a:p>
            <a:pPr marL="457200" lvl="1" indent="0">
              <a:buNone/>
            </a:pPr>
            <a:endParaRPr lang="ro-RO" sz="3100" dirty="0"/>
          </a:p>
          <a:p>
            <a:pPr marL="342900" lvl="1" indent="0">
              <a:lnSpc>
                <a:spcPct val="170000"/>
              </a:lnSpc>
              <a:buNone/>
            </a:pP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0">
              <a:lnSpc>
                <a:spcPct val="170000"/>
              </a:lnSpc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 circuite sau semnale simple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  <a:r>
              <a:rPr lang="ro-RO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î:</a:t>
            </a: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ro-RO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rezultatele să poată fi interpretate cât mai aproape de realitate</a:t>
            </a:r>
            <a:r>
              <a:rPr 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3126A-B9FA-4D54-808E-A1A84DBEA9CC}"/>
              </a:ext>
            </a:extLst>
          </p:cNvPr>
          <p:cNvSpPr txBox="1"/>
          <p:nvPr/>
        </p:nvSpPr>
        <p:spPr>
          <a:xfrm>
            <a:off x="3828754" y="5473634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Fig.1 Circuit cu o singura constanta de timp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958" y="4518455"/>
            <a:ext cx="264795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ED233-069B-551E-60F8-338CB61B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6558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D0CCF-5052-4FAD-9163-FA245B5B232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61625" y="1402790"/>
                <a:ext cx="6230264" cy="5220747"/>
              </a:xfrm>
            </p:spPr>
            <p:txBody>
              <a:bodyPr>
                <a:normAutofit/>
              </a:bodyPr>
              <a:lstStyle/>
              <a:p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Ecuația asociată circuitului din fig.1: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ro-RO" sz="2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ro-RO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ro-RO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ro-RO" sz="2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ro-RO" sz="2200" i="1" dirty="0">
                  <a:latin typeface="Cambria Math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Dacă: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(semnal tip treaptă)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A0D0CCF-5052-4FAD-9163-FA245B5B2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61625" y="1402790"/>
                <a:ext cx="6230264" cy="5220747"/>
              </a:xfrm>
              <a:blipFill rotWithShape="1">
                <a:blip r:embed="rId2"/>
                <a:stretch>
                  <a:fillRect l="-1174" t="-128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F4FC2-1E15-409D-9B1E-5813CD1F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17B47-436C-4353-BEDF-72C8E8454943}"/>
              </a:ext>
            </a:extLst>
          </p:cNvPr>
          <p:cNvSpPr txBox="1"/>
          <p:nvPr/>
        </p:nvSpPr>
        <p:spPr>
          <a:xfrm>
            <a:off x="833068" y="3432947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Fig.1 Circuit cu o singura constanta de timp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57EEA-8FEE-4139-BC65-52251C2B81B3}"/>
              </a:ext>
            </a:extLst>
          </p:cNvPr>
          <p:cNvSpPr txBox="1"/>
          <p:nvPr/>
        </p:nvSpPr>
        <p:spPr>
          <a:xfrm>
            <a:off x="833068" y="5812295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Fig.2  Diagrama tensiune - timp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2369144" y="353402"/>
            <a:ext cx="6969368" cy="596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002060"/>
                </a:solidFill>
              </a:rPr>
              <a:t>Metode de analiză a circuitelor numerice</a:t>
            </a:r>
            <a:endParaRPr lang="ro-RO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3068" y="1086250"/>
            <a:ext cx="3776996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 integro-diferențială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7">
                <a:extLst>
                  <a:ext uri="{FF2B5EF4-FFF2-40B4-BE49-F238E27FC236}">
                    <a16:creationId xmlns:a16="http://schemas.microsoft.com/office/drawing/2014/main" id="{473C7078-77A1-4978-BD9F-E640DC6A7B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42539" y="3740724"/>
                <a:ext cx="5181600" cy="1603375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Exprimarea în timp: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&lt; 0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o-RO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pentru t ≥ 0</a:t>
                </a:r>
              </a:p>
            </p:txBody>
          </p:sp>
        </mc:Choice>
        <mc:Fallback xmlns="">
          <p:sp>
            <p:nvSpPr>
              <p:cNvPr id="14" name="Content Placeholder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73C7078-77A1-4978-BD9F-E640DC6A7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42539" y="3740724"/>
                <a:ext cx="5181600" cy="1603375"/>
              </a:xfrm>
              <a:blipFill rotWithShape="1">
                <a:blip r:embed="rId4"/>
                <a:stretch>
                  <a:fillRect l="-1294" b="-22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591" y="1978906"/>
            <a:ext cx="26479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289" y="4034218"/>
            <a:ext cx="2132553" cy="168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697CA-EE14-6578-B1E5-F7B04F0D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396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A0D0CCF-5052-4FAD-9163-FA245B5B232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03010" y="976461"/>
                <a:ext cx="6230264" cy="56353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o-RO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ro-RO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ro-RO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ro-RO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o-RO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ro-RO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ro-RO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ro-RO" sz="2800" b="0" i="1" dirty="0">
                  <a:solidFill>
                    <a:srgbClr val="00B05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Rezolvare ecuaţie: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ro-RO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valoarea finală a răspunsului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ro-RO" sz="2600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m:rPr>
                        <m:nor/>
                      </m:rPr>
                      <a:rPr lang="ro-RO" sz="2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→ valoarea </m:t>
                    </m:r>
                    <m:r>
                      <m:rPr>
                        <m:nor/>
                      </m:rPr>
                      <a:rPr lang="ro-RO" sz="26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iniţială</m:t>
                    </m:r>
                  </m:oMath>
                </a14:m>
                <a:r>
                  <a:rPr lang="ro-RO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răspunsului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Observaţie: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se cunoaşte valoarea finală şi iniţială a răspunsului: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poate determina forma de variaţie a semnalului de la ieşire → în orice moment.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A0D0CCF-5052-4FAD-9163-FA245B5B2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03010" y="976461"/>
                <a:ext cx="6230264" cy="5635354"/>
              </a:xfrm>
              <a:blipFill rotWithShape="1">
                <a:blip r:embed="rId2"/>
                <a:stretch>
                  <a:fillRect l="-107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F4FC2-1E15-409D-9B1E-5813CD1F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17B47-436C-4353-BEDF-72C8E8454943}"/>
              </a:ext>
            </a:extLst>
          </p:cNvPr>
          <p:cNvSpPr txBox="1"/>
          <p:nvPr/>
        </p:nvSpPr>
        <p:spPr>
          <a:xfrm>
            <a:off x="833068" y="3432947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Fig.1 Circuit cu o singura constanta de timp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57EEA-8FEE-4139-BC65-52251C2B81B3}"/>
              </a:ext>
            </a:extLst>
          </p:cNvPr>
          <p:cNvSpPr txBox="1"/>
          <p:nvPr/>
        </p:nvSpPr>
        <p:spPr>
          <a:xfrm>
            <a:off x="833068" y="5812295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Fig.2  Diagrama tensiune - timp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2369144" y="353402"/>
            <a:ext cx="6969368" cy="596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002060"/>
                </a:solidFill>
              </a:rPr>
              <a:t>Metode de analiză a circuitelor numerice</a:t>
            </a:r>
            <a:endParaRPr lang="ro-RO" sz="2800" b="1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3068" y="1086250"/>
            <a:ext cx="3776996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 integro-diferențială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591" y="1978906"/>
            <a:ext cx="2647950" cy="98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/>
          <p:cNvCxnSpPr/>
          <p:nvPr/>
        </p:nvCxnSpPr>
        <p:spPr>
          <a:xfrm flipH="1">
            <a:off x="2111022" y="3586835"/>
            <a:ext cx="4244622" cy="8271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930400" y="4000395"/>
            <a:ext cx="4334933" cy="12602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92" y="3941763"/>
            <a:ext cx="2132553" cy="168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444037" y="2493515"/>
                <a:ext cx="6579493" cy="55739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den>
                        </m:f>
                      </m:sup>
                    </m:sSup>
                    <m:r>
                      <a:rPr lang="ro-RO" sz="2200" b="1">
                        <a:solidFill>
                          <a:srgbClr val="002060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037" y="2493515"/>
                <a:ext cx="6579493" cy="557397"/>
              </a:xfrm>
              <a:prstGeom prst="rect">
                <a:avLst/>
              </a:prstGeom>
              <a:blipFill rotWithShape="1">
                <a:blip r:embed="rId5"/>
                <a:stretch>
                  <a:fillRect r="-278" b="-20430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9389E-BDCA-1A5F-028A-9CF33DE4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697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D317-ECEA-4514-AFDE-6529A1E7E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84" y="1012613"/>
            <a:ext cx="11201399" cy="540784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descompune semnalul aplicat la intrarea unui circuit pe intervale de timp: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semnale elementare de tip: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determina răspunsul circuitului la semnalele elementare pe intervale de timp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 una din metodele integro-diferențiale.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Exemplu: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tiliza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integrala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Duhamel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folosind formula:</a:t>
            </a: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C0FFE-0B9D-4D9A-9BC2-F3318398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3C32A-6FE3-494F-AEBA-4A22C54AC487}"/>
              </a:ext>
            </a:extLst>
          </p:cNvPr>
          <p:cNvSpPr txBox="1"/>
          <p:nvPr/>
        </p:nvSpPr>
        <p:spPr>
          <a:xfrm>
            <a:off x="9648093" y="4699380"/>
            <a:ext cx="77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(2)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068" y="527051"/>
            <a:ext cx="462100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 suprapunerii efectelor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797661" y="4564888"/>
                <a:ext cx="5997026" cy="63831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ro-RO" sz="2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61" y="4564888"/>
                <a:ext cx="5997026" cy="6383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97661" y="6012950"/>
                <a:ext cx="1884875" cy="640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61" y="6012950"/>
                <a:ext cx="1884875" cy="6409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994029" y="1314942"/>
            <a:ext cx="351692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Treaptă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Liniar variabil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Exponențial</a:t>
            </a:r>
          </a:p>
        </p:txBody>
      </p:sp>
      <p:sp>
        <p:nvSpPr>
          <p:cNvPr id="14" name="Left Brace 13"/>
          <p:cNvSpPr/>
          <p:nvPr/>
        </p:nvSpPr>
        <p:spPr>
          <a:xfrm>
            <a:off x="4796174" y="1688123"/>
            <a:ext cx="232043" cy="1066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Rectangle 14"/>
          <p:cNvSpPr/>
          <p:nvPr/>
        </p:nvSpPr>
        <p:spPr>
          <a:xfrm>
            <a:off x="1785937" y="5449285"/>
            <a:ext cx="95502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A(t) 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tranziție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transfer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indicială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3C32A-6FE3-494F-AEBA-4A22C54AC487}"/>
              </a:ext>
            </a:extLst>
          </p:cNvPr>
          <p:cNvSpPr txBox="1"/>
          <p:nvPr/>
        </p:nvSpPr>
        <p:spPr>
          <a:xfrm>
            <a:off x="9999786" y="6148756"/>
            <a:ext cx="77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(3)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F3C57-DBCC-7224-5D1D-040F98E9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55</a:t>
            </a:fld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1FA3B5-5F17-5BA7-A300-CEA2D7D26E12}"/>
              </a:ext>
            </a:extLst>
          </p:cNvPr>
          <p:cNvSpPr txBox="1">
            <a:spLocks/>
          </p:cNvSpPr>
          <p:nvPr/>
        </p:nvSpPr>
        <p:spPr>
          <a:xfrm>
            <a:off x="2135560" y="51974"/>
            <a:ext cx="6969368" cy="596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002060"/>
                </a:solidFill>
              </a:rPr>
              <a:t>Metode de analiză a circuitelor numerice</a:t>
            </a:r>
            <a:endParaRPr lang="ro-RO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75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4" grpId="0" animBg="1"/>
      <p:bldP spid="15" grpId="0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6A64-E8BB-451F-B06C-361CB031E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2420888"/>
            <a:ext cx="10515600" cy="25076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determină valorile răspunsului în puncte esențiale.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însumează răspunsul circuitului pe intervale de timp: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urmare a răspunsului la semnale elementare.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722AA-2D52-4BC2-BC2E-729DFA10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8" name="Rectangle 7"/>
          <p:cNvSpPr/>
          <p:nvPr/>
        </p:nvSpPr>
        <p:spPr>
          <a:xfrm>
            <a:off x="857476" y="1484784"/>
            <a:ext cx="4264052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Metoda suprapunerii efectelor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70948-8531-E052-97EE-D484DE82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56</a:t>
            </a:fld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6CEB1D-40F7-8990-D712-8EE2771D6CDC}"/>
              </a:ext>
            </a:extLst>
          </p:cNvPr>
          <p:cNvSpPr txBox="1">
            <a:spLocks/>
          </p:cNvSpPr>
          <p:nvPr/>
        </p:nvSpPr>
        <p:spPr>
          <a:xfrm>
            <a:off x="2369144" y="353402"/>
            <a:ext cx="6969368" cy="596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002060"/>
                </a:solidFill>
              </a:rPr>
              <a:t>Metode de analiză a circuitelor numerice</a:t>
            </a:r>
            <a:endParaRPr lang="ro-RO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8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9B935A9-C51D-4D7B-A602-ED75865BF52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03270" y="2267468"/>
                <a:ext cx="6736329" cy="3909495"/>
              </a:xfrm>
            </p:spPr>
            <p:txBody>
              <a:bodyPr anchor="ctr"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intervalul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200" b="0" i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poate observa un semnal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amplitudine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U 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 tinde spre ∞;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o-RO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anula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continuarea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∞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aplică al doilea semnal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ampitudine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-U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Adunând cele două semnale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 de bază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B935A9-C51D-4D7B-A602-ED75865BF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03270" y="2267468"/>
                <a:ext cx="6736329" cy="3909495"/>
              </a:xfrm>
              <a:blipFill rotWithShape="1">
                <a:blip r:embed="rId2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D481A-41E2-420B-812B-A1064313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2E465-2DEC-4F97-A4FA-B66BF6EEB92D}"/>
              </a:ext>
            </a:extLst>
          </p:cNvPr>
          <p:cNvSpPr txBox="1"/>
          <p:nvPr/>
        </p:nvSpPr>
        <p:spPr>
          <a:xfrm>
            <a:off x="303670" y="652701"/>
            <a:ext cx="109927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general → orice semnal poate fi descompus în cele trei semnale de bază 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Exemplu: Descompunerea unui semnal impuls în semnal elementar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74F04-4446-470F-B548-1995C1E09ECE}"/>
              </a:ext>
            </a:extLst>
          </p:cNvPr>
          <p:cNvSpPr txBox="1"/>
          <p:nvPr/>
        </p:nvSpPr>
        <p:spPr>
          <a:xfrm>
            <a:off x="496803" y="6456522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Fig.6 Descompunere semnal treaptă în semnale de bază</a:t>
            </a:r>
          </a:p>
        </p:txBody>
      </p:sp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2718974" y="110134"/>
            <a:ext cx="4760349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elementare de bază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06" y="1760697"/>
            <a:ext cx="417481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1919536" y="2924944"/>
            <a:ext cx="5112568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639616" y="3429000"/>
            <a:ext cx="8656783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424415" y="4509120"/>
            <a:ext cx="4543592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06" y="1665447"/>
            <a:ext cx="4446405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Arrow Connector 22"/>
          <p:cNvCxnSpPr/>
          <p:nvPr/>
        </p:nvCxnSpPr>
        <p:spPr>
          <a:xfrm flipH="1">
            <a:off x="2473008" y="4941168"/>
            <a:ext cx="8663552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2473008" y="4725144"/>
            <a:ext cx="297492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473008" y="5301208"/>
            <a:ext cx="3046928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/>
          <p:cNvCxnSpPr/>
          <p:nvPr/>
        </p:nvCxnSpPr>
        <p:spPr>
          <a:xfrm flipH="1" flipV="1">
            <a:off x="2473008" y="2852936"/>
            <a:ext cx="3327026" cy="30243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55C66-F9B1-0C7F-8A90-73341D8E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132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9B935A9-C51D-4D7B-A602-ED75865BF52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21210" y="1693037"/>
                <a:ext cx="6527658" cy="3909495"/>
              </a:xfrm>
            </p:spPr>
            <p:txBody>
              <a:bodyPr anchor="ctr"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 b="0" i="0" smtClean="0">
                        <a:latin typeface="Cambria Math"/>
                      </a:rPr>
                      <m:t> :</m:t>
                    </m:r>
                  </m:oMath>
                </a14:m>
                <a:endParaRPr lang="ro-RO" sz="2200" b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 un alt semnal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amplitudine U: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care tinde spre ∞ ..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s.a.m.d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notează  semnalele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ordinea apariţiei: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latin typeface="Cambria Math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b="0" i="1" smtClean="0">
                        <a:latin typeface="Cambria Math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ro-RO" sz="2200" b="0" i="1" dirty="0">
                  <a:latin typeface="Cambria Math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o-RO" sz="2200" b="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B935A9-C51D-4D7B-A602-ED75865BF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21210" y="1693037"/>
                <a:ext cx="6527658" cy="3909495"/>
              </a:xfrm>
              <a:blipFill rotWithShape="1">
                <a:blip r:embed="rId2"/>
                <a:stretch>
                  <a:fillRect l="-74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D481A-41E2-420B-812B-A1064313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2E465-2DEC-4F97-A4FA-B66BF6EEB92D}"/>
              </a:ext>
            </a:extLst>
          </p:cNvPr>
          <p:cNvSpPr txBox="1"/>
          <p:nvPr/>
        </p:nvSpPr>
        <p:spPr>
          <a:xfrm>
            <a:off x="310661" y="935449"/>
            <a:ext cx="10992729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procesul continuă → se consideră un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impulsuri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74F04-4446-470F-B548-1995C1E09ECE}"/>
              </a:ext>
            </a:extLst>
          </p:cNvPr>
          <p:cNvSpPr txBox="1"/>
          <p:nvPr/>
        </p:nvSpPr>
        <p:spPr>
          <a:xfrm>
            <a:off x="303671" y="643380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Fig.6 Descompunere semnal treaptă în semnale de bază</a:t>
            </a:r>
          </a:p>
        </p:txBody>
      </p:sp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2718974" y="110134"/>
            <a:ext cx="4760349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Semnale elementare de bază 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533439" y="5589175"/>
                <a:ext cx="4766241" cy="507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439" y="5589175"/>
                <a:ext cx="4766241" cy="507703"/>
              </a:xfrm>
              <a:prstGeom prst="rect">
                <a:avLst/>
              </a:prstGeom>
              <a:blipFill rotWithShape="1">
                <a:blip r:embed="rId5"/>
                <a:stretch>
                  <a:fillRect l="-895" b="-963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18" y="1486970"/>
            <a:ext cx="41624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3287688" y="2204864"/>
            <a:ext cx="3672408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287688" y="2708920"/>
            <a:ext cx="7272808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8" y="1455687"/>
            <a:ext cx="4785489" cy="4983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 flipH="1">
            <a:off x="1703512" y="4293096"/>
            <a:ext cx="439248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135560" y="4869160"/>
            <a:ext cx="3816424" cy="11898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503712" y="4581128"/>
            <a:ext cx="2448272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40F086-1A96-4CBB-327F-8180FA51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516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93337B-C4DC-4672-A53E-BEB748B8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271400"/>
            <a:ext cx="5977880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938582-AD1B-4C5F-A11F-7B0A6B6B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08" y="1051902"/>
            <a:ext cx="10515600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acele circuite la intrarea cărora se aplică un semnal liniar în urma căruia apar modificări liniare.</a:t>
            </a:r>
          </a:p>
          <a:p>
            <a:pPr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 această clasă fac parte circuitele care au în componența lor rezistențe, capacități, inductanțe.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nductanțele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pot fi integrate (sârmele)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rămân pentru studiu doar circuitele ce au în componența lor → rezistențe și capacități.</a:t>
            </a:r>
          </a:p>
          <a:p>
            <a:pPr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analizează comportamentul circuitelor RC deoarece capacitatea își face simțită prezența chiar dacă nu există o capacitate intrinsecă.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3CC7A-FC70-4D49-AB2D-42383BFF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897F1-06E3-DCB2-F0FF-E4A7F3EC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907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54" y="548680"/>
            <a:ext cx="11400692" cy="6009846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se aplică un semnal sinusoidal la intrarea unui circuit liniar: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răspunsul va avea tot o formă sinusoidală. 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cazul semnalelor </a:t>
            </a:r>
            <a:r>
              <a:rPr lang="ro-RO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nesinusoidale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suferă distorsiuni → când se transmit prin circuite liniare.</a:t>
            </a:r>
          </a:p>
          <a:p>
            <a:pPr lvl="1">
              <a:lnSpc>
                <a:spcPct val="150000"/>
              </a:lnSpc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Fenomenul respectiv → cunoscut sub denumirea de „transformare liniară” a semnalelor.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 categoria circuitelor liniare fac parte: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cu elemente pasive RC, LC, RLC;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transformatoarele de impulsuri;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linii de întârzieri;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amplificatoare de impulsuri.</a:t>
            </a:r>
          </a:p>
          <a:p>
            <a:pPr>
              <a:lnSpc>
                <a:spcPct val="150000"/>
              </a:lnSpc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continuare se vor analiza transformările liniare de tip RC.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F6E0A7D-AB83-D80A-D14F-06B3A10C0034}"/>
              </a:ext>
            </a:extLst>
          </p:cNvPr>
          <p:cNvSpPr txBox="1">
            <a:spLocks/>
          </p:cNvSpPr>
          <p:nvPr/>
        </p:nvSpPr>
        <p:spPr>
          <a:xfrm>
            <a:off x="2567608" y="17457"/>
            <a:ext cx="5977880" cy="60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FA2911-FA15-0B6A-C6AB-177CEBDE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790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74" y="1043354"/>
            <a:ext cx="10852052" cy="528710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o-RO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Influența rezistențelor: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obține frecvențe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cât mai mari → așa cum se dorește: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alculatorul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dotat cu circuite integrate → timp de răspuns cât mai mic: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rezistența circuitului.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trebuie astfel concepute → încât să aibă rezistența de ieșire → cât mai mică.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Distanța cea mai mică → punctul:</a:t>
            </a:r>
          </a:p>
          <a:p>
            <a:pPr lvl="1"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Diametrul punctului → dat de tehnologia respectivă: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Microelentronica – punctul (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m)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Nanoelectronica – punctul (nm)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Remarcă: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punctul → are o rezistență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C0ECE7F-41D0-510E-9D76-528928B5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271400"/>
            <a:ext cx="5977880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AD10E-849D-4316-5ECE-3F60741F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425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15" y="1043354"/>
            <a:ext cx="11506200" cy="43513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se dorește integrarea unei rezistențe → o linie: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rezistența acestei linii este proporțională cu lungimea și invers proporțională cu lățimea:</a:t>
            </a: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avea rezistențe cât mai mici → trebuie ca lungimea (l) să fie cât mai mică.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003271-1275-4280-BFD7-2D0CF2A2DD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006" y="3249845"/>
            <a:ext cx="2926456" cy="76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9B440A-43F0-4EF6-8C22-38015D529420}"/>
              </a:ext>
            </a:extLst>
          </p:cNvPr>
          <p:cNvSpPr txBox="1"/>
          <p:nvPr/>
        </p:nvSpPr>
        <p:spPr>
          <a:xfrm>
            <a:off x="3711526" y="429278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Fig.1 Rezistență linie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FEC6273-5F96-BE81-2001-A9AB11FD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271400"/>
            <a:ext cx="5977880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ED25F-9923-145E-8D8A-02124520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413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F603-170F-406A-A084-2C642B93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476671"/>
            <a:ext cx="11034933" cy="6244807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Influența capacităților: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micșorarea distanței dintre componente și a dimensiunii acestora: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 mare de integrare =&gt; creșterea frecvenței de lucru.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componentele electronice → au o limită până la care pot funcționa corect.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calculator lucrează secvențial:</a:t>
            </a:r>
          </a:p>
          <a:p>
            <a:pPr lvl="1">
              <a:lnSpc>
                <a:spcPct val="16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execută o instrucțiune → se așteaptă până se termină :</a:t>
            </a:r>
          </a:p>
          <a:p>
            <a:pPr lvl="2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putea fi preluată a doua instrucțiune.</a:t>
            </a:r>
          </a:p>
          <a:p>
            <a:pPr>
              <a:lnSpc>
                <a:spcPct val="16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permanență există dorința de a se executa cât mai multe instrucțiuni în același timp.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fost făcute constant cercetări în domeniu și au apărut astfel microprocesoare: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lucrează la frecvențe mari.</a:t>
            </a:r>
          </a:p>
          <a:p>
            <a:pPr marL="0" indent="0">
              <a:lnSpc>
                <a:spcPct val="160000"/>
              </a:lnSpc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542D7-1204-41BB-A7E3-48BED04A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267E1283-31B9-FD3E-3197-E28AC3F8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134522"/>
            <a:ext cx="5977880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A95BA-426A-3C80-45F1-DEFFDF75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31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2E3E61-3348-4EFF-902D-497ECF643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2538" y="1905746"/>
            <a:ext cx="5181600" cy="4351338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intermediul firului se deplasează un semnal numeric, curent, sarcini electrice.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acest motiv, firul are un comportament capacitiv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între fir și masă apar capacități parazite proporționale cu lungimea firului (până la masă).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3962C-36CF-4B65-98B0-D4BDA615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5DD59-C779-4B16-9C55-25A115F3E0DF}"/>
              </a:ext>
            </a:extLst>
          </p:cNvPr>
          <p:cNvSpPr txBox="1"/>
          <p:nvPr/>
        </p:nvSpPr>
        <p:spPr>
          <a:xfrm>
            <a:off x="1161757" y="5636758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ro-RO" sz="1400" dirty="0"/>
              <a:t>7</a:t>
            </a:r>
            <a:r>
              <a:rPr lang="it-IT" sz="1400" dirty="0"/>
              <a:t> Conexiune porţi/ Capacităţi parazite</a:t>
            </a:r>
            <a:endParaRPr lang="ro-RO" sz="1400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693337B-C4DC-4672-A53E-BEB748B8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359137"/>
            <a:ext cx="6985992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0646" y="967027"/>
            <a:ext cx="11054862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consideră 2 circuite conectate între ele printr-un fir (sârmă) sau cablaj imprimat.</a:t>
            </a: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23" y="2503487"/>
            <a:ext cx="3955887" cy="27571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E19B3D-FDF7-1F86-3877-25B91A14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547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D2E3E61-3348-4EFF-902D-497ECF6439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52847" y="1966302"/>
                <a:ext cx="5181600" cy="4351338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capacitatea de ieșire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capacitatea de intrare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𝑓𝑖𝑟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capacitatea de fir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capacitatea parazită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÷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 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÷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𝑓𝑖𝑟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tehnologia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fabrica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ție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D2E3E61-3348-4EFF-902D-497ECF643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52847" y="1966302"/>
                <a:ext cx="5181600" cy="4351338"/>
              </a:xfrm>
              <a:blipFill>
                <a:blip r:embed="rId2"/>
                <a:stretch>
                  <a:fillRect l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3962C-36CF-4B65-98B0-D4BDA615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2CB3-B512-4156-B26E-54ADB12B098C}"/>
              </a:ext>
            </a:extLst>
          </p:cNvPr>
          <p:cNvSpPr txBox="1"/>
          <p:nvPr/>
        </p:nvSpPr>
        <p:spPr>
          <a:xfrm>
            <a:off x="1161757" y="5636758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ro-RO" sz="1400" dirty="0"/>
              <a:t>7</a:t>
            </a:r>
            <a:r>
              <a:rPr lang="it-IT" sz="1400" dirty="0"/>
              <a:t> Conexiune porţi/ Capacităţi parazite</a:t>
            </a:r>
            <a:endParaRPr lang="ro-RO" sz="1400" dirty="0"/>
          </a:p>
        </p:txBody>
      </p:sp>
      <p:sp>
        <p:nvSpPr>
          <p:cNvPr id="6" name="Rectangle 5"/>
          <p:cNvSpPr/>
          <p:nvPr/>
        </p:nvSpPr>
        <p:spPr>
          <a:xfrm>
            <a:off x="480646" y="1357482"/>
            <a:ext cx="1105486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Rezultă că → întotdeauna există capacități parazite → distribuite în circuite.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19" y="2126923"/>
            <a:ext cx="4008614" cy="29079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65C6C433-7230-36DC-CD60-9F9A550B6EC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6985992" cy="60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312F38-9B02-AA98-308E-9883CBF1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5119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D2E3E61-3348-4EFF-902D-497ECF6439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96244" y="2105856"/>
                <a:ext cx="6308188" cy="3612662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o capacitate de ieșire: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orice circuit are un comportament capacitiv.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capacitățile distribuite → plasate pe ieșirea porților → au efectul cel mai defavorabil: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Capacitatea parazită are forma:</a:t>
                </a:r>
                <a:endParaRPr lang="ro-RO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𝑓𝑖𝑟</m:t>
                            </m:r>
                          </m:sub>
                        </m:sSub>
                      </m:e>
                    </m:nary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D2E3E61-3348-4EFF-902D-497ECF643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96244" y="2105856"/>
                <a:ext cx="6308188" cy="3612662"/>
              </a:xfrm>
              <a:blipFill rotWithShape="1">
                <a:blip r:embed="rId2"/>
                <a:stretch>
                  <a:fillRect l="-1063" b="-1686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3962C-36CF-4B65-98B0-D4BDA615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344627"/>
            <a:ext cx="4114800" cy="365125"/>
          </a:xfrm>
        </p:spPr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6E183-4EC6-4337-B8C1-68782952762D}"/>
              </a:ext>
            </a:extLst>
          </p:cNvPr>
          <p:cNvSpPr txBox="1"/>
          <p:nvPr/>
        </p:nvSpPr>
        <p:spPr>
          <a:xfrm>
            <a:off x="633045" y="5236596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ro-RO" sz="1400" dirty="0"/>
              <a:t>7</a:t>
            </a:r>
            <a:r>
              <a:rPr lang="it-IT" sz="1400" dirty="0"/>
              <a:t> Conexiune porţi/ Capacităţi parazite</a:t>
            </a:r>
            <a:endParaRPr lang="ro-RO" sz="1400" dirty="0"/>
          </a:p>
        </p:txBody>
      </p:sp>
      <p:sp>
        <p:nvSpPr>
          <p:cNvPr id="6" name="Rectangle 5"/>
          <p:cNvSpPr/>
          <p:nvPr/>
        </p:nvSpPr>
        <p:spPr>
          <a:xfrm>
            <a:off x="633045" y="997859"/>
            <a:ext cx="105507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se comportă întotdeauna cel mai bine dacă → plasată la ieșirea unui circuit.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982" y="5718517"/>
            <a:ext cx="259666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Capacitatea de fir: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0" y="551076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 proporțională cu lungimea firului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 proporțională cu → distanța față de masă.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766646" y="5884985"/>
            <a:ext cx="281354" cy="198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66646" y="6083033"/>
            <a:ext cx="281354" cy="200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19" y="2126923"/>
            <a:ext cx="4008614" cy="29079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A4C1E456-1EFE-8530-2F1B-FB62817C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004" y="257608"/>
            <a:ext cx="6985992" cy="60789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78C71E-0689-C5AC-4785-2400FDAC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8877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0438F-EA21-42AA-B989-D263E96B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Electronică Digitală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48D82D-AE55-42D8-A8A9-2A7D2C6ACABE}"/>
              </a:ext>
            </a:extLst>
          </p:cNvPr>
          <p:cNvSpPr txBox="1"/>
          <p:nvPr/>
        </p:nvSpPr>
        <p:spPr>
          <a:xfrm>
            <a:off x="599158" y="5131276"/>
            <a:ext cx="529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Fig.</a:t>
            </a:r>
            <a:r>
              <a:rPr lang="ro-RO" dirty="0"/>
              <a:t>8</a:t>
            </a:r>
            <a:r>
              <a:rPr lang="it-IT" dirty="0"/>
              <a:t> Echivalare poartă cu capacitate parazită la ieşire cu o rezistenţă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31C67-506E-4560-8E76-064BC4477335}"/>
              </a:ext>
            </a:extLst>
          </p:cNvPr>
          <p:cNvSpPr txBox="1"/>
          <p:nvPr/>
        </p:nvSpPr>
        <p:spPr>
          <a:xfrm>
            <a:off x="6569477" y="5131276"/>
            <a:ext cx="529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Fig.</a:t>
            </a:r>
            <a:r>
              <a:rPr lang="ro-RO" dirty="0"/>
              <a:t>9</a:t>
            </a:r>
            <a:r>
              <a:rPr lang="it-IT" dirty="0"/>
              <a:t> Echivalent pentru desenul din fig.</a:t>
            </a:r>
            <a:r>
              <a:rPr lang="ro-RO" dirty="0"/>
              <a:t>8</a:t>
            </a: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36" y="1756374"/>
            <a:ext cx="5496842" cy="2646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71" y="2167044"/>
            <a:ext cx="5011773" cy="24839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E66CFCBF-5C4B-82E6-64C1-E9FCA763660F}"/>
              </a:ext>
            </a:extLst>
          </p:cNvPr>
          <p:cNvSpPr txBox="1">
            <a:spLocks/>
          </p:cNvSpPr>
          <p:nvPr/>
        </p:nvSpPr>
        <p:spPr>
          <a:xfrm>
            <a:off x="2401602" y="399126"/>
            <a:ext cx="6985992" cy="607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pentru transformări liniare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6FD93-DB23-0EFF-17CE-DF0E7BC6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5949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Vă mulțumesc pentru atenție!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32522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375DBE93-D1A0-48BE-B60F-9C089715AA3E}" vid="{1E6B53E7-D096-4117-9E48-D46D6729C3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ptx" id="{375DBE93-D1A0-48BE-B60F-9C089715AA3E}" vid="{CBD31931-9BC8-43D4-94C2-D9FE130F7104}"/>
    </a:ext>
  </a:extLst>
</a:theme>
</file>

<file path=ppt/theme/theme3.xml><?xml version="1.0" encoding="utf-8"?>
<a:theme xmlns:a="http://schemas.openxmlformats.org/drawingml/2006/main" name="1_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4918</Words>
  <Application>Microsoft Office PowerPoint</Application>
  <PresentationFormat>Widescreen</PresentationFormat>
  <Paragraphs>786</Paragraphs>
  <Slides>68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Constantia</vt:lpstr>
      <vt:lpstr>Courier New</vt:lpstr>
      <vt:lpstr>Symbol</vt:lpstr>
      <vt:lpstr>Times New Roman</vt:lpstr>
      <vt:lpstr>Tw Cen MT</vt:lpstr>
      <vt:lpstr>Wingdings</vt:lpstr>
      <vt:lpstr>Wingdings 2</vt:lpstr>
      <vt:lpstr>Circuit</vt:lpstr>
      <vt:lpstr>Office Theme</vt:lpstr>
      <vt:lpstr>1_Circuit</vt:lpstr>
      <vt:lpstr>Bitmap Image</vt:lpstr>
      <vt:lpstr>electronică Digitală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Semnale elementare de bază </vt:lpstr>
      <vt:lpstr>Semnale elementare de bază </vt:lpstr>
      <vt:lpstr>Metode de analiză a circuitelor numerice</vt:lpstr>
      <vt:lpstr>PowerPoint Presentation</vt:lpstr>
      <vt:lpstr>PowerPoint Presentation</vt:lpstr>
      <vt:lpstr>PowerPoint Presentation</vt:lpstr>
      <vt:lpstr>PowerPoint Presentation</vt:lpstr>
      <vt:lpstr>Semnale elementare de bază </vt:lpstr>
      <vt:lpstr>Semnale elementare de bază </vt:lpstr>
      <vt:lpstr>Circuite pentru transformări liniare</vt:lpstr>
      <vt:lpstr>PowerPoint Presentation</vt:lpstr>
      <vt:lpstr>Circuite pentru transformări liniare</vt:lpstr>
      <vt:lpstr>Circuite pentru transformări liniare</vt:lpstr>
      <vt:lpstr>Circuite pentru transformări liniare</vt:lpstr>
      <vt:lpstr>Circuite pentru transformări liniare</vt:lpstr>
      <vt:lpstr>PowerPoint Presentation</vt:lpstr>
      <vt:lpstr>Circuite pentru transformări liniare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Lucian Gaina</dc:creator>
  <cp:lastModifiedBy>Daniela Stanescu</cp:lastModifiedBy>
  <cp:revision>212</cp:revision>
  <dcterms:created xsi:type="dcterms:W3CDTF">2020-09-30T18:14:51Z</dcterms:created>
  <dcterms:modified xsi:type="dcterms:W3CDTF">2026-09-29T09:25:21Z</dcterms:modified>
</cp:coreProperties>
</file>