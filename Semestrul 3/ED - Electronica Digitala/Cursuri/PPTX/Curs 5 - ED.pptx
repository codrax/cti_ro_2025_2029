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62" r:id="rId2"/>
  </p:sldMasterIdLst>
  <p:notesMasterIdLst>
    <p:notesMasterId r:id="rId64"/>
  </p:notesMasterIdLst>
  <p:handoutMasterIdLst>
    <p:handoutMasterId r:id="rId65"/>
  </p:handoutMasterIdLst>
  <p:sldIdLst>
    <p:sldId id="256" r:id="rId3"/>
    <p:sldId id="339" r:id="rId4"/>
    <p:sldId id="340" r:id="rId5"/>
    <p:sldId id="341" r:id="rId6"/>
    <p:sldId id="342" r:id="rId7"/>
    <p:sldId id="343" r:id="rId8"/>
    <p:sldId id="344" r:id="rId9"/>
    <p:sldId id="350" r:id="rId10"/>
    <p:sldId id="347" r:id="rId11"/>
    <p:sldId id="348" r:id="rId12"/>
    <p:sldId id="351" r:id="rId13"/>
    <p:sldId id="31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69" r:id="rId39"/>
    <p:sldId id="370" r:id="rId40"/>
    <p:sldId id="336" r:id="rId41"/>
    <p:sldId id="337" r:id="rId42"/>
    <p:sldId id="338" r:id="rId43"/>
    <p:sldId id="378" r:id="rId44"/>
    <p:sldId id="379" r:id="rId45"/>
    <p:sldId id="380" r:id="rId46"/>
    <p:sldId id="382" r:id="rId47"/>
    <p:sldId id="383" r:id="rId48"/>
    <p:sldId id="384" r:id="rId49"/>
    <p:sldId id="385" r:id="rId50"/>
    <p:sldId id="386" r:id="rId51"/>
    <p:sldId id="387" r:id="rId52"/>
    <p:sldId id="388" r:id="rId53"/>
    <p:sldId id="389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398" r:id="rId62"/>
    <p:sldId id="295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9645" autoAdjust="0"/>
  </p:normalViewPr>
  <p:slideViewPr>
    <p:cSldViewPr snapToGrid="0">
      <p:cViewPr varScale="1">
        <p:scale>
          <a:sx n="83" d="100"/>
          <a:sy n="83" d="100"/>
        </p:scale>
        <p:origin x="12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E372D8-6F3F-4772-B055-C2035B91B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5DE29-39E1-44BF-9F6D-A455C4EA1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61D1-D8BB-4F8E-8568-4911F02FDCA5}" type="datetimeFigureOut">
              <a:rPr lang="ro-RO" smtClean="0"/>
              <a:t>02.11.2025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5CFEC-1C70-4D90-83E9-4E1D3D0E33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9054-B9FC-4D5F-8C1A-999E3345AD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DF158-E70D-46E6-ABBA-93AC3048441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205281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0-30T19:56:10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7638 1129 0</inkml:trace>
  <inkml:trace contextRef="#ctx0" brushRef="#br0" timeOffset="1214.58">7638 1129 0</inkml:trace>
  <inkml:trace contextRef="#ctx0" brushRef="#br0" timeOffset="2129.6">7638 1129 0</inkml:trace>
  <inkml:trace contextRef="#ctx0" brushRef="#br0" timeOffset="2712.86">7638 1129 0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6F46-A423-4663-86EC-02ABB9243E3F}" type="datetimeFigureOut">
              <a:rPr lang="ro-RO" smtClean="0"/>
              <a:t>02.11.2025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D4C6F-B1B6-44E0-8719-2227692C165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27392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464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282D8-D9A3-49FC-A47C-4B0EAD250BD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6152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631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612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971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57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810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640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403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521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51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27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176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92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543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867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336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58635A-2484-4F5B-B9BE-A56859E1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EE71D-7364-46F7-B8B3-D86CF6C9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51DF43-45A8-4A94-9974-9231D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87CAA-0C0D-418E-B999-B322B9B407B0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60941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F1B0-22F2-4539-9AF8-855E81D35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D4774-2552-4D85-9674-7DB0CD2E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6F98-3695-4344-AA86-FE77F60E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DAF8-DA50-42FC-ADF1-BBA3A9A0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100D-4CE6-4855-A195-615DDD38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663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3E39-B208-4185-88AD-FC3A0E07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7655-BA84-42DA-B8E9-233661A2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D770-9C6D-4978-AA6A-2CB35282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C6FE-FF4F-4A1E-BE9E-DA0558F7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3CEA2-7A38-4A60-9CF9-B3D13055F9AB}"/>
              </a:ext>
            </a:extLst>
          </p:cNvPr>
          <p:cNvSpPr txBox="1"/>
          <p:nvPr userDrawn="1"/>
        </p:nvSpPr>
        <p:spPr>
          <a:xfrm>
            <a:off x="838200" y="640041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Daniela</a:t>
            </a:r>
            <a:r>
              <a:rPr lang="ro-RO" sz="1200" b="0" dirty="0"/>
              <a:t> </a:t>
            </a:r>
            <a:r>
              <a:rPr lang="ro-RO" sz="1200" b="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Stănescu</a:t>
            </a:r>
          </a:p>
        </p:txBody>
      </p:sp>
    </p:spTree>
    <p:extLst>
      <p:ext uri="{BB962C8B-B14F-4D97-AF65-F5344CB8AC3E}">
        <p14:creationId xmlns:p14="http://schemas.microsoft.com/office/powerpoint/2010/main" val="155709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004D-8FCB-4B6C-83AE-5F7CB15F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100B3-40D8-45F5-B899-AA0C8CA8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A233-B076-41CB-ABEA-6346E0E2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CF7C-0EE0-4EAE-AE73-0E384D6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F40A-D714-49C9-B28D-192AF754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410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27CB-9E40-45A1-8473-CC93FAC3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467-0D97-4DE3-9F3C-C028B6FE7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F5C3-33A8-4435-801F-31B35B6D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55D92-C7CC-47C1-B786-A116107B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D44F-F3BB-4822-B26B-B0F8DCF7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32C1-7543-4E86-B7A1-78272F7B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055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AE58-FB78-4410-B681-4B1BA2E5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142A-66C6-47F2-8FD0-349E0D589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30570-F883-4E01-BC14-1D7B9E3B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27B1D-AE99-480B-BC9E-E5E3B937B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B27E4-5071-4DAF-A785-1A5519DF7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45B08-F145-4982-BA1B-6C5F8FE5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7911C-4B49-408B-896B-3116018D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4E533-D706-4278-A1DF-F04BFAAC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783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2996-ED5E-4DF3-9128-F135EF21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BC23F-0670-42BA-8620-B184A826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064A4-327C-47F8-897A-C7BB61D6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A1C6-8503-4F2C-982F-958F5D6D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8346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0B568-49AF-4694-BF37-00654E0B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80A2A-C2B1-49F1-95BF-DCCE77E3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7F3C-6CDC-4AB3-AD9E-F00A887E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362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E4CC-71D5-4296-98AB-C5AC9A2F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8025F-FEE9-4F06-B0B4-2B367B26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9257E-B602-407E-A6AE-DF5539BA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06BF-E491-47B7-93B3-CC6192EA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0E48B-F8FD-4D70-B15F-7E4018C8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A5E8-15CB-46D7-B6F9-4759ED64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02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A0E8-41C7-4BBD-BE2A-1C34858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60580-3B72-4452-BE69-6F8E75F2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E573-4F56-484F-B5CC-4096167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CD4E-3E52-432A-A173-B864EE47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B7E-8E1E-485B-9274-28A47709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9043-0D93-4B2E-9387-968926B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143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BADA-8B52-4AAC-BBB6-A4B2E9C5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4ED7-78AB-4179-AFA8-EB2BD0F2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C9E0-00B1-419A-B6E5-4A096460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A9F-AA09-455D-8F12-4AD3CE6D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2CCC5-A756-420E-A5CA-21E3FDC4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640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B3B85-7D0E-4FED-A71D-9F93C6808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C9F51-20BB-459E-A73F-935A299A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90AF-86CA-4611-99E0-883DA4F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8D37-365A-40D0-9393-68EFC4C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9044-3DFC-45EC-A9B7-395F7AC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323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9A63265-8878-4D82-9AF8-C5953C94035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82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34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FAE0F-2FCB-464F-9782-4E9641CA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E9FD3-58F4-4BC8-88E3-87728FF3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0B1-1D08-4852-9493-B73A821C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8B0F-6710-4BFC-8CA6-059D75704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B2EF-1AA8-40C3-8A3C-0EBAF5E89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4E24C-AC9D-47B5-A6ED-BCF2B4B120AE}" type="slidenum">
              <a:rPr lang="ro-RO" smtClean="0"/>
              <a:t>‹#›</a:t>
            </a:fld>
            <a:endParaRPr lang="ro-RO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DD0A3A-E3EC-4E58-B6D0-D3E200941D3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3370" y="0"/>
            <a:ext cx="1378630" cy="90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1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0.png"/><Relationship Id="rId7" Type="http://schemas.openxmlformats.org/officeDocument/2006/relationships/image" Target="../media/image1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0.xml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7" Type="http://schemas.openxmlformats.org/officeDocument/2006/relationships/image" Target="../media/image3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png"/><Relationship Id="rId5" Type="http://schemas.openxmlformats.org/officeDocument/2006/relationships/image" Target="../media/image38.png"/><Relationship Id="rId9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5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51.png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50.png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1.png"/><Relationship Id="rId7" Type="http://schemas.openxmlformats.org/officeDocument/2006/relationships/image" Target="../media/image8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20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9.png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940.png"/><Relationship Id="rId4" Type="http://schemas.openxmlformats.org/officeDocument/2006/relationships/image" Target="../media/image9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E9C8A7-46D2-4073-8F67-E8FACFA4B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3"/>
            <a:ext cx="6858000" cy="1055951"/>
          </a:xfrm>
        </p:spPr>
        <p:txBody>
          <a:bodyPr anchor="ctr">
            <a:normAutofit/>
          </a:bodyPr>
          <a:lstStyle/>
          <a:p>
            <a:pPr algn="ctr"/>
            <a:r>
              <a:rPr lang="ro-RO" b="1" dirty="0">
                <a:solidFill>
                  <a:srgbClr val="FFFFFF"/>
                </a:solidFill>
              </a:rPr>
              <a:t>Circuite Digitale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58408-1DD3-4BA0-B227-217A6D198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231886"/>
            <a:ext cx="6857999" cy="1323182"/>
          </a:xfrm>
        </p:spPr>
        <p:txBody>
          <a:bodyPr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ro-RO" sz="2800" dirty="0">
                <a:solidFill>
                  <a:schemeClr val="bg2"/>
                </a:solidFill>
              </a:rPr>
              <a:t>Curs </a:t>
            </a:r>
            <a:r>
              <a:rPr lang="en-US" sz="2800" dirty="0">
                <a:solidFill>
                  <a:schemeClr val="bg2"/>
                </a:solidFill>
              </a:rPr>
              <a:t>5</a:t>
            </a:r>
            <a:endParaRPr lang="ro-RO" sz="2800" dirty="0">
              <a:solidFill>
                <a:schemeClr val="bg2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ro-RO" sz="2800" cap="none" dirty="0">
                <a:solidFill>
                  <a:schemeClr val="bg2"/>
                </a:solidFill>
              </a:rPr>
              <a:t>Ș.l. dr. ing. Daniela Stănescu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07A2B-D17D-2F59-26A4-37370857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FE462-5135-B511-383E-3FE6C9AF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9829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676" y="1440106"/>
            <a:ext cx="7232647" cy="41752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Diode semiconductoare :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intrarea diodelor → se aplică trei variabile A, B, C: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D.p.d.v. electric reprezintă 3 tensiuni :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Rezistenţa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limitare curent</a:t>
            </a:r>
          </a:p>
          <a:p>
            <a:pPr lvl="0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ieşire rezultă funcţia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de ieşire este conectat la o sursă de alimentare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541837" y="5738613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</a:t>
            </a:r>
            <a:r>
              <a:rPr lang="ro-RO" sz="1400" b="1" dirty="0"/>
              <a:t>SAU</a:t>
            </a:r>
            <a:r>
              <a:rPr lang="en-US" sz="1400" b="1" dirty="0"/>
              <a:t>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633334" y="78829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sp>
        <p:nvSpPr>
          <p:cNvPr id="1035" name="Rectangle 1034"/>
          <p:cNvSpPr/>
          <p:nvPr/>
        </p:nvSpPr>
        <p:spPr>
          <a:xfrm>
            <a:off x="179142" y="5527597"/>
            <a:ext cx="7933227" cy="1234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6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tensiunile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numit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2" indent="-342900">
              <a:lnSpc>
                <a:spcPct val="16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referinţă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(notat - GND)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965" y="1540858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5146431" y="1781908"/>
            <a:ext cx="3634154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146431" y="1781908"/>
            <a:ext cx="3493477" cy="726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146431" y="1781908"/>
            <a:ext cx="3395406" cy="1277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197969" y="2262554"/>
            <a:ext cx="586154" cy="7971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7197969" y="2661138"/>
            <a:ext cx="668216" cy="3985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197969" y="3059723"/>
            <a:ext cx="586154" cy="937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215662" y="3739662"/>
            <a:ext cx="7186246" cy="1055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754923" y="4489938"/>
            <a:ext cx="6904892" cy="8675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3938954" y="2262554"/>
            <a:ext cx="7151077" cy="19460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</p:cNvCxnSpPr>
          <p:nvPr/>
        </p:nvCxnSpPr>
        <p:spPr>
          <a:xfrm flipV="1">
            <a:off x="6299200" y="4794738"/>
            <a:ext cx="3360615" cy="1809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39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</a:t>
            </a:fld>
            <a:endParaRPr lang="ro-RO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01690" y="153253"/>
            <a:ext cx="6588368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</a:t>
            </a:r>
            <a:endParaRPr lang="ro-RO" sz="2800" dirty="0"/>
          </a:p>
        </p:txBody>
      </p:sp>
      <p:sp>
        <p:nvSpPr>
          <p:cNvPr id="2" name="Rectangle 1"/>
          <p:cNvSpPr/>
          <p:nvPr/>
        </p:nvSpPr>
        <p:spPr>
          <a:xfrm>
            <a:off x="4865077" y="1898647"/>
            <a:ext cx="6096000" cy="363253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Condiţie preliminară: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nivel logic superior: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5V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nivel logic inferior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0V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-15V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5816" y="1084642"/>
            <a:ext cx="3590983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Funcţionare logică</a:t>
            </a:r>
            <a:endParaRPr lang="ro-RO" sz="28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00" y="1212612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288791" y="5405997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</a:t>
            </a:r>
            <a:r>
              <a:rPr lang="ro-RO" sz="1400" b="1" dirty="0"/>
              <a:t>SAU</a:t>
            </a:r>
            <a:r>
              <a:rPr lang="en-US" sz="1400" b="1" dirty="0"/>
              <a:t>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165231" y="2997813"/>
            <a:ext cx="2567354" cy="10700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891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</a:t>
            </a:fld>
            <a:endParaRPr lang="ro-RO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4865077" y="1007691"/>
            <a:ext cx="3512421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Scenarii:</a:t>
            </a:r>
          </a:p>
        </p:txBody>
      </p:sp>
      <p:sp>
        <p:nvSpPr>
          <p:cNvPr id="3" name="Rectangle 2"/>
          <p:cNvSpPr/>
          <p:nvPr/>
        </p:nvSpPr>
        <p:spPr>
          <a:xfrm>
            <a:off x="4607169" y="1696558"/>
            <a:ext cx="7420708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Între tensiunea alimentare 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oricare dintre intrări →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o cădere de tensiune maximă → 15V.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7442" y="4168912"/>
            <a:ext cx="4418197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polarizate direct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9876" y="5057369"/>
            <a:ext cx="589670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 trece un curent direct (I):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depinde de dimensionarea rezistenţei 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710822" y="5738613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</a:t>
            </a:r>
            <a:r>
              <a:rPr lang="ro-RO" sz="1400" b="1" dirty="0"/>
              <a:t>SAU</a:t>
            </a:r>
            <a:r>
              <a:rPr lang="en-US" sz="1400" b="1" dirty="0"/>
              <a:t>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45" y="1819739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E120E4-7472-33C8-534A-F894DD4D3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9" y="1761528"/>
            <a:ext cx="4391025" cy="36671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5401EC-1341-3BAE-156C-29E02F2B5C2A}"/>
              </a:ext>
            </a:extLst>
          </p:cNvPr>
          <p:cNvCxnSpPr>
            <a:cxnSpLocks/>
          </p:cNvCxnSpPr>
          <p:nvPr/>
        </p:nvCxnSpPr>
        <p:spPr>
          <a:xfrm>
            <a:off x="3020291" y="3306618"/>
            <a:ext cx="7047345" cy="1949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87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</a:t>
            </a:fld>
            <a:endParaRPr lang="ro-RO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4865077" y="1007691"/>
            <a:ext cx="3512421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Scenarii:</a:t>
            </a:r>
          </a:p>
        </p:txBody>
      </p:sp>
      <p:sp>
        <p:nvSpPr>
          <p:cNvPr id="3" name="Rectangle 2"/>
          <p:cNvSpPr/>
          <p:nvPr/>
        </p:nvSpPr>
        <p:spPr>
          <a:xfrm>
            <a:off x="4607170" y="1696558"/>
            <a:ext cx="134815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Dacă: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9565" y="2296722"/>
            <a:ext cx="36888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2" name="Rectangle 1"/>
          <p:cNvSpPr/>
          <p:nvPr/>
        </p:nvSpPr>
        <p:spPr>
          <a:xfrm>
            <a:off x="5717442" y="1754056"/>
            <a:ext cx="231236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54769" y="3159463"/>
            <a:ext cx="6096000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</a:t>
            </a:r>
            <a:endParaRPr lang="en-US" sz="2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căderea ce apare pe diode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 poate neglija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589613" y="4661689"/>
                <a:ext cx="3826311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fontAlgn="base">
                  <a:lnSpc>
                    <a:spcPct val="20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fontAlgn="base">
                  <a:lnSpc>
                    <a:spcPct val="200000"/>
                  </a:lnSpc>
                  <a:buFont typeface="Symbol"/>
                  <a:buChar char="Þ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613" y="4661689"/>
                <a:ext cx="3826311" cy="1446550"/>
              </a:xfrm>
              <a:prstGeom prst="rect">
                <a:avLst/>
              </a:prstGeom>
              <a:blipFill rotWithShape="1">
                <a:blip r:embed="rId4"/>
                <a:stretch>
                  <a:fillRect b="-8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408735" y="5886806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</a:t>
            </a:r>
            <a:r>
              <a:rPr lang="ro-RO" sz="1400" b="1" dirty="0"/>
              <a:t>SAU</a:t>
            </a:r>
            <a:r>
              <a:rPr lang="en-US" sz="1400" b="1" dirty="0"/>
              <a:t>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15" y="1456323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E58A7A-B6DF-DBC1-2917-BEB85EA03A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130" y="1165270"/>
            <a:ext cx="4124325" cy="440055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F4BD6D-D58A-8C54-B1A0-52DF57BDF094}"/>
              </a:ext>
            </a:extLst>
          </p:cNvPr>
          <p:cNvCxnSpPr>
            <a:cxnSpLocks/>
          </p:cNvCxnSpPr>
          <p:nvPr/>
        </p:nvCxnSpPr>
        <p:spPr>
          <a:xfrm flipH="1" flipV="1">
            <a:off x="2186923" y="1872653"/>
            <a:ext cx="4103041" cy="2092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1DC41B12-6525-5ED0-A315-7EFE41E1A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5156" y="917229"/>
            <a:ext cx="1743075" cy="98107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4E1EF1-E36E-1CA7-0D9C-53E801AAF115}"/>
              </a:ext>
            </a:extLst>
          </p:cNvPr>
          <p:cNvCxnSpPr/>
          <p:nvPr/>
        </p:nvCxnSpPr>
        <p:spPr>
          <a:xfrm flipH="1" flipV="1">
            <a:off x="3768436" y="1872653"/>
            <a:ext cx="2327564" cy="1046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22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</a:t>
            </a:fld>
            <a:endParaRPr lang="ro-RO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216542" y="1007690"/>
            <a:ext cx="3512421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Scenarii:</a:t>
            </a:r>
          </a:p>
        </p:txBody>
      </p:sp>
      <p:sp>
        <p:nvSpPr>
          <p:cNvPr id="3" name="Rectangle 2"/>
          <p:cNvSpPr/>
          <p:nvPr/>
        </p:nvSpPr>
        <p:spPr>
          <a:xfrm>
            <a:off x="4079630" y="1007690"/>
            <a:ext cx="756138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superior: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5V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0579" y="3278022"/>
            <a:ext cx="631043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polarizate direct → conducţie</a:t>
            </a:r>
          </a:p>
        </p:txBody>
      </p:sp>
      <p:sp>
        <p:nvSpPr>
          <p:cNvPr id="2" name="Rectangle 1"/>
          <p:cNvSpPr/>
          <p:nvPr/>
        </p:nvSpPr>
        <p:spPr>
          <a:xfrm>
            <a:off x="4812322" y="2101141"/>
            <a:ext cx="6096000" cy="10472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Între tensiunea de alimentare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 oricare dintre intrări există o diferenţă de potenţial mare: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8433" y="3709651"/>
            <a:ext cx="7713568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Nivelul de tensiune de la ieşire → dat de diodele în conducţie: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neglijează (V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222775" y="5368896"/>
                <a:ext cx="3826311" cy="1047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fontAlgn="base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 fontAlgn="base">
                  <a:lnSpc>
                    <a:spcPct val="150000"/>
                  </a:lnSpc>
                  <a:buFont typeface="Symbol"/>
                  <a:buChar char="Þ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en-US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775" y="5368896"/>
                <a:ext cx="3826311" cy="1047210"/>
              </a:xfrm>
              <a:prstGeom prst="rect">
                <a:avLst/>
              </a:prstGeom>
              <a:blipFill rotWithShape="1">
                <a:blip r:embed="rId2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523253" y="5892501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</a:t>
            </a:r>
            <a:r>
              <a:rPr lang="ro-RO" sz="1400" b="1" dirty="0"/>
              <a:t>SAU</a:t>
            </a:r>
            <a:r>
              <a:rPr lang="en-US" sz="1400" b="1" dirty="0"/>
              <a:t>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42" y="1798493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306280-3EA1-8951-FB3C-2BCC701D3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57" y="1587657"/>
            <a:ext cx="4333875" cy="432435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43F967-B04F-663D-2F17-7C71150B09BF}"/>
              </a:ext>
            </a:extLst>
          </p:cNvPr>
          <p:cNvCxnSpPr/>
          <p:nvPr/>
        </p:nvCxnSpPr>
        <p:spPr>
          <a:xfrm flipH="1" flipV="1">
            <a:off x="2059709" y="2447636"/>
            <a:ext cx="4341091" cy="229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89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5545" y="5923890"/>
            <a:ext cx="1899140" cy="365125"/>
          </a:xfrm>
        </p:spPr>
        <p:txBody>
          <a:bodyPr/>
          <a:lstStyle/>
          <a:p>
            <a:pPr marL="0" lvl="1" fontAlgn="base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293186" y="973014"/>
            <a:ext cx="3512421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Scenarii: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2400" y="973014"/>
            <a:ext cx="82295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cel puţin o intrare se aplică nivel logic superior 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iar la toate celelalte intrări nivel logic inferior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33741" y="3000924"/>
            <a:ext cx="783551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Diferenţa de potenţial cea mai mare → între intrarea 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88439" y="4108920"/>
            <a:ext cx="507754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 fi dată de dioda în conducţie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9115" y="4701993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 consideră neglijabil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539021" y="5036930"/>
                <a:ext cx="2172189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00100" lvl="1" indent="-342900" fontAlgn="base">
                  <a:lnSpc>
                    <a:spcPct val="200000"/>
                  </a:lnSpc>
                  <a:buFont typeface="Symbol"/>
                  <a:buChar char="Þ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o-RO" sz="2200" b="1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en-US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021" y="5036930"/>
                <a:ext cx="2172189" cy="769441"/>
              </a:xfrm>
              <a:prstGeom prst="rect">
                <a:avLst/>
              </a:prstGeom>
              <a:blipFill rotWithShape="1">
                <a:blip r:embed="rId2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4917531" y="5806371"/>
            <a:ext cx="488296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polarizate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invers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blocate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02388" y="3540302"/>
            <a:ext cx="452720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zată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→ conducţie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271208" y="6046390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</a:t>
            </a:r>
            <a:r>
              <a:rPr lang="ro-RO" sz="1400" b="1" dirty="0"/>
              <a:t>SAU</a:t>
            </a:r>
            <a:r>
              <a:rPr lang="en-US" sz="1400" b="1" dirty="0"/>
              <a:t>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9" y="1942669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7D279F-65B6-821D-A3D0-0F2789CE2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1" y="1867536"/>
            <a:ext cx="4171950" cy="40671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AC635B-83DE-6A27-6722-B99FA55BA429}"/>
              </a:ext>
            </a:extLst>
          </p:cNvPr>
          <p:cNvCxnSpPr/>
          <p:nvPr/>
        </p:nvCxnSpPr>
        <p:spPr>
          <a:xfrm flipH="1" flipV="1">
            <a:off x="1939636" y="2632364"/>
            <a:ext cx="4221019" cy="2521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25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394300" y="5683231"/>
            <a:ext cx="33101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Poarta ŞI cu diode </a:t>
            </a:r>
            <a:r>
              <a:rPr lang="en-US" sz="1400" b="1" dirty="0" err="1"/>
              <a:t>semiconductoare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Funcţionare logică.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293186" y="973014"/>
            <a:ext cx="3512421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Scenarii: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2400" y="973014"/>
            <a:ext cx="8229599" cy="2423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Dacă se iau în considerare oricare alte variante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lnSpc>
                <a:spcPct val="150000"/>
              </a:lnSpc>
            </a:pPr>
            <a:endParaRPr lang="en-US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V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V</a:t>
            </a:r>
            <a:r>
              <a:rPr lang="ro-RO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0282" y="3560106"/>
            <a:ext cx="779242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Întreg sistemul se comportă la fel ca şi în cazul anterior (c).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discută doar despre comportamentul altor Diode: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ar fi în conducţie sau blocate, conform cazului analizat.</a:t>
            </a:r>
          </a:p>
        </p:txBody>
      </p:sp>
      <p:sp>
        <p:nvSpPr>
          <p:cNvPr id="9" name="Left Brace 8"/>
          <p:cNvSpPr/>
          <p:nvPr/>
        </p:nvSpPr>
        <p:spPr>
          <a:xfrm>
            <a:off x="4409050" y="1959288"/>
            <a:ext cx="45719" cy="12176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2" name="Left Brace 31"/>
          <p:cNvSpPr/>
          <p:nvPr/>
        </p:nvSpPr>
        <p:spPr>
          <a:xfrm>
            <a:off x="6016865" y="1959288"/>
            <a:ext cx="45719" cy="12176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9" y="1942669"/>
            <a:ext cx="4034954" cy="35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71498" y="5697610"/>
            <a:ext cx="812120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Potenţialul de la ieşire = Potenţialul cel mai mare aplicat la intrare.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71499" y="5236955"/>
            <a:ext cx="16642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26C1F-F7FB-3DDC-6FC6-EA313F9D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10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547" y="978413"/>
            <a:ext cx="9169253" cy="498696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urma analizei făcute →se pot concretiza rezultatele obţinute într-un tabel.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9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Funcţionare logică.</a:t>
            </a:r>
            <a:endParaRPr lang="ro-RO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F8D7FC-120C-4327-A73D-370DFCEA5B53}"/>
              </a:ext>
            </a:extLst>
          </p:cNvPr>
          <p:cNvSpPr/>
          <p:nvPr/>
        </p:nvSpPr>
        <p:spPr>
          <a:xfrm>
            <a:off x="820615" y="5743623"/>
            <a:ext cx="857084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0">
              <a:lnSpc>
                <a:spcPct val="150000"/>
              </a:lnSpc>
              <a:spcAft>
                <a:spcPts val="0"/>
              </a:spcAft>
            </a:pP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 1. </a:t>
            </a:r>
            <a:r>
              <a:rPr lang="ro-RO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Poata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SAU– Tabelul de tensiuni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FF505ABD-AF23-4ADC-AE91-C655910F1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072300"/>
              </p:ext>
            </p:extLst>
          </p:nvPr>
        </p:nvGraphicFramePr>
        <p:xfrm>
          <a:off x="2300590" y="1751828"/>
          <a:ext cx="683370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426">
                  <a:extLst>
                    <a:ext uri="{9D8B030D-6E8A-4147-A177-3AD203B41FA5}">
                      <a16:colId xmlns:a16="http://schemas.microsoft.com/office/drawing/2014/main" val="3534948107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1684351310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2564267689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2309913929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/>
                      <a:r>
                        <a:rPr lang="ro-RO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b="1" kern="1200" baseline="-250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b="1" kern="1200" baseline="-250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b="1" kern="1200" baseline="-250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b="1" kern="12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b="1" kern="1200" baseline="-250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18450146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03032055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77130659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1555198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20934527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22113751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06160066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64324813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ro-RO" sz="200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65754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62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10</a:t>
            </a:fld>
            <a:endParaRPr lang="ro-R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8D7FC-120C-4327-A73D-370DFCEA5B53}"/>
              </a:ext>
            </a:extLst>
          </p:cNvPr>
          <p:cNvSpPr/>
          <p:nvPr/>
        </p:nvSpPr>
        <p:spPr>
          <a:xfrm>
            <a:off x="-275178" y="6251455"/>
            <a:ext cx="857084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0">
              <a:lnSpc>
                <a:spcPct val="150000"/>
              </a:lnSpc>
              <a:spcAft>
                <a:spcPts val="0"/>
              </a:spcAft>
            </a:pP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 2. </a:t>
            </a:r>
            <a:r>
              <a:rPr lang="ro-RO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Poata</a:t>
            </a:r>
            <a:r>
              <a:rPr lang="ro-RO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SAU– Tabelul de adevăr pentru logica pozitivă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cu diode semiconductoare. Tabelul de adevăr.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349199" y="820615"/>
            <a:ext cx="189507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ții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9199" y="1236912"/>
            <a:ext cx="709393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Tabelul de tensiuni se converteşte într-un tabel de adevăr: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17995" y="2652563"/>
            <a:ext cx="486849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Funcţia de la ieşire se înlocuieşte cu logica corespunzătoare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porţii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 = A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o-RO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→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“SAU”</a:t>
            </a:r>
            <a:endParaRPr lang="ro-RO" sz="2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9561" y="1738047"/>
            <a:ext cx="576151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Nivelele de la ieşire se înlocuiesc cu variabile </a:t>
            </a: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F505ABD-AF23-4ADC-AE91-C655910F1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93750"/>
              </p:ext>
            </p:extLst>
          </p:nvPr>
        </p:nvGraphicFramePr>
        <p:xfrm>
          <a:off x="349199" y="2485310"/>
          <a:ext cx="683370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426">
                  <a:extLst>
                    <a:ext uri="{9D8B030D-6E8A-4147-A177-3AD203B41FA5}">
                      <a16:colId xmlns:a16="http://schemas.microsoft.com/office/drawing/2014/main" val="3534948107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1684351310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2564267689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2309913929"/>
                    </a:ext>
                  </a:extLst>
                </a:gridCol>
              </a:tblGrid>
              <a:tr h="392369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18450146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03032055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77130659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1555198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20934527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22113751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06160066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64324813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6575463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924800" y="4258316"/>
            <a:ext cx="276664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 Pozitivă: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„1”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V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5V</a:t>
            </a:r>
          </a:p>
        </p:txBody>
      </p:sp>
    </p:spTree>
    <p:extLst>
      <p:ext uri="{BB962C8B-B14F-4D97-AF65-F5344CB8AC3E}">
        <p14:creationId xmlns:p14="http://schemas.microsoft.com/office/powerpoint/2010/main" val="409623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721009" cy="100965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SAU cu diode – Funcționare logică</a:t>
            </a:r>
            <a:endParaRPr lang="ro-RO" sz="28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11</a:t>
            </a:fld>
            <a:endParaRPr lang="ro-RO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F505ABD-AF23-4ADC-AE91-C655910F1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154303"/>
              </p:ext>
            </p:extLst>
          </p:nvPr>
        </p:nvGraphicFramePr>
        <p:xfrm>
          <a:off x="1394473" y="1770185"/>
          <a:ext cx="6833704" cy="3603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426">
                  <a:extLst>
                    <a:ext uri="{9D8B030D-6E8A-4147-A177-3AD203B41FA5}">
                      <a16:colId xmlns:a16="http://schemas.microsoft.com/office/drawing/2014/main" val="3534948107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1684351310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2564267689"/>
                    </a:ext>
                  </a:extLst>
                </a:gridCol>
                <a:gridCol w="1708426">
                  <a:extLst>
                    <a:ext uri="{9D8B030D-6E8A-4147-A177-3AD203B41FA5}">
                      <a16:colId xmlns:a16="http://schemas.microsoft.com/office/drawing/2014/main" val="2309913929"/>
                    </a:ext>
                  </a:extLst>
                </a:gridCol>
              </a:tblGrid>
              <a:tr h="433461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</a:t>
                      </a:r>
                      <a:endParaRPr lang="ro-RO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18450146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03032055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77130659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1555198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20934527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22113751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06160066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64324813"/>
                  </a:ext>
                </a:extLst>
              </a:tr>
              <a:tr h="38231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o-RO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6575463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3E5E4B0-B6E3-4CE5-B1F5-BE16DCDB58CB}"/>
              </a:ext>
            </a:extLst>
          </p:cNvPr>
          <p:cNvSpPr/>
          <p:nvPr/>
        </p:nvSpPr>
        <p:spPr>
          <a:xfrm>
            <a:off x="1394473" y="5836682"/>
            <a:ext cx="603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/>
              <a:t>Tabel 3. </a:t>
            </a:r>
            <a:r>
              <a:rPr lang="ro-RO" b="1" dirty="0" err="1"/>
              <a:t>Poata</a:t>
            </a:r>
            <a:r>
              <a:rPr lang="ro-RO" b="1" dirty="0"/>
              <a:t> SAU – Tabelul de adevăr pentru logica negativă</a:t>
            </a:r>
            <a:endParaRPr lang="ro-RO" dirty="0"/>
          </a:p>
        </p:txBody>
      </p:sp>
      <p:sp>
        <p:nvSpPr>
          <p:cNvPr id="9" name="Rectangle 8"/>
          <p:cNvSpPr/>
          <p:nvPr/>
        </p:nvSpPr>
        <p:spPr>
          <a:xfrm>
            <a:off x="8757139" y="2064311"/>
            <a:ext cx="3048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tivă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V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o-RO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-5V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 = A</a:t>
            </a:r>
            <a:r>
              <a:rPr lang="ro-RO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∙ 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∙ 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 “</a:t>
            </a:r>
            <a:r>
              <a:rPr lang="ro-RO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o-RO" sz="2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84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85" y="1342761"/>
            <a:ext cx="11206230" cy="46804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o-RO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Concluzii</a:t>
            </a:r>
            <a:r>
              <a:rPr lang="en-US" sz="24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400" b="1" dirty="0">
              <a:solidFill>
                <a:srgbClr val="00B05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sz="1200" b="1" dirty="0">
              <a:solidFill>
                <a:srgbClr val="00206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o-RO" sz="1200" b="1" dirty="0">
              <a:solidFill>
                <a:srgbClr val="00206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logica adoptată aceste circuite realizează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„SAU” sau complementar funcții „ŞI”.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 negativă 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foloseşte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foarte rar!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preferat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ândi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pozitivă, nu negativă!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continuare discuţiile se vor axa pe logica pozitivă: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ora actuală majoritatea circuitelor lucrează cu această logică.</a:t>
            </a:r>
          </a:p>
          <a:p>
            <a:pPr marL="0" indent="0">
              <a:buNone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12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 diode semiconductoare. Funcţionare logică.</a:t>
            </a:r>
            <a:endParaRPr lang="ro-RO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7F9DDD-780E-DA3A-D31F-C68F8168473C}"/>
                  </a:ext>
                </a:extLst>
              </p14:cNvPr>
              <p14:cNvContentPartPr/>
              <p14:nvPr/>
            </p14:nvContentPartPr>
            <p14:xfrm>
              <a:off x="2749680" y="40644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7F9DDD-780E-DA3A-D31F-C68F816847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0320" y="397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04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 diode semiconductoare. 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334609" y="1183130"/>
            <a:ext cx="113134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şa cum s-a precizat la începutul cursului →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Circuitele numerice au o dublă natură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 Funcţionare logică → Demonstrată anterior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Electronică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Circuitele → formate din componente electronice 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să asigure şi funcţionarea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electronic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722" y="3338524"/>
            <a:ext cx="11175609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 electronică =&gt; Dimensionarea corectă a circuitului.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Întotdeauna un circuit numeric se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proiectează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cel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defavorabil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preţul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scumpe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defavorabil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componentelor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care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alcătuit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82B119-2FCB-2B18-1DD6-87A1A513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9516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14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1313538" y="106877"/>
            <a:ext cx="91674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SAU. Funcţionare electronică.</a:t>
            </a:r>
            <a:endParaRPr lang="ro-RO" sz="2800" dirty="0"/>
          </a:p>
        </p:txBody>
      </p:sp>
      <p:sp>
        <p:nvSpPr>
          <p:cNvPr id="2" name="Rectangle 1"/>
          <p:cNvSpPr/>
          <p:nvPr/>
        </p:nvSpPr>
        <p:spPr>
          <a:xfrm>
            <a:off x="463049" y="745359"/>
            <a:ext cx="17009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Scenariu:</a:t>
            </a:r>
            <a:endParaRPr lang="ro-RO" sz="2200" dirty="0">
              <a:solidFill>
                <a:srgbClr val="00B05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3049" y="1428221"/>
            <a:ext cx="29915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SAU cu diode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8967" y="1407650"/>
            <a:ext cx="31983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 simbolică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791729" y="3633396"/>
            <a:ext cx="403762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57599" y="4590398"/>
            <a:ext cx="709405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poartă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3 intrări A, B, C → realizează funcţia SAU: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să comande o Sarcină 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413" y="5001892"/>
            <a:ext cx="35963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poartă identică sau nu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dispozitiv electronic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7985413" y="5289765"/>
            <a:ext cx="45719" cy="5322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8" name="Picture 1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5" y="2236877"/>
            <a:ext cx="3427414" cy="3482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CC907F-14AC-C9EF-7242-E4C85D954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2590800"/>
            <a:ext cx="2019300" cy="167640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1943C87-2D2D-1BFE-F8DD-E4A271A5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06" y="2467179"/>
            <a:ext cx="4302145" cy="1745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08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15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4435390" y="1242400"/>
            <a:ext cx="764181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ca 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să comande la rândul ei: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trebuie să furnizeze un curent de sarcină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funcţie de câte circuite se comandă.</a:t>
            </a:r>
            <a:r>
              <a:rPr lang="ro-RO" sz="2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5390" y="3034599"/>
            <a:ext cx="876794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Condiţia de funcţionare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Necesar să se genereze curent de sarcină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suficient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a.î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poartă  să poată comanda alte n porţi.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518517" y="4855919"/>
                <a:ext cx="7451809" cy="11515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sarcină I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furnizat de: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curentul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trece prin rezistenţa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517" y="4855919"/>
                <a:ext cx="7451809" cy="1151597"/>
              </a:xfrm>
              <a:prstGeom prst="rect">
                <a:avLst/>
              </a:prstGeom>
              <a:blipFill rotWithShape="1">
                <a:blip r:embed="rId2"/>
                <a:stretch>
                  <a:fillRect l="-818" b="-372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0" y="2334996"/>
            <a:ext cx="4084179" cy="3467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24" y="888114"/>
            <a:ext cx="3337883" cy="135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3692769" y="2242272"/>
            <a:ext cx="7280031" cy="5243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19" y="2334996"/>
            <a:ext cx="4114800" cy="3873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3083169" y="4650426"/>
            <a:ext cx="3470031" cy="11524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3786554" y="2858227"/>
            <a:ext cx="3411415" cy="23684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85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16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4628361" y="948207"/>
            <a:ext cx="7196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mai defavorabil →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îndeplinirea condiţiei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258251" y="1594538"/>
                <a:ext cx="2191040" cy="600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 dirty="0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251" y="1594538"/>
                <a:ext cx="2191040" cy="600805"/>
              </a:xfrm>
              <a:prstGeom prst="rect">
                <a:avLst/>
              </a:prstGeom>
              <a:blipFill rotWithShape="1">
                <a:blip r:embed="rId2"/>
                <a:stretch>
                  <a:fillRect l="-3343" b="-142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628360" y="2246453"/>
                <a:ext cx="6846171" cy="19466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analiza funcţionării electronice: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interesează  situaţia în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minim.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60" y="2246453"/>
                <a:ext cx="6846171" cy="1946623"/>
              </a:xfrm>
              <a:prstGeom prst="rect">
                <a:avLst/>
              </a:prstGeom>
              <a:blipFill rotWithShape="1">
                <a:blip r:embed="rId3"/>
                <a:stretch>
                  <a:fillRect l="-89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737229" y="4235321"/>
                <a:ext cx="163592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H</m:t>
                        </m:r>
                        <m:r>
                          <a:rPr lang="ro-RO" sz="2200" b="0" i="0" smtClean="0">
                            <a:latin typeface="Cambria Math"/>
                          </a:rPr>
                          <m:t>   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29" y="4235321"/>
                <a:ext cx="1635928" cy="430887"/>
              </a:xfrm>
              <a:prstGeom prst="rect">
                <a:avLst/>
              </a:prstGeom>
              <a:blipFill rotWithShape="1">
                <a:blip r:embed="rId7"/>
                <a:stretch>
                  <a:fillRect l="-4089" t="-5714" b="-2571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628361" y="4509689"/>
            <a:ext cx="277031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Funcţionarea logică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37229" y="4852234"/>
                <a:ext cx="163592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L</m:t>
                        </m:r>
                        <m:r>
                          <a:rPr lang="ro-RO" sz="2200" b="0" i="0" smtClean="0">
                            <a:latin typeface="Cambria Math"/>
                          </a:rPr>
                          <m:t>   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29" y="4852234"/>
                <a:ext cx="1635928" cy="430887"/>
              </a:xfrm>
              <a:prstGeom prst="rect">
                <a:avLst/>
              </a:prstGeom>
              <a:blipFill rotWithShape="1">
                <a:blip r:embed="rId8"/>
                <a:stretch>
                  <a:fillRect l="-4089" t="-5634" b="-239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>
            <a:off x="7555188" y="4450765"/>
            <a:ext cx="45719" cy="7358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295749" y="5283121"/>
                <a:ext cx="5926433" cy="1094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 indent="-3429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minim dacă: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OO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minim.</a:t>
                </a:r>
              </a:p>
              <a:p>
                <a:pPr marL="2628900" lvl="6" indent="-3429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L</m:t>
                        </m:r>
                        <m:r>
                          <a:rPr lang="ro-RO" sz="2200">
                            <a:latin typeface="Cambria Math"/>
                          </a:rPr>
                          <m:t>   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749" y="5283121"/>
                <a:ext cx="5926433" cy="1094082"/>
              </a:xfrm>
              <a:prstGeom prst="rect">
                <a:avLst/>
              </a:prstGeom>
              <a:blipFill rotWithShape="1">
                <a:blip r:embed="rId9"/>
                <a:stretch>
                  <a:fillRect l="-1440" b="-1061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H="1" flipV="1">
            <a:off x="7127631" y="3783061"/>
            <a:ext cx="1427562" cy="17152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046168" y="3902648"/>
            <a:ext cx="1005277" cy="20758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Rectangle 2047"/>
          <p:cNvSpPr/>
          <p:nvPr/>
        </p:nvSpPr>
        <p:spPr>
          <a:xfrm>
            <a:off x="8389914" y="1779771"/>
            <a:ext cx="37369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să poată furniza 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/>
          </a:p>
        </p:txBody>
      </p:sp>
      <p:cxnSp>
        <p:nvCxnSpPr>
          <p:cNvPr id="2052" name="Straight Arrow Connector 2051"/>
          <p:cNvCxnSpPr/>
          <p:nvPr/>
        </p:nvCxnSpPr>
        <p:spPr>
          <a:xfrm>
            <a:off x="8051445" y="1995214"/>
            <a:ext cx="2075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24" y="888114"/>
            <a:ext cx="3337883" cy="135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3C2A894-353F-5A1D-673A-1C1781FE8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19" y="2334996"/>
            <a:ext cx="4114800" cy="3873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612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17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4628361" y="948207"/>
            <a:ext cx="71964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mai defavorabil → funcţionare electronică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44" y="2775100"/>
            <a:ext cx="3054060" cy="32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08503" y="1621533"/>
                <a:ext cx="2191040" cy="600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 dirty="0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503" y="1621533"/>
                <a:ext cx="2191040" cy="600805"/>
              </a:xfrm>
              <a:prstGeom prst="rect">
                <a:avLst/>
              </a:prstGeom>
              <a:blipFill rotWithShape="1">
                <a:blip r:embed="rId3"/>
                <a:stretch>
                  <a:fillRect l="-3343" b="-1313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628360" y="2246453"/>
                <a:ext cx="6846171" cy="821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0" lvl="3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L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dirty="0" smtClean="0">
                        <a:solidFill>
                          <a:schemeClr val="tx1"/>
                        </a:solidFill>
                        <a:latin typeface="Cambria Math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o-RO" sz="2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60" y="2246453"/>
                <a:ext cx="6846171" cy="82112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556698" y="4730683"/>
            <a:ext cx="748488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circuitul → astfel dimensionat încât: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Să fie îndeplinită condiţia (1) 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 corectă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electronic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717442" y="3294030"/>
                <a:ext cx="2963216" cy="821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-4572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O</m:t>
                        </m:r>
                      </m:sub>
                    </m:sSub>
                    <m:r>
                      <a:rPr lang="ro-RO" sz="22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L</m:t>
                            </m:r>
                          </m:sub>
                        </m:sSub>
                        <m: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442" y="3294030"/>
                <a:ext cx="2963216" cy="82112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0793576" y="3428180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ro-RO" dirty="0">
              <a:solidFill>
                <a:srgbClr val="00206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0645" y="4229874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91" y="2561217"/>
            <a:ext cx="4114800" cy="3873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24" y="888114"/>
            <a:ext cx="3337883" cy="135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490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18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248892" y="2551583"/>
                <a:ext cx="6709560" cy="42438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curent de sarcină – cunoscut 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sarcina → o altă poartă sau alte n porţi.</a:t>
                </a:r>
              </a:p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 variabile: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  <m:r>
                      <a:rPr lang="ro-RO" sz="2200" i="1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rezistență nominală;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Toate rezistenţele  faţă de valoarea nominală: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 o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toleranţă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specifică →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o-RO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±10%</a:t>
                </a:r>
                <a:r>
                  <a:rPr lang="ro-RO" sz="2200" dirty="0">
                    <a:solidFill>
                      <a:srgbClr val="00206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 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1K</a:t>
                </a:r>
                <a:r>
                  <a:rPr lang="el-GR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±10%;</a:t>
                </a:r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14:m>
                  <m:oMath xmlns:m="http://schemas.openxmlformats.org/officeDocument/2006/math">
                    <m:r>
                      <a:rPr lang="ro-RO" sz="22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[900</a:t>
                </a:r>
                <a:r>
                  <a:rPr lang="el-GR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Ω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÷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1,1K</a:t>
                </a:r>
                <a:r>
                  <a:rPr lang="el-GR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Ω</a:t>
                </a:r>
                <a:r>
                  <a:rPr lang="en-US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892" y="2551583"/>
                <a:ext cx="6709560" cy="4243854"/>
              </a:xfrm>
              <a:prstGeom prst="rect">
                <a:avLst/>
              </a:prstGeom>
              <a:blipFill rotWithShape="1">
                <a:blip r:embed="rId2"/>
                <a:stretch>
                  <a:fillRect l="-999" b="-57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06657" y="745359"/>
            <a:ext cx="1177054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condiţii de funcţionare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analiza tuturor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pot influenţa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funcţionarea circuitului în cazul cel mai defavorabil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Rezistenţa 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Toleran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ţa 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Tensiunea de alimentare </a:t>
            </a:r>
            <a:r>
              <a:rPr lang="ro-RO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4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 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57" y="3052657"/>
            <a:ext cx="3443647" cy="324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795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19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14695" y="3837452"/>
                <a:ext cx="9898083" cy="27203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 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 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poate constata la ora de laborator → notaţie rezistenţă.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Cazul cel mai defavorabil: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zistenţa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trebuie să aibă valori maxime în câmpul de toleranţă: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B05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B05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B05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(1±t</a:t>
                </a:r>
                <a:r>
                  <a:rPr lang="ro-RO" sz="22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95" y="3837452"/>
                <a:ext cx="9898083" cy="2720360"/>
              </a:xfrm>
              <a:prstGeom prst="rect">
                <a:avLst/>
              </a:prstGeom>
              <a:blipFill rotWithShape="1">
                <a:blip r:embed="rId2"/>
                <a:stretch>
                  <a:fillRect l="-678" b="-67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14696" y="1173460"/>
            <a:ext cx="754083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cât toleranţa → mai mică: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atât preţul rezistenţei → mai mare.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obţine o rezistenţă fixă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preţul ar fi foarte mare: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ircuitele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numerice au preţul foarte mic: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proiectate în cazul cel mai defavorabil.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4696" y="742573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527" y="1344878"/>
            <a:ext cx="3024283" cy="2846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89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20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237505" y="745359"/>
            <a:ext cx="114715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de ieşire → influenţat şi de tensiunea de alimentare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puţin probabil ca toate circuitele să aibă aceeaşi tensiune de alimentare: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o-RO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 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acceptate anumite toleranţe de lucru: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085112" y="3631163"/>
                <a:ext cx="7980218" cy="22476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Toate tensiunile de alimentare faţă de valoarea nominală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  <m:r>
                      <a:rPr lang="ro-RO" sz="2200" i="1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 o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toleranţă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specifică →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o-RO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±10%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ro-RO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OO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0V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±10%;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ro-RO" sz="24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OO</m:t>
                    </m:r>
                    <m:r>
                      <a:rPr lang="ro-RO" sz="2800" i="1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÷-11V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12" y="3631163"/>
                <a:ext cx="7980218" cy="2247667"/>
              </a:xfrm>
              <a:prstGeom prst="rect">
                <a:avLst/>
              </a:prstGeom>
              <a:blipFill rotWithShape="1">
                <a:blip r:embed="rId2"/>
                <a:stretch>
                  <a:fillRect l="-840" b="-190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49288" y="2394649"/>
                <a:ext cx="6096000" cy="11524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Elemente variabile: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4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sSub>
                          <m:sSubPr>
                            <m:ctrlPr>
                              <a:rPr lang="ro-RO" sz="24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4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4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Tensiunea de alimentare nominală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288" y="2394649"/>
                <a:ext cx="6096000" cy="1152431"/>
              </a:xfrm>
              <a:prstGeom prst="rect">
                <a:avLst/>
              </a:prstGeom>
              <a:blipFill rotWithShape="1">
                <a:blip r:embed="rId3"/>
                <a:stretch>
                  <a:fillRect l="-1100" b="-634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5" y="2970864"/>
            <a:ext cx="3406288" cy="320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974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21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237505" y="745359"/>
            <a:ext cx="114715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Toate aceste aspecte legate de toleranţe: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trebuie integrate în relaţia de dimensionare a rezistenţei  → cazul cel mai defavorabil: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98920" y="1924637"/>
                <a:ext cx="2963216" cy="821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-457200" fontAlgn="base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O</m:t>
                        </m:r>
                      </m:sub>
                    </m:sSub>
                    <m:r>
                      <a:rPr lang="ro-RO" sz="22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L</m:t>
                            </m:r>
                          </m:sub>
                        </m:sSub>
                        <m:r>
                          <a:rPr lang="ro-RO" sz="22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920" y="1924637"/>
                <a:ext cx="2963216" cy="8211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4277686" y="3944045"/>
            <a:ext cx="78891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 –o relaţie matematică nu poate fi şi „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şi „-”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Trebuie analizat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defavorabilă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condiţie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2EBA8-E3B2-4456-95A5-52CD74D1C3E8}"/>
              </a:ext>
            </a:extLst>
          </p:cNvPr>
          <p:cNvSpPr txBox="1"/>
          <p:nvPr/>
        </p:nvSpPr>
        <p:spPr>
          <a:xfrm>
            <a:off x="7554787" y="5377970"/>
            <a:ext cx="45690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Termenul trebuie să fie cel mai mic!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378430" y="5406245"/>
                <a:ext cx="3013774" cy="6670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</a:t>
                </a:r>
                <a14:m>
                  <m:oMath xmlns:m="http://schemas.openxmlformats.org/officeDocument/2006/math">
                    <m:r>
                      <a:rPr lang="ro-RO" sz="2200" i="0">
                        <a:solidFill>
                          <a:srgbClr val="002060"/>
                        </a:solidFill>
                        <a:latin typeface="Cambria Math"/>
                      </a:rPr>
                      <m:t>  </m:t>
                    </m:r>
                    <m:f>
                      <m:f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OO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(1</m:t>
                        </m:r>
                        <m:r>
                          <a:rPr lang="en-US" sz="22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u</m:t>
                            </m:r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)</m:t>
                        </m:r>
                        <m: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S</m:t>
                            </m:r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(1</m:t>
                        </m:r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r</m:t>
                            </m:r>
                          </m:sub>
                        </m:s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ro-RO" sz="2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430" y="5406245"/>
                <a:ext cx="3013774" cy="66704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Elbow Connector 15"/>
          <p:cNvCxnSpPr/>
          <p:nvPr/>
        </p:nvCxnSpPr>
        <p:spPr>
          <a:xfrm>
            <a:off x="6657411" y="5167692"/>
            <a:ext cx="1108952" cy="28616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595923" y="5167692"/>
            <a:ext cx="2661" cy="2385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6613134" y="5887071"/>
            <a:ext cx="1047595" cy="28504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50" name="Straight Arrow Connector 2049"/>
          <p:cNvCxnSpPr/>
          <p:nvPr/>
        </p:nvCxnSpPr>
        <p:spPr>
          <a:xfrm flipV="1">
            <a:off x="6598584" y="5978134"/>
            <a:ext cx="0" cy="218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4351925" y="2556973"/>
                <a:ext cx="4522418" cy="880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-4572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(1±t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≤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OO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sub>
                        </m:sSub>
                        <m:r>
                          <a:rPr lang="ro-RO" sz="2200">
                            <a:latin typeface="Cambria Math"/>
                          </a:rPr>
                          <m:t>(1±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u</m:t>
                            </m:r>
                          </m:sub>
                        </m:sSub>
                        <m:r>
                          <a:rPr lang="ro-RO" sz="2200">
                            <a:latin typeface="Cambria Math"/>
                          </a:rPr>
                          <m:t>)</m:t>
                        </m:r>
                        <m:r>
                          <a:rPr lang="ro-RO" sz="2200" i="1" smtClean="0">
                            <a:latin typeface="Cambria Math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S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925" y="2556973"/>
                <a:ext cx="4522418" cy="8808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5" name="Rectangle 2054"/>
          <p:cNvSpPr/>
          <p:nvPr/>
        </p:nvSpPr>
        <p:spPr>
          <a:xfrm>
            <a:off x="6096000" y="3543935"/>
            <a:ext cx="51308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valori maxime în câmpul de toleranţă (-)</a:t>
            </a:r>
            <a:endParaRPr lang="ro-RO" sz="2000" dirty="0">
              <a:solidFill>
                <a:srgbClr val="00206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065576" y="2125148"/>
            <a:ext cx="51264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 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valori minime în câmpul de toleranţă (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o-RO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o-RO" sz="2000" dirty="0">
              <a:solidFill>
                <a:srgbClr val="002060"/>
              </a:solidFill>
            </a:endParaRPr>
          </a:p>
        </p:txBody>
      </p:sp>
      <p:cxnSp>
        <p:nvCxnSpPr>
          <p:cNvPr id="2066" name="Elbow Connector 2065"/>
          <p:cNvCxnSpPr/>
          <p:nvPr/>
        </p:nvCxnSpPr>
        <p:spPr>
          <a:xfrm rot="16200000" flipH="1">
            <a:off x="5646246" y="3359518"/>
            <a:ext cx="447687" cy="2601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987" y="2285106"/>
            <a:ext cx="3429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5" y="2928600"/>
            <a:ext cx="3533037" cy="3325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558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40" grpId="0"/>
      <p:bldP spid="2055" grpId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22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4686794" y="3405918"/>
            <a:ext cx="6927274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După ce s-a terminat cu dimensionarea rezistenţei R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situaţia în care poarta 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comandă o sarcină oarecare: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trece la etapa următoare şi anume:</a:t>
            </a:r>
          </a:p>
        </p:txBody>
      </p:sp>
      <p:sp>
        <p:nvSpPr>
          <p:cNvPr id="4" name="Rectangle 3"/>
          <p:cNvSpPr/>
          <p:nvPr/>
        </p:nvSpPr>
        <p:spPr>
          <a:xfrm>
            <a:off x="70573" y="1282260"/>
            <a:ext cx="1207720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analizat este simplu: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există o singură rezistenţă R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care trebuie dimensionată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există mai multe rezistenţe → absolut necesar ca toate să fie dimensionate: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ţinând cont de situaţia cea mai defavorabilă → funcţionare circuit.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4696" y="742573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49" y="3598278"/>
            <a:ext cx="3024283" cy="2846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2321169" y="2344089"/>
            <a:ext cx="1793631" cy="27798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489" y="5021745"/>
            <a:ext cx="3337883" cy="135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H="1">
            <a:off x="7725508" y="4314092"/>
            <a:ext cx="93784" cy="10199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25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23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397" y="585974"/>
            <a:ext cx="12077205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AutoNum type="alphaLcParenR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consideră în continuare că 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comandată la rândul ei de o altă 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 una din intrări: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Celelalte intrări se presupune că sunt comandate de alte porţi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4171" y="4346974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170" y="4777861"/>
            <a:ext cx="1103613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proiectare se dimensionează din aproape în aproape toate circuitele de la ieşire spre intrare: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de la ieşire comandă întotdeauna alt circuit (ex. mufă,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553" y="3654469"/>
            <a:ext cx="697477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trebuie dimensionată la rândul ei.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2483" y="3244334"/>
            <a:ext cx="28536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Poarta 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comandă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poarta</a:t>
            </a:r>
            <a:r>
              <a:rPr lang="ro-RO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o-RO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o-R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306" y="1869802"/>
            <a:ext cx="4028658" cy="122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034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24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3726" y="1017254"/>
            <a:ext cx="1054924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ca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să funcţioneze trebuie determinat curentul de intrare (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acestei porţi 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curent ce generează curent de sarcină (I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pentru P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3726" y="3990869"/>
                <a:ext cx="7153950" cy="16927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intrare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dat tot de rezistenţa R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Cazul cel mai defavorabil pentru funcţionare circuit: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intrare (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maxim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6" y="3990869"/>
                <a:ext cx="7153950" cy="1692707"/>
              </a:xfrm>
              <a:prstGeom prst="rect">
                <a:avLst/>
              </a:prstGeom>
              <a:blipFill>
                <a:blip r:embed="rId2"/>
                <a:stretch>
                  <a:fillRect l="-937" b="-3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76" y="2440246"/>
            <a:ext cx="3694682" cy="3327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299" y="2440248"/>
            <a:ext cx="4016124" cy="121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2051538" y="1571252"/>
            <a:ext cx="2379785" cy="1207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431323" y="1571252"/>
            <a:ext cx="3856892" cy="1312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288215" y="1571252"/>
            <a:ext cx="0" cy="26373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3" idx="2"/>
          </p:cNvCxnSpPr>
          <p:nvPr/>
        </p:nvCxnSpPr>
        <p:spPr>
          <a:xfrm flipH="1">
            <a:off x="3241430" y="2125250"/>
            <a:ext cx="2266919" cy="10868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41430" y="4536831"/>
            <a:ext cx="5726724" cy="1406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3">
            <a:extLst>
              <a:ext uri="{FF2B5EF4-FFF2-40B4-BE49-F238E27FC236}">
                <a16:creationId xmlns:a16="http://schemas.microsoft.com/office/drawing/2014/main" id="{81724D17-535F-8EFB-9483-2D9307876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699" y="2440246"/>
            <a:ext cx="3899101" cy="34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3DA670-9816-2712-C5D4-00E8E5CED4D9}"/>
              </a:ext>
            </a:extLst>
          </p:cNvPr>
          <p:cNvCxnSpPr/>
          <p:nvPr/>
        </p:nvCxnSpPr>
        <p:spPr>
          <a:xfrm>
            <a:off x="7038109" y="4442691"/>
            <a:ext cx="1930045" cy="234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0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25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3726" y="1017254"/>
                <a:ext cx="7641032" cy="1655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Cazul cel mai defavorabil →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de intrare maxim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 curentul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închide printr-o diodă: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diodă conduce, iar celelalte două sunt blocate: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6" y="1017254"/>
                <a:ext cx="7641032" cy="1655005"/>
              </a:xfrm>
              <a:prstGeom prst="rect">
                <a:avLst/>
              </a:prstGeom>
              <a:blipFill>
                <a:blip r:embed="rId2"/>
                <a:stretch>
                  <a:fillRect l="-877" r="-877" b="-7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24543" y="2668988"/>
            <a:ext cx="804644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Situaţia particulară din descrierea funcţionării logice a porţii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conduce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blocate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3724" y="4284815"/>
                <a:ext cx="7641034" cy="1154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 poate fi şi mai mare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atunci când: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adaugă şi curenţii reziduali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din cele 2 diode blocate: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4" y="4284815"/>
                <a:ext cx="7641034" cy="1154162"/>
              </a:xfrm>
              <a:prstGeom prst="rect">
                <a:avLst/>
              </a:prstGeom>
              <a:blipFill rotWithShape="1">
                <a:blip r:embed="rId5"/>
                <a:stretch>
                  <a:fillRect l="-797" r="-1356" b="-476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077718" y="5438977"/>
                <a:ext cx="5990307" cy="613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o-RO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  <m:sup>
                        <m: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2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                   </m:t>
                    </m:r>
                    <m:r>
                      <m:rPr>
                        <m:nor/>
                      </m:rPr>
                      <a:rPr lang="en-US" sz="2200" dirty="0">
                        <a:solidFill>
                          <a:srgbClr val="002060"/>
                        </a:solidFill>
                      </a:rPr>
                      <m:t>(2)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718" y="5438977"/>
                <a:ext cx="5990307" cy="613053"/>
              </a:xfrm>
              <a:prstGeom prst="rect">
                <a:avLst/>
              </a:prstGeom>
              <a:blipFill>
                <a:blip r:embed="rId6"/>
                <a:stretch>
                  <a:fillRect l="-1120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814513" y="6077274"/>
            <a:ext cx="40577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numărul de intrări</a:t>
            </a:r>
            <a:endParaRPr lang="ro-RO" sz="2200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757" y="1148530"/>
            <a:ext cx="3377387" cy="1023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025" y="2669977"/>
            <a:ext cx="3762174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2843382" y="2172271"/>
            <a:ext cx="6605418" cy="2689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708031" y="3669323"/>
            <a:ext cx="6178061" cy="6154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493477" y="3317631"/>
            <a:ext cx="5650523" cy="8675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493477" y="3868615"/>
            <a:ext cx="5392615" cy="3165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594338" y="4759569"/>
            <a:ext cx="7092462" cy="1023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>
            <a:extLst>
              <a:ext uri="{FF2B5EF4-FFF2-40B4-BE49-F238E27FC236}">
                <a16:creationId xmlns:a16="http://schemas.microsoft.com/office/drawing/2014/main" id="{A655DC7E-D7AA-C59F-B1B5-89FA05D25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71" y="2616164"/>
            <a:ext cx="3899101" cy="34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FA97F7-C59C-36B2-F44C-F8DA1F2AFF14}"/>
              </a:ext>
            </a:extLst>
          </p:cNvPr>
          <p:cNvCxnSpPr/>
          <p:nvPr/>
        </p:nvCxnSpPr>
        <p:spPr>
          <a:xfrm flipV="1">
            <a:off x="4987636" y="3868615"/>
            <a:ext cx="4575814" cy="122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12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26</a:t>
            </a:fld>
            <a:endParaRPr lang="ro-RO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3726" y="1017254"/>
                <a:ext cx="7641032" cy="21841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endParaRPr lang="ro-RO" sz="2200" dirty="0">
                  <a:latin typeface="Cambria Math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maxim când diferența de potențial e maximă (V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=V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 </a:t>
                </a:r>
                <a:endParaRPr lang="ro-RO" sz="2200" dirty="0">
                  <a:latin typeface="Cambria Math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sub>
                      <m:sup>
                        <m:r>
                          <a:rPr lang="ro-RO" sz="220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H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6" y="1017254"/>
                <a:ext cx="7641032" cy="2184188"/>
              </a:xfrm>
              <a:prstGeom prst="rect">
                <a:avLst/>
              </a:prstGeom>
              <a:blipFill>
                <a:blip r:embed="rId2"/>
                <a:stretch>
                  <a:fillRect l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78532" y="4786374"/>
                <a:ext cx="7374868" cy="10477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 (2)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o-RO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o-RO" sz="22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ro-RO" sz="22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OO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</a:rPr>
                                      <m:t>O</m:t>
                                    </m:r>
                                  </m:sub>
                                </m:sSub>
                              </m:den>
                            </m:f>
                          </m:e>
                        </m:groupChr>
                      </m:e>
                      <m:lim>
                        <m:sSubSup>
                          <m:sSubSupPr>
                            <m:ctrlPr>
                              <a:rPr lang="ro-RO" sz="2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sub>
                          <m:sup>
                            <m:r>
                              <a:rPr lang="ro-RO" sz="220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lim>
                    </m:limLow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ro-RO" sz="22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</a:rPr>
                  <a:t>                   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32" y="4786374"/>
                <a:ext cx="7374868" cy="1047787"/>
              </a:xfrm>
              <a:prstGeom prst="rect">
                <a:avLst/>
              </a:prstGeom>
              <a:blipFill>
                <a:blip r:embed="rId3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33726" y="3469822"/>
            <a:ext cx="77780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Cazul cel mai defavorabil →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ţia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funcţionare corectă: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atât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logic cât si electronic </a:t>
            </a:r>
            <a:endParaRPr lang="ro-RO" sz="2200" dirty="0">
              <a:solidFill>
                <a:srgbClr val="002060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128" y="1181377"/>
            <a:ext cx="4165625" cy="126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025" y="2549603"/>
            <a:ext cx="3899101" cy="34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71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D3E3-E0DA-4993-A096-E2A86A95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37" y="1176246"/>
            <a:ext cx="11851151" cy="720793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rezidual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depinde de temperatură la care lucrează dioda →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creşte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liniar odată cu ea: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27</a:t>
            </a:fld>
            <a:endParaRPr lang="ro-RO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233D70-F431-4289-9694-96B694F26C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021" y="2333767"/>
            <a:ext cx="3599668" cy="302980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5D549F-D055-421C-A88A-316C5DB72EC3}"/>
              </a:ext>
            </a:extLst>
          </p:cNvPr>
          <p:cNvSpPr/>
          <p:nvPr/>
        </p:nvSpPr>
        <p:spPr>
          <a:xfrm>
            <a:off x="8221807" y="5890984"/>
            <a:ext cx="3784882" cy="3114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Fig.4 Curentul re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idual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funcţie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temperatur</a:t>
            </a:r>
            <a:r>
              <a:rPr lang="ro-RO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ă</a:t>
            </a:r>
            <a:endParaRPr lang="ro-RO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349618" y="2188866"/>
            <a:ext cx="7470549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găseşte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 foile de catalog 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maxim?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temperatură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cunoscută: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0max 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superioară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circuit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ventilatoare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răcire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702257" y="1760561"/>
            <a:ext cx="6673755" cy="22518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73A269-D3C6-224E-B4E0-AE8E4E9A76E2}"/>
              </a:ext>
            </a:extLst>
          </p:cNvPr>
          <p:cNvCxnSpPr/>
          <p:nvPr/>
        </p:nvCxnSpPr>
        <p:spPr>
          <a:xfrm flipV="1">
            <a:off x="2004291" y="4165600"/>
            <a:ext cx="8449274" cy="43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2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2195" y="1176246"/>
                <a:ext cx="11496641" cy="5196265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 interes → C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proiectează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circuit numeric (calculator)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funcţie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condiţiile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funcţionare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Apare o p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roblemă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ieşire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rezulta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subunitar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;  E – notat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eficienţa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ies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L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lvl="0"/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2060"/>
                  </a:solidFill>
                  <a:effectLst>
                    <a:reflection blurRad="6350" stA="53000" endA="300" endPos="35500" dir="5400000" sy="-90000" algn="bl"/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2D3E3-E0DA-4993-A096-E2A86A957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2195" y="1176246"/>
                <a:ext cx="11496641" cy="5196265"/>
              </a:xfrm>
              <a:blipFill>
                <a:blip r:embed="rId2"/>
                <a:stretch>
                  <a:fillRect l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28</a:t>
            </a:fld>
            <a:endParaRPr lang="ro-RO"/>
          </a:p>
        </p:txBody>
      </p:sp>
      <p:sp>
        <p:nvSpPr>
          <p:cNvPr id="8" name="Rectangle 7"/>
          <p:cNvSpPr/>
          <p:nvPr/>
        </p:nvSpPr>
        <p:spPr>
          <a:xfrm>
            <a:off x="158549" y="538295"/>
            <a:ext cx="1883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Observație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11397" y="5190192"/>
                <a:ext cx="4009174" cy="10456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sub>
                    </m:sSub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ro-RO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ro-RO" sz="2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OO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ro-RO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sub>
                                </m:sSub>
                              </m:den>
                            </m:f>
                          </m:e>
                        </m:groupChr>
                      </m:e>
                      <m:lim>
                        <m:sSubSup>
                          <m:sSubSup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sub>
                          <m:sup>
                            <m:r>
                              <a:rPr lang="ro-RO" sz="2200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lim>
                    </m:limLow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(</m:t>
                    </m:r>
                    <m:r>
                      <m:rPr>
                        <m:sty m:val="p"/>
                      </m:rP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sSub>
                      <m:sSub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o-RO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97" y="5190192"/>
                <a:ext cx="4009174" cy="10456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810" y="3446281"/>
            <a:ext cx="3518963" cy="3130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211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29</a:t>
            </a:fld>
            <a:endParaRPr lang="ro-RO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9516" y="1358042"/>
                <a:ext cx="6096000" cy="26848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/>
                                  </a:rPr>
                                  <m:t>OO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/>
                                  </a:rPr>
                                  <m:t>O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/>
                                  </a:rPr>
                                  <m:t>OO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latin typeface="Cambria Math"/>
                                  </a:rPr>
                                  <m:t>O</m:t>
                                </m:r>
                              </m:sub>
                            </m:sSub>
                          </m:den>
                        </m:f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−1)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Deoarece: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L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ro-RO" sz="2200" i="0">
                        <a:latin typeface="Cambria Math" panose="02040503050406030204" pitchFamily="18" charset="0"/>
                      </a:rPr>
                      <m:t> &lt;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H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16" y="1358042"/>
                <a:ext cx="6096000" cy="26848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59390" y="811792"/>
            <a:ext cx="400789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inlocuiesc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termenii în relaţia: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522755" y="876811"/>
                <a:ext cx="1512081" cy="6240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755" y="876811"/>
                <a:ext cx="1512081" cy="6240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762592" y="3945504"/>
                <a:ext cx="1965346" cy="8234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fontAlgn="base">
                  <a:lnSpc>
                    <a:spcPct val="150000"/>
                  </a:lnSpc>
                  <a:buFont typeface="Symbol"/>
                  <a:buChar char="Þ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ro-RO" sz="2200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592" y="3945504"/>
                <a:ext cx="1965346" cy="8234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58581" y="4877628"/>
            <a:ext cx="19415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Observație</a:t>
            </a:r>
            <a:r>
              <a:rPr lang="en-US" sz="22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389" y="5303151"/>
            <a:ext cx="1126850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este în regulă ca un curent de intrare să fie mai mic decât un curent de ieşire (anomalie)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obicei cel care comandă trebuie să fie mai puternic!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423368-0F5D-4BBE-8F33-CFE00A8BFC8F}"/>
              </a:ext>
            </a:extLst>
          </p:cNvPr>
          <p:cNvSpPr txBox="1"/>
          <p:nvPr/>
        </p:nvSpPr>
        <p:spPr>
          <a:xfrm>
            <a:off x="4858071" y="2584785"/>
            <a:ext cx="24112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elimina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Elbow Connector 9"/>
          <p:cNvCxnSpPr/>
          <p:nvPr/>
        </p:nvCxnSpPr>
        <p:spPr>
          <a:xfrm>
            <a:off x="3727938" y="2740028"/>
            <a:ext cx="1060083" cy="12040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557516" y="2586053"/>
            <a:ext cx="170422" cy="1552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242" y="1449981"/>
            <a:ext cx="3859177" cy="343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477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30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5" name="Rectangle 4"/>
          <p:cNvSpPr/>
          <p:nvPr/>
        </p:nvSpPr>
        <p:spPr>
          <a:xfrm>
            <a:off x="385368" y="745359"/>
            <a:ext cx="22275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Oberva</a:t>
            </a:r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ţii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9392" y="1180219"/>
                <a:ext cx="9385109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situaţiile analizate s-a neglijat căderea de tensiune de pe diode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14:m>
                  <m:oMath xmlns:m="http://schemas.openxmlformats.org/officeDocument/2006/math">
                    <m:r>
                      <a:rPr lang="ro-RO" sz="2200" i="1">
                        <a:latin typeface="Cambria Math"/>
                      </a:rPr>
                      <m:t>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0,6 V):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a vedea cum funcţionează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d.p.d.v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logic: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92" y="1180219"/>
                <a:ext cx="9385109" cy="1107996"/>
              </a:xfrm>
              <a:prstGeom prst="rect">
                <a:avLst/>
              </a:prstGeom>
              <a:blipFill rotWithShape="1">
                <a:blip r:embed="rId2"/>
                <a:stretch>
                  <a:fillRect l="-714" b="-497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59392" y="2190292"/>
            <a:ext cx="1818083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Exemplu: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697" y="2872680"/>
            <a:ext cx="2491810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-15V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→∞ I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0,6V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o-RO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 K</a:t>
            </a:r>
            <a:r>
              <a:rPr lang="el-G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49670" y="4480812"/>
            <a:ext cx="15729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?</a:t>
            </a:r>
            <a:endParaRPr lang="ro-RO" sz="2200" b="1" dirty="0">
              <a:solidFill>
                <a:srgbClr val="00B050"/>
              </a:solidFill>
            </a:endParaRPr>
          </a:p>
        </p:txBody>
      </p:sp>
      <p:sp>
        <p:nvSpPr>
          <p:cNvPr id="15" name="Right Brace 14"/>
          <p:cNvSpPr/>
          <p:nvPr/>
        </p:nvSpPr>
        <p:spPr>
          <a:xfrm>
            <a:off x="2770496" y="3084394"/>
            <a:ext cx="382137" cy="31662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733" y="2614771"/>
            <a:ext cx="3862660" cy="338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90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31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Între tensiunea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(-15V) şi oricare dintre intrări →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o cădere de tensiune maximă 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9245" y="3091873"/>
            <a:ext cx="3688830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718" y="4246038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5" y="4866677"/>
                <a:ext cx="4310157" cy="13951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o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5" y="4866677"/>
                <a:ext cx="4310157" cy="1395190"/>
              </a:xfrm>
              <a:prstGeom prst="rect">
                <a:avLst/>
              </a:prstGeom>
              <a:blipFill>
                <a:blip r:embed="rId2"/>
                <a:stretch>
                  <a:fillRect l="-1556" b="-6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580" y="2614771"/>
            <a:ext cx="3862660" cy="338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75" y="2432536"/>
            <a:ext cx="4067052" cy="3872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65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32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03696" y="1486600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4127" y="2288756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66666" y="3033177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ight Brace 14"/>
          <p:cNvSpPr/>
          <p:nvPr/>
        </p:nvSpPr>
        <p:spPr>
          <a:xfrm>
            <a:off x="2731091" y="4281001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301937" y="4579357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- 0,685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590" y="5379355"/>
            <a:ext cx="115654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ieşire se obţine o tensiune 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0,6 V (tensiunea de prag )</a:t>
            </a:r>
          </a:p>
        </p:txBody>
      </p:sp>
      <p:cxnSp>
        <p:nvCxnSpPr>
          <p:cNvPr id="2062" name="Straight Arrow Connector 2061"/>
          <p:cNvCxnSpPr/>
          <p:nvPr/>
        </p:nvCxnSpPr>
        <p:spPr>
          <a:xfrm flipH="1" flipV="1">
            <a:off x="5238911" y="5181937"/>
            <a:ext cx="2533525" cy="6880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51866" y="1560325"/>
                <a:ext cx="4310157" cy="301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B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66" y="1560325"/>
                <a:ext cx="4310157" cy="3019032"/>
              </a:xfrm>
              <a:prstGeom prst="rect">
                <a:avLst/>
              </a:prstGeom>
              <a:blipFill rotWithShape="1">
                <a:blip r:embed="rId2"/>
                <a:stretch>
                  <a:fillRect l="-1556" b="-6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>
            <a:endCxn id="3" idx="1"/>
          </p:cNvCxnSpPr>
          <p:nvPr/>
        </p:nvCxnSpPr>
        <p:spPr>
          <a:xfrm flipV="1">
            <a:off x="1348154" y="1715637"/>
            <a:ext cx="1355542" cy="1366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1327467" y="2449488"/>
            <a:ext cx="1355542" cy="1366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348154" y="3262214"/>
            <a:ext cx="1355542" cy="1366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12590" y="4715354"/>
                <a:ext cx="2093907" cy="62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90" y="4715354"/>
                <a:ext cx="2093907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089" y="1330947"/>
            <a:ext cx="4200281" cy="3999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27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5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33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la toate intrările se aplică nivel logic superior: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Între tensiunea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(-15V) şi oricare dintre intrări → (V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există o cădere de tensiune maximă 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9245" y="3091873"/>
            <a:ext cx="3688830" cy="666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718" y="4246038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5" y="4866677"/>
                <a:ext cx="4310157" cy="1435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5" y="4866677"/>
                <a:ext cx="4310157" cy="1435521"/>
              </a:xfrm>
              <a:prstGeom prst="rect">
                <a:avLst/>
              </a:prstGeom>
              <a:blipFill>
                <a:blip r:embed="rId2"/>
                <a:stretch>
                  <a:fillRect l="-1556" b="-2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22" y="2658669"/>
            <a:ext cx="3862660" cy="338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3692769" y="2414954"/>
            <a:ext cx="5583383" cy="2743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988075" y="3223846"/>
            <a:ext cx="3440817" cy="3634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988075" y="3587262"/>
            <a:ext cx="331186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988075" y="3587262"/>
            <a:ext cx="3440817" cy="5275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EDDAC28-A57F-5F59-4C79-553E89C1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011" y="2492878"/>
            <a:ext cx="4174295" cy="3560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F0AFBA-DAA9-0FA9-7608-6F4415734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011" y="2492878"/>
            <a:ext cx="4201673" cy="4000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78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34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90" y="926442"/>
            <a:ext cx="1156542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548618" y="1700651"/>
                <a:ext cx="4310157" cy="301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 i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2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A</m:t>
                            </m:r>
                          </m:sub>
                        </m:sSub>
                        <m:r>
                          <a:rPr lang="ro-RO" sz="22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B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 b="0" i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C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 b="0" i="0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8" y="1700651"/>
                <a:ext cx="4310157" cy="3019032"/>
              </a:xfrm>
              <a:prstGeom prst="rect">
                <a:avLst/>
              </a:prstGeom>
              <a:blipFill rotWithShape="1">
                <a:blip r:embed="rId2"/>
                <a:stretch>
                  <a:fillRect l="-1556" b="-6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703696" y="1486600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4127" y="2288756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66666" y="3033177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2239" y="4912525"/>
                <a:ext cx="2093907" cy="62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9" y="4912525"/>
                <a:ext cx="2093907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/>
          <p:cNvSpPr/>
          <p:nvPr/>
        </p:nvSpPr>
        <p:spPr>
          <a:xfrm>
            <a:off x="2856096" y="4339988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301937" y="4579357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4,35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2239" y="5551920"/>
            <a:ext cx="1133927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ieşire se obţine o tensiune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0,6 V - tensiunea de prag )</a:t>
            </a:r>
          </a:p>
        </p:txBody>
      </p:sp>
      <p:cxnSp>
        <p:nvCxnSpPr>
          <p:cNvPr id="2062" name="Straight Arrow Connector 2061"/>
          <p:cNvCxnSpPr/>
          <p:nvPr/>
        </p:nvCxnSpPr>
        <p:spPr>
          <a:xfrm flipH="1" flipV="1">
            <a:off x="5238911" y="5181937"/>
            <a:ext cx="2533525" cy="6880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V="1">
            <a:off x="1735015" y="1715637"/>
            <a:ext cx="848449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735015" y="2517793"/>
            <a:ext cx="901820" cy="1880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735015" y="3262214"/>
            <a:ext cx="968681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673" y="1311259"/>
            <a:ext cx="4115045" cy="39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22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5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35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p:sp>
        <p:nvSpPr>
          <p:cNvPr id="16" name="Rectangle 15"/>
          <p:cNvSpPr/>
          <p:nvPr/>
        </p:nvSpPr>
        <p:spPr>
          <a:xfrm>
            <a:off x="212589" y="926442"/>
            <a:ext cx="118656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presupune că o intrare se aplică nivel logic superior, iar la celelalte nivel logic inferior: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03584" y="1844731"/>
            <a:ext cx="310854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→ blocat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0660" y="3386229"/>
            <a:ext cx="54473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echivalentă → pentru cele 3 diode: </a:t>
            </a:r>
            <a:endParaRPr lang="ro-RO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1299243" y="4061928"/>
                <a:ext cx="4310157" cy="11700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43" y="4061928"/>
                <a:ext cx="4310157" cy="1170064"/>
              </a:xfrm>
              <a:prstGeom prst="rect">
                <a:avLst/>
              </a:prstGeom>
              <a:blipFill rotWithShape="1">
                <a:blip r:embed="rId2"/>
                <a:stretch>
                  <a:fillRect l="-1556" b="-260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3103584" y="2320255"/>
            <a:ext cx="281038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fontAlgn="base">
              <a:lnSpc>
                <a:spcPct val="15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conducţie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323" y="1808984"/>
            <a:ext cx="27685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1615" y="5697392"/>
            <a:ext cx="489236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569" y="1931065"/>
            <a:ext cx="4136817" cy="382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Straight Arrow Connector 25"/>
          <p:cNvCxnSpPr>
            <a:stCxn id="22" idx="0"/>
          </p:cNvCxnSpPr>
          <p:nvPr/>
        </p:nvCxnSpPr>
        <p:spPr>
          <a:xfrm>
            <a:off x="4508777" y="2320255"/>
            <a:ext cx="3380854" cy="2119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0"/>
          </p:cNvCxnSpPr>
          <p:nvPr/>
        </p:nvCxnSpPr>
        <p:spPr>
          <a:xfrm>
            <a:off x="4508777" y="2320255"/>
            <a:ext cx="3380854" cy="7042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217157" y="2778369"/>
            <a:ext cx="3848320" cy="7385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344117" y="4004283"/>
                <a:ext cx="2093907" cy="62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117" y="4004283"/>
                <a:ext cx="2093907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1" name="Straight Arrow Connector 2050"/>
          <p:cNvCxnSpPr/>
          <p:nvPr/>
        </p:nvCxnSpPr>
        <p:spPr>
          <a:xfrm>
            <a:off x="2571615" y="5134708"/>
            <a:ext cx="159862" cy="390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3" name="Straight Arrow Connector 2052"/>
          <p:cNvCxnSpPr/>
          <p:nvPr/>
        </p:nvCxnSpPr>
        <p:spPr>
          <a:xfrm flipH="1">
            <a:off x="2731477" y="5134708"/>
            <a:ext cx="234461" cy="390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7C9DDB1-E65C-AFAA-9808-531D11D57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122" y="1469048"/>
            <a:ext cx="40195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4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36</a:t>
            </a:fld>
            <a:endParaRPr lang="ro-R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 . Funcţionare electronică.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" name="Rectangle 2047"/>
              <p:cNvSpPr/>
              <p:nvPr/>
            </p:nvSpPr>
            <p:spPr>
              <a:xfrm>
                <a:off x="534526" y="1735313"/>
                <a:ext cx="4310157" cy="1963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sz="22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C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ro-RO" sz="220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/>
                              </a:rPr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>
                  <a:latin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o-RO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o-RO" sz="220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ro-RO" sz="2200" b="0" i="0" baseline="-25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48" name="Rectangle 20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26" y="1735313"/>
                <a:ext cx="4310157" cy="1963230"/>
              </a:xfrm>
              <a:prstGeom prst="rect">
                <a:avLst/>
              </a:prstGeom>
              <a:blipFill rotWithShape="1">
                <a:blip r:embed="rId2"/>
                <a:stretch>
                  <a:fillRect l="-155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1825496" y="1889683"/>
            <a:ext cx="598241" cy="458074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1646636" y="2164838"/>
            <a:ext cx="178860" cy="2290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/>
          <p:cNvSpPr/>
          <p:nvPr/>
        </p:nvSpPr>
        <p:spPr>
          <a:xfrm>
            <a:off x="2734395" y="3051341"/>
            <a:ext cx="146720" cy="10235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Rectangle 32"/>
          <p:cNvSpPr/>
          <p:nvPr/>
        </p:nvSpPr>
        <p:spPr>
          <a:xfrm>
            <a:off x="3064301" y="3184536"/>
            <a:ext cx="26531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702893"/>
            <a:ext cx="1196926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fontAlgn="base">
              <a:lnSpc>
                <a:spcPct val="200000"/>
              </a:lnSpc>
              <a:buFont typeface="Symbol"/>
              <a:buChar char="Þ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 de intrare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ieşire se obţine o tensiune (V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–V</a:t>
            </a:r>
            <a:r>
              <a:rPr lang="ro-RO" sz="22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→ 0,6 V - tensiunea de prag </a:t>
            </a:r>
          </a:p>
        </p:txBody>
      </p:sp>
      <p:cxnSp>
        <p:nvCxnSpPr>
          <p:cNvPr id="2062" name="Straight Arrow Connector 2061"/>
          <p:cNvCxnSpPr/>
          <p:nvPr/>
        </p:nvCxnSpPr>
        <p:spPr>
          <a:xfrm flipH="1" flipV="1">
            <a:off x="4716876" y="3842894"/>
            <a:ext cx="2914847" cy="1023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6647" y="781687"/>
            <a:ext cx="27685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ro-RO" sz="22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02239" y="3637256"/>
                <a:ext cx="2093907" cy="62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22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sub>
                    </m:sSub>
                    <m:r>
                      <a:rPr lang="ro-RO" sz="2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o-RO" sz="22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OO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b="0" i="0" smtClean="0">
                                <a:latin typeface="Cambria Math"/>
                              </a:rPr>
                              <m:t>O</m:t>
                            </m:r>
                          </m:sub>
                        </m:sSub>
                      </m:den>
                    </m:f>
                  </m:oMath>
                </a14:m>
                <a:endParaRPr lang="ro-RO" sz="22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39" y="3637256"/>
                <a:ext cx="2093907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534526" y="5479501"/>
            <a:ext cx="249265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ţie:</a:t>
            </a:r>
            <a:endParaRPr lang="ro-RO" sz="2200" b="1" dirty="0">
              <a:solidFill>
                <a:srgbClr val="00B05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2239" y="5962267"/>
            <a:ext cx="113936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Poarta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 o deplasare de nivel spre valori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≈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tensiunea de prag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endParaRPr lang="ro-RO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0E7B9-1143-C63B-BA22-5A40F5BDA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327" y="974048"/>
            <a:ext cx="3990331" cy="350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3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37</a:t>
            </a:fld>
            <a:endParaRPr lang="ro-RO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12" name="Rectangle 11"/>
          <p:cNvSpPr/>
          <p:nvPr/>
        </p:nvSpPr>
        <p:spPr>
          <a:xfrm>
            <a:off x="372506" y="1181205"/>
            <a:ext cx="199285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Dezavantaj: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120" y="1872932"/>
            <a:ext cx="662617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asigurată funcţia logică, dar: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→ asigurate compatibilităţi de nivel logic: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SAU introduce o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nivel spre valori negative ≈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→ asigurat un curent de ieşire mai mare: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65359" y="4509959"/>
                <a:ext cx="1965346" cy="8234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 fontAlgn="base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2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int</m:t>
                            </m:r>
                          </m:sub>
                        </m:sSub>
                      </m:den>
                    </m:f>
                    <m:r>
                      <a:rPr lang="ro-RO" sz="22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o-RO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o-RO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359" y="4509959"/>
                <a:ext cx="1965346" cy="8234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321B9C5A-9DC5-AB8E-FB2D-51D515C23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727" y="1872932"/>
            <a:ext cx="43053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A23F2B-B9E9-9AE9-1C37-D22D7088639E}"/>
              </a:ext>
            </a:extLst>
          </p:cNvPr>
          <p:cNvCxnSpPr/>
          <p:nvPr/>
        </p:nvCxnSpPr>
        <p:spPr>
          <a:xfrm flipV="1">
            <a:off x="4248727" y="3537527"/>
            <a:ext cx="4433455" cy="18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0F2976-8788-377F-6953-E993F0A5B4B2}"/>
              </a:ext>
            </a:extLst>
          </p:cNvPr>
          <p:cNvCxnSpPr/>
          <p:nvPr/>
        </p:nvCxnSpPr>
        <p:spPr>
          <a:xfrm>
            <a:off x="4248727" y="3722255"/>
            <a:ext cx="3904673" cy="286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67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38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5D549F-D055-421C-A88A-316C5DB72EC3}"/>
              </a:ext>
            </a:extLst>
          </p:cNvPr>
          <p:cNvSpPr/>
          <p:nvPr/>
        </p:nvSpPr>
        <p:spPr>
          <a:xfrm>
            <a:off x="6576291" y="5264602"/>
            <a:ext cx="5724235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Fig.5 </a:t>
            </a:r>
            <a:r>
              <a:rPr lang="en-US" sz="1400" b="1" dirty="0" err="1"/>
              <a:t>Amplificator</a:t>
            </a:r>
            <a:r>
              <a:rPr lang="en-US" sz="1400" b="1" dirty="0"/>
              <a:t> </a:t>
            </a:r>
            <a:r>
              <a:rPr lang="en-US" sz="1400" b="1" dirty="0" err="1"/>
              <a:t>montat</a:t>
            </a:r>
            <a:r>
              <a:rPr lang="en-US" sz="1400" b="1" dirty="0"/>
              <a:t> pe </a:t>
            </a:r>
            <a:r>
              <a:rPr lang="en-US" sz="1400" b="1" dirty="0" err="1"/>
              <a:t>ieşirea</a:t>
            </a:r>
            <a:r>
              <a:rPr lang="en-US" sz="1400" b="1" dirty="0"/>
              <a:t> </a:t>
            </a:r>
            <a:r>
              <a:rPr lang="en-US" sz="1400" b="1" dirty="0" err="1"/>
              <a:t>porţii</a:t>
            </a:r>
            <a:r>
              <a:rPr lang="en-US" sz="1400" b="1" dirty="0"/>
              <a:t>  P</a:t>
            </a:r>
            <a:r>
              <a:rPr lang="en-US" sz="1400" b="1" baseline="-25000" dirty="0"/>
              <a:t>2</a:t>
            </a:r>
            <a:endParaRPr lang="ro-RO" sz="1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Funcţionare electronică.</a:t>
            </a:r>
            <a:endParaRPr lang="ro-RO" sz="2800" dirty="0"/>
          </a:p>
        </p:txBody>
      </p:sp>
      <p:sp>
        <p:nvSpPr>
          <p:cNvPr id="11" name="Rectangle 10"/>
          <p:cNvSpPr/>
          <p:nvPr/>
        </p:nvSpPr>
        <p:spPr>
          <a:xfrm>
            <a:off x="406966" y="938386"/>
            <a:ext cx="939062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Practic, o poartă identică nu poate comanda o altă poartă identică cu 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poate comanda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trebuie redimensionată!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65" y="3083884"/>
            <a:ext cx="6716579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Pentru a înlătura acest dezavantaj: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mai trebui adăugat un Amplificator  pentru a: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Creşte curentul de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Asigura compatibilitatea nivelelor logice.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Soluţie: se adaugă un Tranzistor </a:t>
            </a:r>
          </a:p>
          <a:p>
            <a:endParaRPr lang="ro-RO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545" y="3220004"/>
            <a:ext cx="3727412" cy="1734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392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39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A3251A-5696-41BC-839E-7B2B1008C98C}"/>
              </a:ext>
            </a:extLst>
          </p:cNvPr>
          <p:cNvSpPr/>
          <p:nvPr/>
        </p:nvSpPr>
        <p:spPr>
          <a:xfrm>
            <a:off x="7313422" y="5660277"/>
            <a:ext cx="464550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Fig.10 Timpii de </a:t>
            </a:r>
            <a:r>
              <a:rPr lang="ro-RO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tranziţie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06878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ȘI/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.Timpi de propagare.</a:t>
            </a:r>
            <a:endParaRPr lang="ro-RO" sz="2800" dirty="0"/>
          </a:p>
        </p:txBody>
      </p:sp>
      <p:sp>
        <p:nvSpPr>
          <p:cNvPr id="8" name="Rectangle 7"/>
          <p:cNvSpPr/>
          <p:nvPr/>
        </p:nvSpPr>
        <p:spPr>
          <a:xfrm>
            <a:off x="193883" y="745359"/>
            <a:ext cx="15488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Observații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83" y="1319457"/>
            <a:ext cx="6459416" cy="5109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lângă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nteresează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timpii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produce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efectul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valoarea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răspunsul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întârziere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doar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situaţia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depinde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Timpii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răspuns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circuitului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inerţie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pLH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b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pHL</a:t>
            </a:r>
            <a:r>
              <a:rPr lang="ro-RO" sz="2200" b="1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940" y="1673469"/>
            <a:ext cx="5280963" cy="3801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>
            <a:off x="1348154" y="2297723"/>
            <a:ext cx="6740769" cy="2719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606062" y="2297723"/>
            <a:ext cx="8464061" cy="2719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9BA3AA6-803F-4E14-9BD3-7C4AAB549B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299" y="1293658"/>
            <a:ext cx="5433193" cy="487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A3251A-5696-41BC-839E-7B2B1008C98C}"/>
              </a:ext>
            </a:extLst>
          </p:cNvPr>
          <p:cNvSpPr/>
          <p:nvPr/>
        </p:nvSpPr>
        <p:spPr>
          <a:xfrm>
            <a:off x="7231401" y="6005519"/>
            <a:ext cx="464550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Fig.1</a:t>
            </a:r>
            <a:r>
              <a:rPr lang="ro-RO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Timpii de </a:t>
            </a:r>
            <a:r>
              <a:rPr lang="ro-RO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tranziţie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SAU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353907" y="2625969"/>
            <a:ext cx="1512278" cy="15708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18737" y="4196863"/>
            <a:ext cx="2286000" cy="574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1164998" y="5273392"/>
            <a:ext cx="7031357" cy="3683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 flipV="1">
            <a:off x="1440873" y="5654315"/>
            <a:ext cx="8758204" cy="663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089914" y="1839379"/>
            <a:ext cx="2765501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tranziţie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042956" y="5193880"/>
            <a:ext cx="2942922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timpi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propagare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AE29B6A-A7D7-7B5A-D196-C489E65A0530}"/>
              </a:ext>
            </a:extLst>
          </p:cNvPr>
          <p:cNvSpPr/>
          <p:nvPr/>
        </p:nvSpPr>
        <p:spPr>
          <a:xfrm>
            <a:off x="1733260" y="5091119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7" grpId="0"/>
      <p:bldP spid="28" grpId="0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40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C76A8D-F440-443A-8883-79FDC0C1DD39}"/>
              </a:ext>
            </a:extLst>
          </p:cNvPr>
          <p:cNvSpPr/>
          <p:nvPr/>
        </p:nvSpPr>
        <p:spPr>
          <a:xfrm>
            <a:off x="7018608" y="6284996"/>
            <a:ext cx="50988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Fig.1</a:t>
            </a:r>
            <a:r>
              <a:rPr lang="ro-RO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Timpii de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propagare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ŞI/SAU</a:t>
            </a:r>
            <a:endParaRPr lang="ro-R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382520" y="-6419"/>
            <a:ext cx="688486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oarta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ȘI/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Timpi de propagare.</a:t>
            </a:r>
            <a:endParaRPr lang="ro-RO" sz="2800" dirty="0"/>
          </a:p>
        </p:txBody>
      </p:sp>
      <p:sp>
        <p:nvSpPr>
          <p:cNvPr id="8" name="Rectangle 7"/>
          <p:cNvSpPr/>
          <p:nvPr/>
        </p:nvSpPr>
        <p:spPr>
          <a:xfrm>
            <a:off x="470677" y="569527"/>
            <a:ext cx="15488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Observații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26896" y="913958"/>
                <a:ext cx="6096000" cy="57210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roiectanţi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ați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propagă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până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ieşire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!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arametrii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specificaţi →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esenţiali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definirea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circuitului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fi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timpii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propagare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trebuie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!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0" lvl="3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influenţaţi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RC: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Ex. calcul pentru poarta ȘI: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pLH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AA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200" i="0">
                                <a:latin typeface="Cambria Math"/>
                              </a:rPr>
                              <m:t>0,1</m:t>
                            </m:r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200" i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AA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T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;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o-RO" sz="22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pHL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 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o-RO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2200" i="0">
                        <a:latin typeface="Cambria Math"/>
                      </a:rPr>
                      <m:t>⋅</m:t>
                    </m:r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o-RO" sz="2200" i="0">
                            <a:latin typeface="Cambria Math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200" i="0">
                                <a:latin typeface="Cambria Math"/>
                              </a:rPr>
                              <m:t>0,9</m:t>
                            </m:r>
                            <m:d>
                              <m:d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2200" i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o-RO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ro-RO" sz="2200" i="0"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ro-RO" sz="2200" i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o-RO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2200" i="0">
                                    <a:latin typeface="Cambria Math"/>
                                  </a:rPr>
                                  <m:t>T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96" y="913958"/>
                <a:ext cx="6096000" cy="5721053"/>
              </a:xfrm>
              <a:prstGeom prst="rect">
                <a:avLst/>
              </a:prstGeom>
              <a:blipFill>
                <a:blip r:embed="rId2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113" y="-46717"/>
            <a:ext cx="5247887" cy="5741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04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721009" cy="100965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Poarta SAU – Parametrii dinamici</a:t>
            </a:r>
            <a:endParaRPr lang="ro-RO" sz="28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41</a:t>
            </a:fld>
            <a:endParaRPr lang="ro-RO" dirty="0"/>
          </a:p>
        </p:txBody>
      </p:sp>
      <p:sp>
        <p:nvSpPr>
          <p:cNvPr id="4" name="Rectangle 3"/>
          <p:cNvSpPr/>
          <p:nvPr/>
        </p:nvSpPr>
        <p:spPr>
          <a:xfrm>
            <a:off x="292072" y="1110734"/>
            <a:ext cx="142378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Concluzii</a:t>
            </a:r>
            <a:r>
              <a:rPr lang="en-US" sz="2200" b="1" dirty="0"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2200" b="1" dirty="0">
              <a:solidFill>
                <a:srgbClr val="00B050"/>
              </a:solidFill>
              <a:effectLst>
                <a:reflection blurRad="6350" stA="53000" endA="300" endPos="35500" dir="5400000" sy="-90000" algn="bl"/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2708" y="1844604"/>
            <a:ext cx="10339754" cy="3718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mii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timpii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necesar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egali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aceşti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lucrurile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Tendinţa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 de a face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Lucruri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369129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721009" cy="100965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ntaje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/Dezavantaje ale circuitelor cu diode</a:t>
            </a:r>
            <a:endParaRPr lang="ro-RO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42</a:t>
            </a:fld>
            <a:endParaRPr lang="ro-RO" dirty="0"/>
          </a:p>
        </p:txBody>
      </p:sp>
      <p:sp>
        <p:nvSpPr>
          <p:cNvPr id="8" name="Rectangle 7"/>
          <p:cNvSpPr/>
          <p:nvPr/>
        </p:nvSpPr>
        <p:spPr>
          <a:xfrm>
            <a:off x="375138" y="1106050"/>
            <a:ext cx="11535507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 </a:t>
            </a:r>
            <a:endParaRPr lang="ro-RO" sz="1400" dirty="0"/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singurul dispozitiv cu ajutorul căruia se  generează funcţii logice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zare în circuitele numerice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 logică corectă 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rebuie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găsite diode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căderile de tensiune să fie cât mai mici (Obs: Nu e posibil!)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se folosesc doar porţi formate din diode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 disfuncţionalităţi: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/SAU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comandă altă poartă şi apoi alta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Întârzieri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se mai identifică tensiunea de prag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Dioda semiconductoare → repetă tensiunea de la o bornă la alta: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are putere de a comanda suficiente porţi!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Funcţionare electronică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mensionare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</a:p>
          <a:p>
            <a:pPr lvl="0">
              <a:lnSpc>
                <a:spcPct val="150000"/>
              </a:lnSpc>
            </a:pPr>
            <a:endParaRPr lang="ro-RO" sz="2800" dirty="0"/>
          </a:p>
        </p:txBody>
      </p:sp>
    </p:spTree>
    <p:extLst>
      <p:ext uri="{BB962C8B-B14F-4D97-AF65-F5344CB8AC3E}">
        <p14:creationId xmlns:p14="http://schemas.microsoft.com/office/powerpoint/2010/main" val="142246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721009" cy="100965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ntaje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/Dezavantaje ale circuitelor cu diode</a:t>
            </a:r>
            <a:endParaRPr lang="ro-RO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43</a:t>
            </a:fld>
            <a:endParaRPr lang="ro-RO" dirty="0"/>
          </a:p>
        </p:txBody>
      </p:sp>
      <p:sp>
        <p:nvSpPr>
          <p:cNvPr id="8" name="Rectangle 7"/>
          <p:cNvSpPr/>
          <p:nvPr/>
        </p:nvSpPr>
        <p:spPr>
          <a:xfrm>
            <a:off x="375138" y="1106050"/>
            <a:ext cx="1153550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 </a:t>
            </a:r>
            <a:endParaRPr lang="ro-RO" sz="1400" dirty="0"/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Calculatorul → format din porţi logice – semnalul se propagă din poartă în poartă 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Proiectarea circuitelor logice se face astfel încât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alculatorul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să funcţioneze în cazul cel mai defavorabil!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proiectare se porneşte de la ieşire la intrare: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circuitul de la ieşire comandă întotdeauna alt circuit (ex. mufă,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Necesară asigurarea unui </a:t>
            </a:r>
            <a:r>
              <a:rPr lang="ro-RO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 de sarcină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trebuie comandat!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circuit numeric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funcţioneze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d.p.d.v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logic,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electronic!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47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472"/>
            <a:ext cx="10721009" cy="645298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ntaje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/Dezavantaje ale circuitelor cu diode</a:t>
            </a:r>
            <a:endParaRPr lang="ro-RO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44</a:t>
            </a:fld>
            <a:endParaRPr lang="ro-RO" dirty="0"/>
          </a:p>
        </p:txBody>
      </p:sp>
      <p:sp>
        <p:nvSpPr>
          <p:cNvPr id="8" name="Rectangle 7"/>
          <p:cNvSpPr/>
          <p:nvPr/>
        </p:nvSpPr>
        <p:spPr>
          <a:xfrm>
            <a:off x="175846" y="626825"/>
            <a:ext cx="1184030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ŞI/SAU cu diode 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funcţionare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 ieşire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ŞI/SAU → nu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comanda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ŞI/SAU!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Nivelele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deplasate pentru  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cu ≈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0,6V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faţă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tensiunea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ŞI – deplasare spre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pozitive;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Poarta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SAU – deplasare spre valori negative;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Valorile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eronată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următoarea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poartă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ŞI/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10152-E232-A081-3F8A-B6855C46A437}"/>
              </a:ext>
            </a:extLst>
          </p:cNvPr>
          <p:cNvSpPr txBox="1"/>
          <p:nvPr/>
        </p:nvSpPr>
        <p:spPr>
          <a:xfrm>
            <a:off x="175846" y="5691797"/>
            <a:ext cx="6557463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Soluţie</a:t>
            </a:r>
            <a:r>
              <a:rPr lang="ro-RO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Adăugare TRANZISTOR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(dispozitiv putere):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2CCAFD0-4AD1-5555-FD9E-2D19A1A20DE8}"/>
              </a:ext>
            </a:extLst>
          </p:cNvPr>
          <p:cNvSpPr/>
          <p:nvPr/>
        </p:nvSpPr>
        <p:spPr>
          <a:xfrm>
            <a:off x="6611977" y="5818921"/>
            <a:ext cx="45719" cy="60799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3E347-BA36-7379-2C70-9CCABC0EA89F}"/>
              </a:ext>
            </a:extLst>
          </p:cNvPr>
          <p:cNvSpPr/>
          <p:nvPr/>
        </p:nvSpPr>
        <p:spPr>
          <a:xfrm>
            <a:off x="6733309" y="5738199"/>
            <a:ext cx="465406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Reface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nivelel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tensiune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Amplific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curentul</a:t>
            </a:r>
            <a:r>
              <a:rPr lang="en-US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ieşire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4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721009" cy="100965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ntaje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/Dezavantaje ale circuitelor cu diode</a:t>
            </a:r>
            <a:endParaRPr lang="ro-RO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45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5846" y="1082604"/>
                <a:ext cx="11910646" cy="4706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Circuitele integrate se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împart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Familii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fi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compatibile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între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DTL =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tranzistor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logic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TTL =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tranzistoare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tranzistoare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logice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ECL =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cuplate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emitor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 = metal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oxid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semiconductor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CMOS = MOS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complementar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BiCMOS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CMOS binary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CCD =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dispozitive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cuplate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/>
                          </a:rPr>
                          <m:t>𝐼</m:t>
                        </m:r>
                      </m:e>
                      <m:sup>
                        <m:r>
                          <a:rPr lang="en-US" sz="2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=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injecție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46" y="1082604"/>
                <a:ext cx="11910646" cy="4706481"/>
              </a:xfrm>
              <a:prstGeom prst="rect">
                <a:avLst/>
              </a:prstGeom>
              <a:blipFill>
                <a:blip r:embed="rId2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56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721009" cy="1009651"/>
          </a:xfrm>
        </p:spPr>
        <p:txBody>
          <a:bodyPr>
            <a:norm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ntaje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/Dezavantaje ale circuitelor cu diode</a:t>
            </a:r>
            <a:endParaRPr lang="ro-RO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46</a:t>
            </a:fld>
            <a:endParaRPr lang="ro-R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40677" y="906482"/>
                <a:ext cx="11910646" cy="50450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Circuitele din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aceeași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familie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Nivele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compatibile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intrare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ieșire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Circuitele integrate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impart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Tehnologie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bipolară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→ format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atât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din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pozitivă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cât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Tehnologie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unipolară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→ format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dintr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-un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singur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tip de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(fie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pozitivă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fie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negativă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Fără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componente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CCD,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/>
                          </a:rPr>
                          <m:t>𝐼</m:t>
                        </m:r>
                      </m:e>
                      <m:sup>
                        <m:r>
                          <a:rPr lang="en-US" sz="2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Mixtă: 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BiCMOS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7" y="906482"/>
                <a:ext cx="11910646" cy="5045035"/>
              </a:xfrm>
              <a:prstGeom prst="rect">
                <a:avLst/>
              </a:prstGeom>
              <a:blipFill>
                <a:blip r:embed="rId2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1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47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4422556" y="5613291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633334" y="78829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sp>
        <p:nvSpPr>
          <p:cNvPr id="2" name="Rectangle 1"/>
          <p:cNvSpPr/>
          <p:nvPr/>
        </p:nvSpPr>
        <p:spPr>
          <a:xfrm>
            <a:off x="213457" y="1500664"/>
            <a:ext cx="110079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ioda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dintr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  P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ranzistorul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bipolar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2591" y="2608660"/>
            <a:ext cx="410950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- sarcini majoritare pozitive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- sarcini majoritare negative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- sarcini majoritare pozitive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504" y="4322640"/>
            <a:ext cx="28098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978933" y="3004011"/>
            <a:ext cx="257038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PNP 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9622" y="2826952"/>
            <a:ext cx="2494594" cy="5393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eriod"/>
            </a:pP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zone distincte: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3238799" y="2826953"/>
            <a:ext cx="512586" cy="3634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38799" y="3188677"/>
            <a:ext cx="51258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238799" y="3190426"/>
            <a:ext cx="512586" cy="3030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1" name="Right Brace 2060"/>
          <p:cNvSpPr/>
          <p:nvPr/>
        </p:nvSpPr>
        <p:spPr>
          <a:xfrm>
            <a:off x="7762094" y="2731477"/>
            <a:ext cx="45719" cy="8675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063" name="Straight Arrow Connector 2062"/>
          <p:cNvCxnSpPr/>
          <p:nvPr/>
        </p:nvCxnSpPr>
        <p:spPr>
          <a:xfrm>
            <a:off x="4173415" y="2826953"/>
            <a:ext cx="820616" cy="17333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Straight Arrow Connector 2064"/>
          <p:cNvCxnSpPr/>
          <p:nvPr/>
        </p:nvCxnSpPr>
        <p:spPr>
          <a:xfrm>
            <a:off x="4173415" y="3219454"/>
            <a:ext cx="1533927" cy="13408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Straight Arrow Connector 2066"/>
          <p:cNvCxnSpPr/>
          <p:nvPr/>
        </p:nvCxnSpPr>
        <p:spPr>
          <a:xfrm>
            <a:off x="4173415" y="3598985"/>
            <a:ext cx="2438400" cy="1125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8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8" grpId="0"/>
      <p:bldP spid="206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48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4563233" y="5359376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633334" y="78829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sp>
        <p:nvSpPr>
          <p:cNvPr id="2" name="Rectangle 1"/>
          <p:cNvSpPr/>
          <p:nvPr/>
        </p:nvSpPr>
        <p:spPr>
          <a:xfrm>
            <a:off x="213457" y="1500664"/>
            <a:ext cx="1100796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ranzistorul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bipolar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679575" y="2322968"/>
                <a:ext cx="4109503" cy="8040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joncţiunea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emitoare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C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joncţiunea colectoare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575" y="2322968"/>
                <a:ext cx="4109503" cy="804066"/>
              </a:xfrm>
              <a:prstGeom prst="rect">
                <a:avLst/>
              </a:prstGeom>
              <a:blipFill rotWithShape="1">
                <a:blip r:embed="rId2"/>
                <a:stretch>
                  <a:fillRect l="-1780" t="-4545" b="-1439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996" y="3863853"/>
            <a:ext cx="3161470" cy="1339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859622" y="2407927"/>
            <a:ext cx="161935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2 </a:t>
            </a:r>
            <a:r>
              <a:rPr lang="ro-RO" sz="2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jocţiuni</a:t>
            </a: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466129" y="2322968"/>
                <a:ext cx="410950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BE</m:t>
                        </m:r>
                      </m:sub>
                    </m:sSub>
                  </m:oMath>
                </a14:m>
                <a:r>
                  <a:rPr lang="fr-FR" sz="2200" dirty="0"/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bază-emitor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BC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joncţiunea bază-colector 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129" y="2322968"/>
                <a:ext cx="4109503" cy="769441"/>
              </a:xfrm>
              <a:prstGeom prst="rect">
                <a:avLst/>
              </a:prstGeom>
              <a:blipFill>
                <a:blip r:embed="rId4"/>
                <a:stretch>
                  <a:fillRect l="-1780" t="-6349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996" y="3517168"/>
            <a:ext cx="3161470" cy="185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/>
          <p:cNvCxnSpPr/>
          <p:nvPr/>
        </p:nvCxnSpPr>
        <p:spPr>
          <a:xfrm>
            <a:off x="3130061" y="2708009"/>
            <a:ext cx="2344616" cy="12661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235569" y="3127034"/>
            <a:ext cx="2661139" cy="847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947" y="3757368"/>
            <a:ext cx="5715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Arrow Connector 22"/>
          <p:cNvCxnSpPr/>
          <p:nvPr/>
        </p:nvCxnSpPr>
        <p:spPr>
          <a:xfrm flipH="1">
            <a:off x="4888523" y="2708009"/>
            <a:ext cx="1992923" cy="1155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588369" y="3127034"/>
            <a:ext cx="293077" cy="847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49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4594982" y="5513264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633333" y="55111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91" y="1253716"/>
            <a:ext cx="10409805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(1) - 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(E):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tip P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puternic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dopată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impurități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cantitatea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mare,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majoritare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Sarcinile 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minoritare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3334" y="5667153"/>
            <a:ext cx="1100796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(1) –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conectat un terminal -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Emitor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229" y="3844901"/>
            <a:ext cx="5686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138" y="3844901"/>
            <a:ext cx="5447753" cy="1688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>
            <a:off x="3352800" y="1805353"/>
            <a:ext cx="1195755" cy="2566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4138246" y="4689283"/>
            <a:ext cx="820618" cy="12475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81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50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4563233" y="5359376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633334" y="78829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93" y="1388459"/>
            <a:ext cx="1040980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tip N;</a:t>
            </a: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p.d.v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geometric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foarte mică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dopată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impurități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3334" y="5667153"/>
            <a:ext cx="1100796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conectat un terminal -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Bază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515" y="3004771"/>
            <a:ext cx="58007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3031515" y="1908663"/>
            <a:ext cx="2794854" cy="2192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994031" y="4759569"/>
            <a:ext cx="723411" cy="1207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85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51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4594982" y="5513264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633333" y="551115"/>
            <a:ext cx="249672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Structură: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91" y="1151279"/>
            <a:ext cx="1040980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Colectoare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tip P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dopată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impurități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cantitatea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libere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redusă.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334" y="5667153"/>
            <a:ext cx="1100796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(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conectat un terminal -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Colector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7" y="2987674"/>
            <a:ext cx="61817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3587262" y="1699846"/>
            <a:ext cx="3071446" cy="22156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122985" y="4068761"/>
            <a:ext cx="2145323" cy="18984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4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52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7936458" y="5690616"/>
            <a:ext cx="22040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7852" y="887381"/>
                <a:ext cx="10409805" cy="2144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Funcţionarea tranzistorului → bazează pe procesul prin care are loc: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deplasarea sarcinilor electrice majoritare de la Emitor→ prin Bază → spre Colector. </a:t>
                </a:r>
              </a:p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colector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C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puţin mai mic decât curentul de emitor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fr-FR" sz="220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22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52" y="887381"/>
                <a:ext cx="10409805" cy="2144048"/>
              </a:xfrm>
              <a:prstGeom prst="rect">
                <a:avLst/>
              </a:prstGeom>
              <a:blipFill>
                <a:blip r:embed="rId2"/>
                <a:stretch>
                  <a:fillRect l="-644" r="-1113" b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15" y="3011039"/>
            <a:ext cx="5287043" cy="252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87851" y="3921261"/>
                <a:ext cx="6728764" cy="15550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Această situaţie se obţine în timpul în care: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 emitorului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)→ polarizată direct,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 colectorului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latin typeface="Cambria Math"/>
                          </a:rPr>
                          <m:t>C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)→ polarizată invers.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51" y="3921261"/>
                <a:ext cx="6728764" cy="1555041"/>
              </a:xfrm>
              <a:prstGeom prst="rect">
                <a:avLst/>
              </a:prstGeom>
              <a:blipFill>
                <a:blip r:embed="rId4"/>
                <a:stretch>
                  <a:fillRect l="-996" b="-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87852" y="2789789"/>
                <a:ext cx="7373816" cy="11414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de bază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i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i="0">
                            <a:latin typeface="Cambria Math"/>
                          </a:rPr>
                          <m:t>B</m:t>
                        </m:r>
                      </m:sub>
                    </m:sSub>
                  </m:oMath>
                </a14:m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)→ mult mai mic decât amândoi: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 b="0" i="0" smtClean="0">
                            <a:latin typeface="Cambria Math"/>
                          </a:rPr>
                          <m:t>B</m:t>
                        </m:r>
                      </m:sub>
                    </m:sSub>
                    <m:r>
                      <a:rPr lang="fr-FR" sz="2000">
                        <a:latin typeface="Cambria Math"/>
                      </a:rPr>
                      <m:t> </m:t>
                    </m:r>
                  </m:oMath>
                </a14:m>
                <a:r>
                  <a:rPr lang="ro-RO" sz="20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fr-FR" sz="2000">
                        <a:latin typeface="Cambria Math"/>
                      </a:rPr>
                      <m:t> </m:t>
                    </m:r>
                  </m:oMath>
                </a14:m>
                <a:r>
                  <a:rPr lang="ro-RO" sz="20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200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000"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endParaRPr lang="ro-RO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52" y="2789789"/>
                <a:ext cx="7373816" cy="1141403"/>
              </a:xfrm>
              <a:prstGeom prst="rect">
                <a:avLst/>
              </a:prstGeom>
              <a:blipFill rotWithShape="1">
                <a:blip r:embed="rId5"/>
                <a:stretch>
                  <a:fillRect l="-910" b="-37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6365631" y="1840523"/>
            <a:ext cx="1570827" cy="2227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112369" y="1840523"/>
            <a:ext cx="1066800" cy="31300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407736" y="1959405"/>
            <a:ext cx="1189921" cy="19717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874760" y="3493477"/>
            <a:ext cx="5163699" cy="13129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056185" y="3645877"/>
            <a:ext cx="5351551" cy="15911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79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53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182243" y="4675621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277170" y="935835"/>
            <a:ext cx="10409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modalităţi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juncţiunile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dispozitivului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8423" y="1595170"/>
                <a:ext cx="6690108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 colectoare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s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fr-FR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polarizează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odul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funcţionare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 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jocţiuni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trec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minoritare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1257300" lvl="2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regiunea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N→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regiunea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 (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golurile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23" y="1595170"/>
                <a:ext cx="6690108" cy="2123658"/>
              </a:xfrm>
              <a:prstGeom prst="rect">
                <a:avLst/>
              </a:prstGeom>
              <a:blipFill rotWithShape="1">
                <a:blip r:embed="rId2"/>
                <a:stretch>
                  <a:fillRect l="-1093" b="-25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270" y="1667814"/>
            <a:ext cx="5563330" cy="2832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8964" y="4147129"/>
                <a:ext cx="8123279" cy="2238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Curentul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rezidual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FR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o-RO" sz="22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fr-FR" sz="2200" i="1"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2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fr-FR" sz="2200" i="1">
                        <a:latin typeface="Cambria Math"/>
                      </a:rPr>
                      <m:t> </m:t>
                    </m:r>
                  </m:oMath>
                </a14:m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notat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după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corespunzătoare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Determinat de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deplasarea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sarcinilor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minoritare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Dinspre Bază (B)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spre Colector (C)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de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bază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fr-FR" sz="2200" i="1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" y="4147129"/>
                <a:ext cx="8123279" cy="2238690"/>
              </a:xfrm>
              <a:prstGeom prst="rect">
                <a:avLst/>
              </a:prstGeom>
              <a:blipFill rotWithShape="1">
                <a:blip r:embed="rId4"/>
                <a:stretch>
                  <a:fillRect l="-826" b="-163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155" y="1768869"/>
            <a:ext cx="5369168" cy="2630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3493477" y="2016369"/>
            <a:ext cx="6466954" cy="18405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301" y="1445057"/>
            <a:ext cx="5476875" cy="298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V="1">
            <a:off x="2836985" y="3259015"/>
            <a:ext cx="6717323" cy="12409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28270" y="5690369"/>
                <a:ext cx="6096000" cy="120097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bază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colector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rezidual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fr-FR" sz="2200" i="1">
                            <a:latin typeface="Cambria Math"/>
                          </a:rPr>
                          <m:t>𝐶</m:t>
                        </m:r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i="1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fr-FR" sz="22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ro-RO" sz="2200" i="1" dirty="0">
                  <a:latin typeface="Cambria Math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fr-FR" sz="22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fr-FR" sz="2200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i="1">
                                <a:latin typeface="Cambria Math"/>
                              </a:rPr>
                              <m:t>𝐶𝐵</m:t>
                            </m:r>
                          </m:e>
                          <m:sub>
                            <m:r>
                              <a:rPr lang="fr-FR" sz="22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270" y="5690369"/>
                <a:ext cx="6096000" cy="1200970"/>
              </a:xfrm>
              <a:prstGeom prst="rect">
                <a:avLst/>
              </a:prstGeom>
              <a:blipFill>
                <a:blip r:embed="rId7"/>
                <a:stretch>
                  <a:fillRect l="-1100" b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/>
          <p:cNvSpPr/>
          <p:nvPr/>
        </p:nvSpPr>
        <p:spPr>
          <a:xfrm>
            <a:off x="3118707" y="6072554"/>
            <a:ext cx="45719" cy="6916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794" y="1389485"/>
            <a:ext cx="5457825" cy="300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7619536" y="3429000"/>
            <a:ext cx="2663562" cy="25489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317631" y="3856892"/>
            <a:ext cx="5756031" cy="16412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717442" y="2936630"/>
            <a:ext cx="5067789" cy="24677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03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54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182243" y="4675621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p:sp>
        <p:nvSpPr>
          <p:cNvPr id="3" name="Rectangle 2"/>
          <p:cNvSpPr/>
          <p:nvPr/>
        </p:nvSpPr>
        <p:spPr>
          <a:xfrm>
            <a:off x="277170" y="935835"/>
            <a:ext cx="10409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modalităţi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juncţiunile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dispozitivului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8423" y="1595170"/>
                <a:ext cx="6690108" cy="539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emitoare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s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fr-FR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polarizează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23" y="1595170"/>
                <a:ext cx="6690108" cy="539378"/>
              </a:xfrm>
              <a:prstGeom prst="rect">
                <a:avLst/>
              </a:prstGeom>
              <a:blipFill rotWithShape="1">
                <a:blip r:embed="rId2"/>
                <a:stretch>
                  <a:fillRect l="-1093" b="-2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288" y="1864859"/>
            <a:ext cx="5263332" cy="245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>
            <a:off x="3223846" y="2098431"/>
            <a:ext cx="4794739" cy="17467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48423" y="2438969"/>
                <a:ext cx="7108162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eplasare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masivă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dinspre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Emitor (E)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Bază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Curent foarte mare de sarcini majoritare (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BE</m:t>
                        </m:r>
                      </m:sub>
                    </m:sSub>
                  </m:oMath>
                </a14:m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puternic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dopată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impurităţi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sarcini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implică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deplasarea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zona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ză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slab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dopată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23" y="2438969"/>
                <a:ext cx="7108162" cy="3139321"/>
              </a:xfrm>
              <a:prstGeom prst="rect">
                <a:avLst/>
              </a:prstGeom>
              <a:blipFill rotWithShape="1">
                <a:blip r:embed="rId4"/>
                <a:stretch>
                  <a:fillRect l="-858" b="-9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383323" y="5420724"/>
            <a:ext cx="108086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va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amestec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pozitive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 +) ce vin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Emitoare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minoritare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(-)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aflate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798277" y="3200400"/>
            <a:ext cx="3458308" cy="99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798277" y="3300046"/>
            <a:ext cx="4994031" cy="708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288" y="2036553"/>
            <a:ext cx="5716712" cy="244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 flipV="1">
            <a:off x="5826369" y="3387969"/>
            <a:ext cx="2743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5111262" y="3845169"/>
            <a:ext cx="3995692" cy="14536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7256585" y="3601583"/>
            <a:ext cx="1312984" cy="215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256585" y="4008629"/>
            <a:ext cx="1850369" cy="1759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5" name="Straight Arrow Connector 6144"/>
          <p:cNvCxnSpPr/>
          <p:nvPr/>
        </p:nvCxnSpPr>
        <p:spPr>
          <a:xfrm flipV="1">
            <a:off x="2168769" y="3090515"/>
            <a:ext cx="6119446" cy="11415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55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55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2932042" y="5661064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40787" y="774305"/>
                <a:ext cx="6690108" cy="539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emitoare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s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fr-FR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polarizează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87" y="774305"/>
                <a:ext cx="6690108" cy="539378"/>
              </a:xfrm>
              <a:prstGeom prst="rect">
                <a:avLst/>
              </a:prstGeom>
              <a:blipFill>
                <a:blip r:embed="rId2"/>
                <a:stretch>
                  <a:fillRect l="-1093" b="-2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40787" y="1391017"/>
            <a:ext cx="11798477" cy="1047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Cantitate masivă de sarcini se deplasează dinspre Emitor → Bază (</a:t>
            </a:r>
            <a:r>
              <a:rPr lang="ro-RO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dopată cu impurități):</a:t>
            </a: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Orice atom de siliciu are tendința de a-și reface structura inițială : golurile →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0674" y="5972098"/>
                <a:ext cx="4326947" cy="506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 indent="-342900">
                  <a:buFont typeface="Wingdings" panose="05000000000000000000" pitchFamily="2" charset="2"/>
                  <a:buChar char="Ø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formează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c</a:t>
                </a:r>
                <a:r>
                  <a:rPr lang="ro-RO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âmp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electric 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o-RO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ro-RO" sz="2400">
                            <a:latin typeface="Cambria Math"/>
                          </a:rPr>
                          <m:t>E</m:t>
                        </m:r>
                      </m:e>
                    </m:acc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4" y="5972098"/>
                <a:ext cx="4326947" cy="506421"/>
              </a:xfrm>
              <a:prstGeom prst="rect">
                <a:avLst/>
              </a:prstGeom>
              <a:blipFill rotWithShape="1">
                <a:blip r:embed="rId3"/>
                <a:stretch>
                  <a:fillRect l="-1549" b="-2289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904" y="2799643"/>
            <a:ext cx="5224342" cy="223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98" y="2931295"/>
            <a:ext cx="6552667" cy="259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/>
          <p:cNvCxnSpPr/>
          <p:nvPr/>
        </p:nvCxnSpPr>
        <p:spPr>
          <a:xfrm flipV="1">
            <a:off x="4025735" y="5248894"/>
            <a:ext cx="548340" cy="9764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904" y="2621573"/>
            <a:ext cx="6474543" cy="2960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4299905" y="6056030"/>
            <a:ext cx="720900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influenţează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deplasarea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regiunea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colectoare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5569527" y="4102055"/>
            <a:ext cx="4595751" cy="21232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90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56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8182243" y="4675621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506" y="3195139"/>
            <a:ext cx="5184697" cy="2960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38999" y="2204040"/>
            <a:ext cx="1115688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deja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cunoscut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fenomenul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deplasarea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generează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curent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electric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!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3458" y="1253993"/>
            <a:ext cx="20903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Observaţie: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870" y="2990568"/>
            <a:ext cx="634171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1 -  EMITOR 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2 –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preia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parte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emise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 recombinare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 parte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rămân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acolo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Zona 3 - COLECTOR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colectează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suma curenţilor (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1413164" y="3443371"/>
            <a:ext cx="6270171" cy="1033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1413164" y="4018352"/>
            <a:ext cx="7065818" cy="6572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863273" y="4675621"/>
            <a:ext cx="6684488" cy="1728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8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57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9811823" y="5379316"/>
            <a:ext cx="21696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8423" y="1055792"/>
                <a:ext cx="6690108" cy="539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Joncţiunea </a:t>
                </a:r>
                <a:r>
                  <a:rPr lang="en-US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emitoare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>
                            <a:solidFill>
                              <a:srgbClr val="00206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2200" b="0" i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E</m:t>
                        </m:r>
                      </m:sub>
                    </m:sSub>
                  </m:oMath>
                </a14:m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→ s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fr-FR" sz="2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polarizează</a:t>
                </a:r>
                <a:r>
                  <a:rPr lang="fr-FR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23" y="1055792"/>
                <a:ext cx="6690108" cy="539378"/>
              </a:xfrm>
              <a:prstGeom prst="rect">
                <a:avLst/>
              </a:prstGeom>
              <a:blipFill rotWithShape="1">
                <a:blip r:embed="rId2"/>
                <a:stretch>
                  <a:fillRect l="-1093" b="-213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04801" y="1810541"/>
            <a:ext cx="105136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eplas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atribuie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ecuaţie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recunoscută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 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799" y="4389263"/>
            <a:ext cx="5772150" cy="1555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α= factor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amplificare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curent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(0,99 ÷ 0,98)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Interpretare :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1762" y="2959520"/>
            <a:ext cx="52998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Ecuaţia </a:t>
            </a:r>
            <a:r>
              <a:rPr lang="fr-FR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fundamentală</a:t>
            </a: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tranzistorului</a:t>
            </a:r>
            <a:r>
              <a:rPr lang="fr-FR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ro-RO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591515" y="3575552"/>
                <a:ext cx="2358787" cy="600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solidFill>
                              <a:srgbClr val="00B05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200" i="0">
                            <a:solidFill>
                              <a:srgbClr val="00B050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a:rPr lang="fr-FR" sz="2200" i="0">
                        <a:solidFill>
                          <a:srgbClr val="00B05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solidFill>
                              <a:srgbClr val="00B050"/>
                            </a:solidFill>
                            <a:latin typeface="Cambria Math"/>
                          </a:rPr>
                          <m:t>α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20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220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E</m:t>
                            </m:r>
                          </m:sub>
                        </m:sSub>
                        <m:r>
                          <a:rPr lang="fr-FR" sz="2200" i="0">
                            <a:solidFill>
                              <a:srgbClr val="00B050"/>
                            </a:solidFill>
                            <a:latin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fr-FR" sz="2200" i="0">
                            <a:solidFill>
                              <a:srgbClr val="00B05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20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fr-FR" sz="220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fr-FR" sz="2200" i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fr-FR" sz="2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o-RO" sz="2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515" y="3575552"/>
                <a:ext cx="2358787" cy="600485"/>
              </a:xfrm>
              <a:prstGeom prst="rect">
                <a:avLst/>
              </a:prstGeom>
              <a:blipFill>
                <a:blip r:embed="rId3"/>
                <a:stretch>
                  <a:fillRect l="-2842" r="-180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905494" y="5396468"/>
            <a:ext cx="9149614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99%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cantitatea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sarcini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E→ se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găseşte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924" y="2890162"/>
            <a:ext cx="57721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/>
          <p:cNvCxnSpPr/>
          <p:nvPr/>
        </p:nvCxnSpPr>
        <p:spPr>
          <a:xfrm flipV="1">
            <a:off x="2208810" y="4049486"/>
            <a:ext cx="7683335" cy="126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087584" y="4049486"/>
            <a:ext cx="5047013" cy="126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657600" y="4025915"/>
            <a:ext cx="5902036" cy="1501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3F70B3C-1CDD-78AD-ED8A-7A0E297C2D7C}"/>
                  </a:ext>
                </a:extLst>
              </p:cNvPr>
              <p:cNvSpPr/>
              <p:nvPr/>
            </p:nvSpPr>
            <p:spPr>
              <a:xfrm>
                <a:off x="397164" y="5912276"/>
                <a:ext cx="9414659" cy="6004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200" i="0">
                            <a:latin typeface="Cambria Math"/>
                          </a:rPr>
                          <m:t>I</m:t>
                        </m:r>
                      </m:e>
                      <m:sub>
                        <m:sSub>
                          <m:sSubPr>
                            <m:ctrlPr>
                              <a:rPr lang="ro-R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200" i="0">
                                <a:latin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fr-FR" sz="2200" i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curentul determinat de deplasarea sarcinilor minoritare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3F70B3C-1CDD-78AD-ED8A-7A0E297C2D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64" y="5912276"/>
                <a:ext cx="9414659" cy="600485"/>
              </a:xfrm>
              <a:prstGeom prst="rect">
                <a:avLst/>
              </a:prstGeom>
              <a:blipFill>
                <a:blip r:embed="rId5"/>
                <a:stretch>
                  <a:fillRect l="-71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64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58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7766606" y="6195662"/>
            <a:ext cx="3556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PNP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p:sp>
        <p:nvSpPr>
          <p:cNvPr id="8" name="Rectangle 7"/>
          <p:cNvSpPr/>
          <p:nvPr/>
        </p:nvSpPr>
        <p:spPr>
          <a:xfrm>
            <a:off x="148423" y="3718311"/>
            <a:ext cx="66917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acelaşi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mai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adoptă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următoarele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notaţii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2618137"/>
            <a:ext cx="57721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3558" y="4271931"/>
                <a:ext cx="6339837" cy="2231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Prima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numeşte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Bază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Emitor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fr-FR" sz="2200" i="1">
                            <a:latin typeface="Cambria Math"/>
                          </a:rPr>
                          <m:t>𝐵𝐸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doua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numeşte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:</a:t>
                </a:r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Joncţiune 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colectoare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Bază</a:t>
                </a:r>
                <a:r>
                  <a:rPr lang="fr-FR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fr-FR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Colector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fr-FR" sz="2200" i="1">
                            <a:latin typeface="Cambria Math"/>
                          </a:rPr>
                          <m:t>𝐵𝐶</m:t>
                        </m:r>
                      </m:sub>
                    </m:sSub>
                  </m:oMath>
                </a14:m>
                <a:endParaRPr lang="ro-RO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58" y="4271931"/>
                <a:ext cx="6339837" cy="2231508"/>
              </a:xfrm>
              <a:prstGeom prst="rect">
                <a:avLst/>
              </a:prstGeom>
              <a:blipFill rotWithShape="1">
                <a:blip r:embed="rId3"/>
                <a:stretch>
                  <a:fillRect l="-1058" b="-82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7757" y="1104520"/>
            <a:ext cx="1204357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bipolar: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curentul prin dispozitiv → realizat atât prin deplasare de sarcini electrice minoritare , cât şi majoritare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423" y="2618137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bipolar → denumit 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 de curent de colector.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912F6F-B5F8-7416-8A03-6C5131527907}"/>
              </a:ext>
            </a:extLst>
          </p:cNvPr>
          <p:cNvCxnSpPr/>
          <p:nvPr/>
        </p:nvCxnSpPr>
        <p:spPr>
          <a:xfrm flipV="1">
            <a:off x="5994400" y="3429000"/>
            <a:ext cx="1385455" cy="1660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6454AD-204B-C1DD-8060-CE6C089D8A8F}"/>
              </a:ext>
            </a:extLst>
          </p:cNvPr>
          <p:cNvCxnSpPr/>
          <p:nvPr/>
        </p:nvCxnSpPr>
        <p:spPr>
          <a:xfrm flipV="1">
            <a:off x="6419850" y="3186545"/>
            <a:ext cx="4322041" cy="300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02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59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7766606" y="6195662"/>
            <a:ext cx="4096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1</a:t>
            </a:r>
            <a:r>
              <a:rPr lang="en-US" sz="1400" b="1" dirty="0"/>
              <a:t> </a:t>
            </a:r>
            <a:r>
              <a:rPr lang="ro-RO" sz="1400" b="1" dirty="0"/>
              <a:t>Tranzistorul bipolar. Reprezentare simbolică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323557" y="1150410"/>
            <a:ext cx="112192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ranzistor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 →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terminale ce se pot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plasa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funcţie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cum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doreşte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utilizatorul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fapt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efectele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557" y="2361693"/>
            <a:ext cx="808417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ranzistorul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bipolar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c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onvențional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→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terminale 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Emitor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Colector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055" y="3133791"/>
            <a:ext cx="165735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099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889D-6616-4C0A-B403-8D966796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5B84-9883-4F8A-B971-7ADD56E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60</a:t>
            </a:fld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589368" y="5102293"/>
            <a:ext cx="4096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2</a:t>
            </a:r>
            <a:r>
              <a:rPr lang="en-US" sz="1400" b="1" dirty="0"/>
              <a:t> </a:t>
            </a:r>
            <a:r>
              <a:rPr lang="ro-RO" sz="1400" b="1" dirty="0"/>
              <a:t>Tranzistorul PNP. Reprezentare simbolică</a:t>
            </a:r>
            <a:endParaRPr lang="ro-RO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5CBCCE-C384-4EB3-A103-2E659A90FE87}"/>
              </a:ext>
            </a:extLst>
          </p:cNvPr>
          <p:cNvSpPr txBox="1">
            <a:spLocks/>
          </p:cNvSpPr>
          <p:nvPr/>
        </p:nvSpPr>
        <p:spPr>
          <a:xfrm>
            <a:off x="981319" y="182134"/>
            <a:ext cx="9472246" cy="638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800" b="1" dirty="0" err="1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istorul</a:t>
            </a:r>
            <a:r>
              <a:rPr lang="en-US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bipolar</a:t>
            </a:r>
            <a:r>
              <a:rPr lang="ro-RO" sz="2800" b="1" dirty="0">
                <a:solidFill>
                  <a:srgbClr val="002060"/>
                </a:solidFill>
                <a:effectLst>
                  <a:reflection blurRad="6350" stA="53000" endA="300" endPos="35500" dir="5400000" sy="-90000" algn="bl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Funcţionare</a:t>
            </a:r>
            <a:endParaRPr lang="ro-RO" sz="2800" dirty="0"/>
          </a:p>
        </p:txBody>
      </p:sp>
      <p:sp>
        <p:nvSpPr>
          <p:cNvPr id="13" name="Rectangle 12"/>
          <p:cNvSpPr/>
          <p:nvPr/>
        </p:nvSpPr>
        <p:spPr>
          <a:xfrm>
            <a:off x="323557" y="1150410"/>
            <a:ext cx="11219259" cy="53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Tipuri de tranzistoare:</a:t>
            </a:r>
          </a:p>
        </p:txBody>
      </p:sp>
      <p:sp>
        <p:nvSpPr>
          <p:cNvPr id="3" name="Rectangle 2"/>
          <p:cNvSpPr/>
          <p:nvPr/>
        </p:nvSpPr>
        <p:spPr>
          <a:xfrm>
            <a:off x="810241" y="1910387"/>
            <a:ext cx="288298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PNP</a:t>
            </a:r>
            <a:endParaRPr lang="ro-RO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01928" y="5678776"/>
            <a:ext cx="17636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33186" y="1893452"/>
            <a:ext cx="288298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Tranzistorul </a:t>
            </a:r>
            <a:r>
              <a:rPr lang="ro-RO" sz="2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NPN</a:t>
            </a:r>
          </a:p>
        </p:txBody>
      </p:sp>
      <p:pic>
        <p:nvPicPr>
          <p:cNvPr id="15" name="Picture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582" y="2475545"/>
            <a:ext cx="2262777" cy="2326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574A90A-ACFF-4D88-BC23-4F615A3D4FCB}"/>
              </a:ext>
            </a:extLst>
          </p:cNvPr>
          <p:cNvSpPr/>
          <p:nvPr/>
        </p:nvSpPr>
        <p:spPr>
          <a:xfrm>
            <a:off x="5848158" y="5119967"/>
            <a:ext cx="4096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Fig.</a:t>
            </a:r>
            <a:r>
              <a:rPr lang="ro-RO" sz="1400" b="1" dirty="0"/>
              <a:t>3 Tranzistorul NPN. Reprezentare simbolică</a:t>
            </a:r>
            <a:endParaRPr lang="ro-RO" sz="1400" dirty="0"/>
          </a:p>
        </p:txBody>
      </p:sp>
      <p:sp>
        <p:nvSpPr>
          <p:cNvPr id="17" name="Rectangle 16"/>
          <p:cNvSpPr/>
          <p:nvPr/>
        </p:nvSpPr>
        <p:spPr>
          <a:xfrm>
            <a:off x="6370582" y="5678774"/>
            <a:ext cx="17636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ro-R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42" y="2475545"/>
            <a:ext cx="2235098" cy="2595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200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14" grpId="0"/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14C3-4B01-44B8-B8B1-FAACBA0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Electronică Digitală</a:t>
            </a: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0BBAE-104F-40E5-9D00-1CDD44A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4E24C-AC9D-47B5-A6ED-BCF2B4B120AE}" type="slidenum">
              <a:rPr lang="ro-RO" smtClean="0"/>
              <a:t>61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32A45-2B10-4124-8755-246B0F606C98}"/>
              </a:ext>
            </a:extLst>
          </p:cNvPr>
          <p:cNvSpPr/>
          <p:nvPr/>
        </p:nvSpPr>
        <p:spPr>
          <a:xfrm>
            <a:off x="379247" y="1642693"/>
            <a:ext cx="11433506" cy="237991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bliqueBottomLef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o-RO" sz="5400" b="1" cap="none" spc="0" dirty="0">
                <a:ln/>
                <a:solidFill>
                  <a:schemeClr val="accent3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Vă mulțumesc pentru atenție!</a:t>
            </a:r>
            <a:endParaRPr lang="en-US" sz="5400" b="1" cap="none" spc="0" dirty="0">
              <a:ln/>
              <a:solidFill>
                <a:schemeClr val="accent3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9E20A-FF53-4798-B519-15368B3D9B29}"/>
              </a:ext>
            </a:extLst>
          </p:cNvPr>
          <p:cNvSpPr/>
          <p:nvPr/>
        </p:nvSpPr>
        <p:spPr>
          <a:xfrm>
            <a:off x="354303" y="6400412"/>
            <a:ext cx="12472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200" dirty="0"/>
              <a:t>Daniela Stănescu</a:t>
            </a:r>
          </a:p>
        </p:txBody>
      </p:sp>
    </p:spTree>
    <p:extLst>
      <p:ext uri="{BB962C8B-B14F-4D97-AF65-F5344CB8AC3E}">
        <p14:creationId xmlns:p14="http://schemas.microsoft.com/office/powerpoint/2010/main" val="176025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2658</TotalTime>
  <Words>5102</Words>
  <Application>Microsoft Office PowerPoint</Application>
  <PresentationFormat>Widescreen</PresentationFormat>
  <Paragraphs>826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Tw Cen MT</vt:lpstr>
      <vt:lpstr>Wingdings</vt:lpstr>
      <vt:lpstr>Circuit</vt:lpstr>
      <vt:lpstr>Office Theme</vt:lpstr>
      <vt:lpstr>Circuite Digitale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Poarta SAU cu diode – Funcționare logică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Poarta SAU – Parametrii dinamici</vt:lpstr>
      <vt:lpstr>Avantaje/Dezavantaje ale circuitelor cu diode</vt:lpstr>
      <vt:lpstr>Avantaje/Dezavantaje ale circuitelor cu diode</vt:lpstr>
      <vt:lpstr>Avantaje/Dezavantaje ale circuitelor cu diode</vt:lpstr>
      <vt:lpstr>Avantaje/Dezavantaje ale circuitelor cu diode</vt:lpstr>
      <vt:lpstr>Avantaje/Dezavantaje ale circuitelor cu diode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Digitale</dc:title>
  <dc:creator>Lucian Gaina</dc:creator>
  <cp:lastModifiedBy>Daniela Stanescu</cp:lastModifiedBy>
  <cp:revision>121</cp:revision>
  <dcterms:created xsi:type="dcterms:W3CDTF">2020-08-05T12:22:10Z</dcterms:created>
  <dcterms:modified xsi:type="dcterms:W3CDTF">2025-11-02T05:48:19Z</dcterms:modified>
</cp:coreProperties>
</file>