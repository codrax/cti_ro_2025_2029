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62" r:id="rId2"/>
  </p:sldMasterIdLst>
  <p:notesMasterIdLst>
    <p:notesMasterId r:id="rId29"/>
  </p:notesMasterIdLst>
  <p:handoutMasterIdLst>
    <p:handoutMasterId r:id="rId30"/>
  </p:handoutMasterIdLst>
  <p:sldIdLst>
    <p:sldId id="256" r:id="rId3"/>
    <p:sldId id="402" r:id="rId4"/>
    <p:sldId id="403" r:id="rId5"/>
    <p:sldId id="447" r:id="rId6"/>
    <p:sldId id="448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  <p:sldId id="449" r:id="rId16"/>
    <p:sldId id="450" r:id="rId17"/>
    <p:sldId id="451" r:id="rId18"/>
    <p:sldId id="452" r:id="rId19"/>
    <p:sldId id="453" r:id="rId20"/>
    <p:sldId id="454" r:id="rId21"/>
    <p:sldId id="455" r:id="rId22"/>
    <p:sldId id="456" r:id="rId23"/>
    <p:sldId id="457" r:id="rId24"/>
    <p:sldId id="458" r:id="rId25"/>
    <p:sldId id="459" r:id="rId26"/>
    <p:sldId id="460" r:id="rId27"/>
    <p:sldId id="53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9645" autoAdjust="0"/>
  </p:normalViewPr>
  <p:slideViewPr>
    <p:cSldViewPr snapToGrid="0">
      <p:cViewPr varScale="1">
        <p:scale>
          <a:sx n="83" d="100"/>
          <a:sy n="83" d="100"/>
        </p:scale>
        <p:origin x="71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E372D8-6F3F-4772-B055-C2035B91B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5DE29-39E1-44BF-9F6D-A455C4EA1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B61D1-D8BB-4F8E-8568-4911F02FDCA5}" type="datetimeFigureOut">
              <a:rPr lang="ro-RO" smtClean="0"/>
              <a:t>07.10.2025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5CFEC-1C70-4D90-83E9-4E1D3D0E33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9054-B9FC-4D5F-8C1A-999E3345AD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DF158-E70D-46E6-ABBA-93AC3048441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205281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6F46-A423-4663-86EC-02ABB9243E3F}" type="datetimeFigureOut">
              <a:rPr lang="ro-RO" smtClean="0"/>
              <a:t>07.10.2025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D4C6F-B1B6-44E0-8719-2227692C165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27392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464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282D8-D9A3-49FC-A47C-4B0EAD250BD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61524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631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612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971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57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810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640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403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521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51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627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176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92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543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867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336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58635A-2484-4F5B-B9BE-A56859E1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DEE71D-7364-46F7-B8B3-D86CF6C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51DF43-45A8-4A94-9974-9231DD7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87CAA-0C0D-418E-B999-B322B9B407B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60941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1B0-22F2-4539-9AF8-855E81D35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D4774-2552-4D85-9674-7DB0CD2ED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6F98-3695-4344-AA86-FE77F60E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DAF8-DA50-42FC-ADF1-BBA3A9A0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100D-4CE6-4855-A195-615DDD38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663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3E39-B208-4185-88AD-FC3A0E07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D770-9C6D-4978-AA6A-2CB35282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C6FE-FF4F-4A1E-BE9E-DA0558F7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3CEA2-7A38-4A60-9CF9-B3D13055F9AB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55709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004D-8FCB-4B6C-83AE-5F7CB15F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00B3-40D8-45F5-B899-AA0C8CA8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A233-B076-41CB-ABEA-6346E0E2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ACF7C-0EE0-4EAE-AE73-0E384D6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F40A-D714-49C9-B28D-192AF754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410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27CB-9E40-45A1-8473-CC93FAC3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4467-0D97-4DE3-9F3C-C028B6FE7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F5C3-33A8-4435-801F-31B35B6D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55D92-C7CC-47C1-B786-A116107B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D44F-F3BB-4822-B26B-B0F8DCF7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32C1-7543-4E86-B7A1-78272F7B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055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AE58-FB78-4410-B681-4B1BA2E5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42A-66C6-47F2-8FD0-349E0D58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30570-F883-4E01-BC14-1D7B9E3B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27B1D-AE99-480B-BC9E-E5E3B937B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B27E4-5071-4DAF-A785-1A5519DF7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5B08-F145-4982-BA1B-6C5F8FE5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7911C-4B49-408B-896B-3116018D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4E533-D706-4278-A1DF-F04BFAAC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783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2996-ED5E-4DF3-9128-F135EF21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BC23F-0670-42BA-8620-B184A826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064A4-327C-47F8-897A-C7BB61D6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A1C6-8503-4F2C-982F-958F5D6D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8346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0B568-49AF-4694-BF37-00654E0B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80A2A-C2B1-49F1-95BF-DCCE77E3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77F3C-6CDC-4AB3-AD9E-F00A887E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362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E4CC-71D5-4296-98AB-C5AC9A2F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025F-FEE9-4F06-B0B4-2B367B26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9257E-B602-407E-A6AE-DF5539BA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06BF-E491-47B7-93B3-CC6192E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0E48B-F8FD-4D70-B15F-7E4018C8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A5E8-15CB-46D7-B6F9-4759ED64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02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A0E8-41C7-4BBD-BE2A-1C34858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60580-3B72-4452-BE69-6F8E75F2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EE573-4F56-484F-B5CC-40961677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CD4E-3E52-432A-A173-B864EE47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9B7E-8E1E-485B-9274-28A47709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59043-0D93-4B2E-9387-968926B6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143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BADA-8B52-4AAC-BBB6-A4B2E9C5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4ED7-78AB-4179-AFA8-EB2BD0F21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C9E0-00B1-419A-B6E5-4A096460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A9F-AA09-455D-8F12-4AD3CE6D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2CCC5-A756-420E-A5CA-21E3FDC4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640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B3B85-7D0E-4FED-A71D-9F93C6808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9F51-20BB-459E-A73F-935A299A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90AF-86CA-4611-99E0-883DA4FF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8D37-365A-40D0-9393-68EFC4C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9044-3DFC-45EC-A9B7-395F7AC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23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9A63265-8878-4D82-9AF8-C5953C94035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82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34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FAE0F-2FCB-464F-9782-4E9641CA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E9FD3-58F4-4BC8-88E3-87728FF3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0B1-1D08-4852-9493-B73A821C7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8B0F-6710-4BFC-8CA6-059D75704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B2EF-1AA8-40C3-8A3C-0EBAF5E89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DD0A3A-E3EC-4E58-B6D0-D3E200941D3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1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0.png"/><Relationship Id="rId7" Type="http://schemas.openxmlformats.org/officeDocument/2006/relationships/image" Target="../media/image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8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80.png"/><Relationship Id="rId7" Type="http://schemas.openxmlformats.org/officeDocument/2006/relationships/image" Target="../media/image21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60.png"/><Relationship Id="rId7" Type="http://schemas.openxmlformats.org/officeDocument/2006/relationships/image" Target="../media/image35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4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30.png"/><Relationship Id="rId7" Type="http://schemas.openxmlformats.org/officeDocument/2006/relationships/image" Target="../media/image3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0.png"/><Relationship Id="rId5" Type="http://schemas.openxmlformats.org/officeDocument/2006/relationships/image" Target="../media/image36.png"/><Relationship Id="rId4" Type="http://schemas.openxmlformats.org/officeDocument/2006/relationships/image" Target="../media/image3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E9C8A7-46D2-4073-8F67-E8FACFA4B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3"/>
            <a:ext cx="6858000" cy="1055951"/>
          </a:xfrm>
        </p:spPr>
        <p:txBody>
          <a:bodyPr anchor="ctr">
            <a:normAutofit/>
          </a:bodyPr>
          <a:lstStyle/>
          <a:p>
            <a:pPr algn="ctr"/>
            <a:r>
              <a:rPr lang="ro-RO" b="1" dirty="0">
                <a:solidFill>
                  <a:srgbClr val="FFFFFF"/>
                </a:solidFill>
              </a:rPr>
              <a:t>Electronică Digitală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58408-1DD3-4BA0-B227-217A6D198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231886"/>
            <a:ext cx="6857999" cy="1323182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ro-RO" sz="2800" dirty="0">
                <a:solidFill>
                  <a:schemeClr val="bg2"/>
                </a:solidFill>
              </a:rPr>
              <a:t>Curs 2</a:t>
            </a:r>
          </a:p>
          <a:p>
            <a:pPr algn="ctr">
              <a:lnSpc>
                <a:spcPct val="110000"/>
              </a:lnSpc>
            </a:pPr>
            <a:r>
              <a:rPr lang="ro-RO" sz="2800" cap="none" dirty="0">
                <a:solidFill>
                  <a:schemeClr val="bg2"/>
                </a:solidFill>
              </a:rPr>
              <a:t>Ș.l. dr. ing. Daniela Stănescu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A4964-AD96-A2B1-FC82-8C38746F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5E193-BF3D-DF46-FD4C-70DCE3B9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9829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56" y="999218"/>
            <a:ext cx="11049000" cy="5190011"/>
          </a:xfrm>
        </p:spPr>
        <p:txBody>
          <a:bodyPr/>
          <a:lstStyle/>
          <a:p>
            <a:pPr marL="0" indent="0">
              <a:buNone/>
            </a:pPr>
            <a:endParaRPr lang="ro-RO" sz="600" b="1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RC trece-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ce permit trecerea nemodificată a  semnalelor de frecvențe mari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implică distorsiuni pentru semnale de frecvențe joase.</a:t>
            </a:r>
          </a:p>
          <a:p>
            <a:pPr lvl="1" algn="just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1865F-064D-448F-83FA-78D558A7739A}"/>
              </a:ext>
            </a:extLst>
          </p:cNvPr>
          <p:cNvSpPr txBox="1"/>
          <p:nvPr/>
        </p:nvSpPr>
        <p:spPr>
          <a:xfrm>
            <a:off x="8153400" y="5497640"/>
            <a:ext cx="3967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4</a:t>
            </a:r>
            <a:r>
              <a:rPr lang="es-ES" sz="1400" dirty="0"/>
              <a:t> </a:t>
            </a:r>
            <a:r>
              <a:rPr lang="ro-RO" sz="1400" dirty="0"/>
              <a:t>Circuitul</a:t>
            </a:r>
            <a:r>
              <a:rPr lang="es-ES" sz="1400" dirty="0"/>
              <a:t> RC trece </a:t>
            </a:r>
            <a:r>
              <a:rPr lang="en-US" sz="1400" dirty="0"/>
              <a:t>sus</a:t>
            </a:r>
            <a:endParaRPr lang="ro-RO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1D7D00-AD13-4FB2-807C-B3114BAFB668}"/>
              </a:ext>
            </a:extLst>
          </p:cNvPr>
          <p:cNvSpPr txBox="1">
            <a:spLocks/>
          </p:cNvSpPr>
          <p:nvPr/>
        </p:nvSpPr>
        <p:spPr>
          <a:xfrm>
            <a:off x="763556" y="314540"/>
            <a:ext cx="10515600" cy="804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RC trece -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Analiză comportament la aplicarea diferitelor semnale numerice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14662-F51B-BF56-5BAD-B65FE17632E3}"/>
              </a:ext>
            </a:extLst>
          </p:cNvPr>
          <p:cNvSpPr/>
          <p:nvPr/>
        </p:nvSpPr>
        <p:spPr>
          <a:xfrm>
            <a:off x="282544" y="3174934"/>
            <a:ext cx="4225580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 filtru RC trece –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0430D9-B9F1-2650-93D2-7AE25A0A677D}"/>
                  </a:ext>
                </a:extLst>
              </p:cNvPr>
              <p:cNvSpPr txBox="1"/>
              <p:nvPr/>
            </p:nvSpPr>
            <p:spPr>
              <a:xfrm>
                <a:off x="389700" y="3714313"/>
                <a:ext cx="10329344" cy="2803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lcătuit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din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două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condensator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7145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legat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intrare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rezistență:</a:t>
                </a:r>
              </a:p>
              <a:p>
                <a:pPr marL="17145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conectat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între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nodul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comun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ieșire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masă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(GND)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0430D9-B9F1-2650-93D2-7AE25A0A6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00" y="3714313"/>
                <a:ext cx="10329344" cy="2803140"/>
              </a:xfrm>
              <a:prstGeom prst="rect">
                <a:avLst/>
              </a:prstGeom>
              <a:blipFill>
                <a:blip r:embed="rId2"/>
                <a:stretch>
                  <a:fillRect b="-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3B185F41-EA1A-D136-68A5-6397AD207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611" y="2907173"/>
            <a:ext cx="3331177" cy="209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DECA9E-7273-DF0C-9533-3E330A00DC5B}"/>
              </a:ext>
            </a:extLst>
          </p:cNvPr>
          <p:cNvCxnSpPr/>
          <p:nvPr/>
        </p:nvCxnSpPr>
        <p:spPr>
          <a:xfrm flipV="1">
            <a:off x="3860800" y="3362036"/>
            <a:ext cx="5532582" cy="1330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1CEB2C-DCC9-E8CF-0090-BB4BC4341AE5}"/>
              </a:ext>
            </a:extLst>
          </p:cNvPr>
          <p:cNvCxnSpPr/>
          <p:nvPr/>
        </p:nvCxnSpPr>
        <p:spPr>
          <a:xfrm flipV="1">
            <a:off x="7961745" y="3796145"/>
            <a:ext cx="535710" cy="1440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B84440-0A37-A55D-2B0B-225BEF6A8142}"/>
              </a:ext>
            </a:extLst>
          </p:cNvPr>
          <p:cNvCxnSpPr>
            <a:cxnSpLocks/>
          </p:cNvCxnSpPr>
          <p:nvPr/>
        </p:nvCxnSpPr>
        <p:spPr>
          <a:xfrm flipV="1">
            <a:off x="3500582" y="3974934"/>
            <a:ext cx="6400800" cy="1768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185203-2AD4-C358-AAF5-15979310722F}"/>
              </a:ext>
            </a:extLst>
          </p:cNvPr>
          <p:cNvCxnSpPr>
            <a:cxnSpLocks/>
          </p:cNvCxnSpPr>
          <p:nvPr/>
        </p:nvCxnSpPr>
        <p:spPr>
          <a:xfrm flipV="1">
            <a:off x="9901382" y="4763725"/>
            <a:ext cx="1427350" cy="1401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934E84-9CBD-9153-086B-274FA4DC03FB}"/>
              </a:ext>
            </a:extLst>
          </p:cNvPr>
          <p:cNvCxnSpPr>
            <a:cxnSpLocks/>
          </p:cNvCxnSpPr>
          <p:nvPr/>
        </p:nvCxnSpPr>
        <p:spPr>
          <a:xfrm flipV="1">
            <a:off x="7712364" y="3505341"/>
            <a:ext cx="3566792" cy="2516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37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910" y="1115386"/>
            <a:ext cx="11618397" cy="46272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Principiu de funcționare:</a:t>
            </a:r>
            <a:endParaRPr lang="en-US" sz="2400" b="1" dirty="0"/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frecvențe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joase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Condensatorul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opune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trecerii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reactanță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mare).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Tensiunea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ieșire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aproape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zero →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atenuat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frecvențe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înalte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Condensatorul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asemănător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scurtcircuit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3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Semnalul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mare parte nemodificat spre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ieșire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</a:t>
            </a:fld>
            <a:endParaRPr lang="ro-R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5DBCF-E5D2-130C-30CF-388BFD13A3E3}"/>
              </a:ext>
            </a:extLst>
          </p:cNvPr>
          <p:cNvSpPr/>
          <p:nvPr/>
        </p:nvSpPr>
        <p:spPr>
          <a:xfrm>
            <a:off x="3863752" y="144250"/>
            <a:ext cx="36005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trece-sus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05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10" y="1150284"/>
            <a:ext cx="10781714" cy="48416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Atenuatoare: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 trecerea semnalelor de frecvență înaltă (atenuare foarte mică);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Atenuează foarte mult semnalele de frecvență joasă: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lasă să treacă tot ce este în mișcare → ținând cont de raportul frecvență/timp.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se aplică semnal </a:t>
            </a:r>
            <a:r>
              <a:rPr lang="ro-R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nesinusoidal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Componentele de frecvență înaltă apar la ieșire cu o atenuare mai mică decât componentele de frecvență joasă.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</a:t>
            </a:fld>
            <a:endParaRPr lang="ro-RO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FE206-99D1-805F-C373-6AADC6B683DC}"/>
              </a:ext>
            </a:extLst>
          </p:cNvPr>
          <p:cNvSpPr/>
          <p:nvPr/>
        </p:nvSpPr>
        <p:spPr>
          <a:xfrm>
            <a:off x="2198255" y="293404"/>
            <a:ext cx="805410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trece-sus. Funcționalități principale.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3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83" y="1030212"/>
            <a:ext cx="10781714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de cuplare/legătură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între diferite circuite: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cuplarea se face → ținând sub control amplitudinea semnalelor.</a:t>
            </a:r>
          </a:p>
          <a:p>
            <a:pPr>
              <a:lnSpc>
                <a:spcPct val="150000"/>
              </a:lnSpc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filtrul trece-sus:</a:t>
            </a:r>
          </a:p>
          <a:p>
            <a:pPr lvl="1">
              <a:lnSpc>
                <a:spcPct val="150000"/>
              </a:lnSpc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Reactanța capacitivă → scade odată cu creșterea frecvenței:</a:t>
            </a:r>
          </a:p>
          <a:p>
            <a:pPr>
              <a:lnSpc>
                <a:spcPct val="150000"/>
              </a:lnSpc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trece-sus → se comportă ca un </a:t>
            </a: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divizor de tensiune: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iar raportul de divizare depinde de frecvență.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</a:t>
            </a:fld>
            <a:endParaRPr lang="ro-RO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065D83-94EC-2264-702F-307CDB43DCF0}"/>
              </a:ext>
            </a:extLst>
          </p:cNvPr>
          <p:cNvSpPr/>
          <p:nvPr/>
        </p:nvSpPr>
        <p:spPr>
          <a:xfrm>
            <a:off x="2198255" y="293404"/>
            <a:ext cx="805410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6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trece-sus. Funcționalități principale.</a:t>
            </a:r>
            <a:endParaRPr lang="ro-RO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6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130664"/>
            <a:ext cx="11383107" cy="79546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527235" y="999152"/>
                <a:ext cx="6260123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cenariu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presupune că ar exista un semnal treaptă  de amplitudine U → aplicat la intrarea unui circuit RC trece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sus</a:t>
                </a:r>
                <a:r>
                  <a:rPr lang="ro-RO" sz="2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i="1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o-RO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𝑝𝑒𝑛𝑡𝑟𝑢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𝑝𝑒𝑛𝑡𝑟𝑢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comportament circuit aplicând relaţia:</a:t>
                </a: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527235" y="999152"/>
                <a:ext cx="6260123" cy="4351338"/>
              </a:xfrm>
              <a:blipFill>
                <a:blip r:embed="rId2"/>
                <a:stretch>
                  <a:fillRect l="-1168" r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185950" y="6140825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2 </a:t>
            </a:r>
            <a:r>
              <a:rPr lang="it-IT" sz="1400" dirty="0"/>
              <a:t>Comportamentul unui circuit RC trece sus la un semnal treaptă</a:t>
            </a:r>
            <a:endParaRPr lang="ro-RO" sz="1400" dirty="0"/>
          </a:p>
        </p:txBody>
      </p:sp>
      <p:sp>
        <p:nvSpPr>
          <p:cNvPr id="3" name="Rectangle 2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sus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367550" y="5003625"/>
                <a:ext cx="6579493" cy="557397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wrap="none">
                <a:spAutoFit/>
              </a:bodyPr>
              <a:lstStyle/>
              <a:p>
                <a:pPr marL="717550" indent="-4635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num>
                          <m:den>
                            <m:r>
                              <a:rPr lang="ro-RO" sz="2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𝜹</m:t>
                            </m:r>
                          </m:den>
                        </m:f>
                      </m:sup>
                    </m:sSup>
                    <m:r>
                      <a:rPr lang="ro-RO" sz="2200" b="1">
                        <a:solidFill>
                          <a:srgbClr val="002060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550" y="5003625"/>
                <a:ext cx="6579493" cy="557397"/>
              </a:xfrm>
              <a:prstGeom prst="rect">
                <a:avLst/>
              </a:prstGeom>
              <a:blipFill>
                <a:blip r:embed="rId3"/>
                <a:stretch>
                  <a:fillRect r="-370" b="-20430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307058" y="6051212"/>
                <a:ext cx="253300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243013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058" y="6051212"/>
                <a:ext cx="2533001" cy="430887"/>
              </a:xfrm>
              <a:prstGeom prst="rect">
                <a:avLst/>
              </a:prstGeom>
              <a:blipFill rotWithShape="1">
                <a:blip r:embed="rId6"/>
                <a:stretch>
                  <a:fillRect t="-2857" b="-2428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609879" y="5606516"/>
                <a:ext cx="323018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ro-RO" sz="2200" dirty="0"/>
                  <a:t>  </a:t>
                </a:r>
                <a:r>
                  <a:rPr lang="ro-RO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constanta de timp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879" y="5606516"/>
                <a:ext cx="3230180" cy="430887"/>
              </a:xfrm>
              <a:prstGeom prst="rect">
                <a:avLst/>
              </a:prstGeom>
              <a:blipFill>
                <a:blip r:embed="rId7"/>
                <a:stretch>
                  <a:fillRect l="-2075" t="-11429" r="-943" b="-2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8990"/>
            <a:ext cx="3000022" cy="204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092" y="3941763"/>
            <a:ext cx="2132553" cy="168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123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130664"/>
            <a:ext cx="11383107" cy="79546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7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838200" y="6112768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3 </a:t>
            </a:r>
            <a:r>
              <a:rPr lang="it-IT" sz="1400" dirty="0"/>
              <a:t>Comportamentul unui circuit RC trece sus la un semnal treaptă</a:t>
            </a:r>
            <a:endParaRPr lang="ro-RO" sz="1400" dirty="0"/>
          </a:p>
        </p:txBody>
      </p:sp>
      <p:sp>
        <p:nvSpPr>
          <p:cNvPr id="3" name="Rectangle 2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751027" y="1213071"/>
                <a:ext cx="6019801" cy="4351338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pornește la fel ca și în cazul anterior: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știe că: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ro-RO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ro-RO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F- </a:t>
                </a:r>
                <a:r>
                  <a:rPr lang="en-US" sz="2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frecve</a:t>
                </a:r>
                <a:r>
                  <a:rPr lang="ro-RO" sz="2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nţa</a:t>
                </a:r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Trebuie să se determine valoarea finală de la ieșire:</a:t>
                </a:r>
              </a:p>
            </p:txBody>
          </p:sp>
        </mc:Choice>
        <mc:Fallback xmlns="">
          <p:sp>
            <p:nvSpPr>
              <p:cNvPr id="14" name="Content Placeholder 3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751027" y="1213071"/>
                <a:ext cx="6019801" cy="4351338"/>
              </a:xfrm>
              <a:blipFill rotWithShape="1">
                <a:blip r:embed="rId3"/>
                <a:stretch>
                  <a:fillRect l="-111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8990"/>
            <a:ext cx="2590800" cy="1767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092" y="3941763"/>
            <a:ext cx="2132553" cy="168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312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" y="130664"/>
            <a:ext cx="11383107" cy="79546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8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339601" y="6095669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4</a:t>
            </a:r>
            <a:r>
              <a:rPr lang="it-IT" sz="1400" dirty="0"/>
              <a:t> Comportamentul unui circuit RC trece </a:t>
            </a:r>
            <a:r>
              <a:rPr lang="ro-RO" sz="1400" dirty="0"/>
              <a:t>sus</a:t>
            </a:r>
            <a:r>
              <a:rPr lang="it-IT" sz="1400" dirty="0"/>
              <a:t> la un semnal treaptă</a:t>
            </a:r>
            <a:endParaRPr lang="ro-RO" sz="1400" dirty="0"/>
          </a:p>
        </p:txBody>
      </p:sp>
      <p:sp>
        <p:nvSpPr>
          <p:cNvPr id="3" name="Rectangle 2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68966" y="1084116"/>
                <a:ext cx="6019801" cy="4503883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Raţionament: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Pt.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ro-RO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ro-RO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ro-RO" sz="2200" i="0" dirty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2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</a:rPr>
                          <m:t>T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=&gt;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 este la intrare → este și la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ieşire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717550" lvl="1" indent="-4635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(intrare = ieşire)</a:t>
                </a: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68966" y="1084116"/>
                <a:ext cx="6019801" cy="4503883"/>
              </a:xfrm>
              <a:blipFill>
                <a:blip r:embed="rId2"/>
                <a:stretch>
                  <a:fillRect l="-1216" b="-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1" y="3675062"/>
            <a:ext cx="4505666" cy="229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 flipH="1">
            <a:off x="959556" y="2212622"/>
            <a:ext cx="5418666" cy="34132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4" y="3430766"/>
            <a:ext cx="4995259" cy="246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/>
          <p:cNvCxnSpPr>
            <a:cxnSpLocks/>
          </p:cNvCxnSpPr>
          <p:nvPr/>
        </p:nvCxnSpPr>
        <p:spPr>
          <a:xfrm flipH="1" flipV="1">
            <a:off x="838200" y="3980593"/>
            <a:ext cx="5540022" cy="13841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8990"/>
            <a:ext cx="2590800" cy="1767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81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1" y="143366"/>
            <a:ext cx="11383107" cy="795460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9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181707" y="6112768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en-US" sz="1400" dirty="0"/>
              <a:t>5</a:t>
            </a:r>
            <a:r>
              <a:rPr lang="it-IT" sz="1400" dirty="0"/>
              <a:t> Comportamentul unui circuit RC trece jos la un semnal treaptă</a:t>
            </a:r>
            <a:endParaRPr lang="ro-RO" sz="1400" dirty="0"/>
          </a:p>
        </p:txBody>
      </p:sp>
      <p:sp>
        <p:nvSpPr>
          <p:cNvPr id="3" name="Rectangle 2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516566" y="1025500"/>
                <a:ext cx="6558203" cy="5087267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Raţionament: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Pt.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ro-RO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ro-RO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ro-RO" sz="2200" b="0" i="0" dirty="0" smtClean="0"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=&gt;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ro-RO" sz="2200" b="0" i="0" smtClean="0"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/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marL="260350" indent="-4635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orice circuit există curent, însă dacă:</a:t>
                </a:r>
              </a:p>
              <a:p>
                <a:pPr marL="717550" lvl="1" indent="-463550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reactanța → ∞ =&gt; 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 (i=0)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i</m:t>
                    </m:r>
                    <m:r>
                      <a:rPr lang="ro-RO" sz="2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516566" y="1025500"/>
                <a:ext cx="6558203" cy="5087267"/>
              </a:xfrm>
              <a:blipFill>
                <a:blip r:embed="rId2"/>
                <a:stretch>
                  <a:fillRect l="-1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8990"/>
            <a:ext cx="2590800" cy="1767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ACBB3DEC-AF87-0259-4023-3D4A9839D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07" y="3441205"/>
            <a:ext cx="4995259" cy="246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8F5D0D6-57A2-D3CB-6316-8608F5454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07" y="3361603"/>
            <a:ext cx="4772080" cy="238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37D5ED-3743-6E74-0327-119C4F110B06}"/>
              </a:ext>
            </a:extLst>
          </p:cNvPr>
          <p:cNvCxnSpPr>
            <a:cxnSpLocks/>
          </p:cNvCxnSpPr>
          <p:nvPr/>
        </p:nvCxnSpPr>
        <p:spPr>
          <a:xfrm flipH="1" flipV="1">
            <a:off x="3552246" y="5472631"/>
            <a:ext cx="2802372" cy="359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59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297211" y="1723407"/>
                <a:ext cx="6660327" cy="4352400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sec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=0+</m:t>
                    </m:r>
                    <m:d>
                      <m:dPr>
                        <m:begChr m:val="["/>
                        <m:endChr m:val="]"/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		(3)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Observație: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Iniţial semnalul are un salt → de amplitudine U: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scade exponențial spre valoarea 0.</a:t>
                </a: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297211" y="1723407"/>
                <a:ext cx="6660327" cy="4352400"/>
              </a:xfrm>
              <a:blipFill>
                <a:blip r:embed="rId2"/>
                <a:stretch>
                  <a:fillRect l="-1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10</a:t>
            </a:fld>
            <a:endParaRPr lang="ro-RO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339601" y="6383583"/>
            <a:ext cx="5207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Fig.6 Comportamentul unui circuit RC trece sus la un semnal treaptă</a:t>
            </a:r>
            <a:endParaRPr lang="ro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015857" y="981593"/>
                <a:ext cx="6579493" cy="55739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wrap="none">
                <a:spAutoFit/>
              </a:bodyPr>
              <a:lstStyle/>
              <a:p>
                <a:pPr marL="717550" indent="-4635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  <m:r>
                      <a:rPr lang="ro-RO" sz="2200" b="0" i="0">
                        <a:solidFill>
                          <a:schemeClr val="tx1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57" y="981593"/>
                <a:ext cx="6579493" cy="557397"/>
              </a:xfrm>
              <a:prstGeom prst="rect">
                <a:avLst/>
              </a:prstGeom>
              <a:blipFill rotWithShape="1">
                <a:blip r:embed="rId3"/>
                <a:stretch>
                  <a:fillRect b="-2150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17231" y="143366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E40FA-8D76-9045-4A59-15EE90D37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01" y="1700441"/>
            <a:ext cx="4638675" cy="446722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0A05CA-700F-127F-D51E-311F32929D71}"/>
              </a:ext>
            </a:extLst>
          </p:cNvPr>
          <p:cNvCxnSpPr/>
          <p:nvPr/>
        </p:nvCxnSpPr>
        <p:spPr>
          <a:xfrm flipH="1" flipV="1">
            <a:off x="1191491" y="4472805"/>
            <a:ext cx="10162309" cy="514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215C43-8EE0-DEAA-6356-CB780A5F8E23}"/>
              </a:ext>
            </a:extLst>
          </p:cNvPr>
          <p:cNvCxnSpPr/>
          <p:nvPr/>
        </p:nvCxnSpPr>
        <p:spPr>
          <a:xfrm flipH="1">
            <a:off x="3925455" y="5569527"/>
            <a:ext cx="6918036" cy="221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2123F0-12A6-2849-6205-F82F6D9FF9AA}"/>
              </a:ext>
            </a:extLst>
          </p:cNvPr>
          <p:cNvCxnSpPr/>
          <p:nvPr/>
        </p:nvCxnSpPr>
        <p:spPr>
          <a:xfrm flipH="1">
            <a:off x="6825673" y="1538990"/>
            <a:ext cx="267854" cy="108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E4C84F-FAB1-69C0-14E3-222CDE1DEF20}"/>
              </a:ext>
            </a:extLst>
          </p:cNvPr>
          <p:cNvCxnSpPr/>
          <p:nvPr/>
        </p:nvCxnSpPr>
        <p:spPr>
          <a:xfrm flipH="1">
            <a:off x="7384473" y="1538990"/>
            <a:ext cx="768927" cy="1194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4FEFEC-8ADC-BF7C-290A-D63B4CCE6F08}"/>
              </a:ext>
            </a:extLst>
          </p:cNvPr>
          <p:cNvCxnSpPr/>
          <p:nvPr/>
        </p:nvCxnSpPr>
        <p:spPr>
          <a:xfrm flipH="1">
            <a:off x="7869382" y="1468582"/>
            <a:ext cx="1459345" cy="1154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70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11</a:t>
            </a:fld>
            <a:endParaRPr lang="ro-RO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461962" y="6075806"/>
            <a:ext cx="5207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Fig.6  Comportamentul unui circuit RC trece sus la un semnal treaptă</a:t>
            </a:r>
            <a:endParaRPr lang="ro-RO" sz="14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17231" y="143366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331667" y="2145607"/>
                <a:ext cx="6415726" cy="349793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Reprezentare grafică  :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tinde să scadă de la U spre 0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Timp de cădere → Reper măsurare: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la 0,9·U la 0,1·U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b="0" i="0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b="0" i="0" smtClean="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ro-RO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8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31667" y="2145607"/>
                <a:ext cx="6415726" cy="3497933"/>
              </a:xfrm>
              <a:blipFill>
                <a:blip r:embed="rId2"/>
                <a:stretch>
                  <a:fillRect l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70" y="1538990"/>
            <a:ext cx="2590800" cy="1767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81" y="3306961"/>
            <a:ext cx="4291439" cy="269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2C7ED19-8427-3836-ABE2-13A1EED36968}"/>
              </a:ext>
            </a:extLst>
          </p:cNvPr>
          <p:cNvCxnSpPr/>
          <p:nvPr/>
        </p:nvCxnSpPr>
        <p:spPr>
          <a:xfrm flipH="1">
            <a:off x="3131127" y="5190836"/>
            <a:ext cx="3075709" cy="277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93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12</a:t>
            </a:fld>
            <a:endParaRPr lang="ro-RO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339601" y="6363389"/>
            <a:ext cx="5207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Fig.6 Comportamentul unui circuit RC trece sus la un semnal treaptă</a:t>
            </a:r>
            <a:endParaRPr lang="ro-RO" sz="14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17231" y="143366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69396" y="2126327"/>
                <a:ext cx="6311589" cy="42572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ro-RO" sz="2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Content Placeholder 3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69396" y="2126327"/>
                <a:ext cx="6311589" cy="4257256"/>
              </a:xfr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5343390" y="1155784"/>
            <a:ext cx="62519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vor folosi în continuare aceleași relații de timp: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343390" y="1861953"/>
                <a:ext cx="6579493" cy="55739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wrap="none">
                <a:spAutoFit/>
              </a:bodyPr>
              <a:lstStyle/>
              <a:p>
                <a:pPr marL="717550" indent="-4635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  <m:r>
                      <a:rPr lang="ro-RO" sz="2200" b="0" i="0">
                        <a:solidFill>
                          <a:schemeClr val="tx1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390" y="1861953"/>
                <a:ext cx="6579493" cy="557397"/>
              </a:xfrm>
              <a:prstGeom prst="rect">
                <a:avLst/>
              </a:prstGeom>
              <a:blipFill rotWithShape="1">
                <a:blip r:embed="rId5"/>
                <a:stretch>
                  <a:fillRect b="-2021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1" y="1455866"/>
            <a:ext cx="4683955" cy="493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8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lide Number Placeholder 4">
                <a:extLst>
                  <a:ext uri="{FF2B5EF4-FFF2-40B4-BE49-F238E27FC236}">
                    <a16:creationId xmlns:a16="http://schemas.microsoft.com/office/drawing/2014/main" id="{E4B28737-86C0-4649-89B9-529E1BDD0E3D}"/>
                  </a:ext>
                </a:extLst>
              </p:cNvPr>
              <p:cNvSpPr>
                <a:spLocks noGrp="1"/>
              </p:cNvSpPr>
              <p:nvPr>
                <p:ph type="sldNum" sz="quarter" idx="12"/>
              </p:nvPr>
            </p:nvSpPr>
            <p:spPr>
              <a:xfrm>
                <a:off x="6067980" y="6018458"/>
                <a:ext cx="2743200" cy="496661"/>
              </a:xfrm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2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sub>
                    </m:sSub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</m:t>
                    </m:r>
                  </m:oMath>
                </a14:m>
                <a:endParaRPr lang="ro-RO" sz="22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Slide Number Placeholder 4">
                <a:extLst>
                  <a:ext uri="{FF2B5EF4-FFF2-40B4-BE49-F238E27FC236}">
                    <a16:creationId xmlns:a16="http://schemas.microsoft.com/office/drawing/2014/main" id="{E4B28737-86C0-4649-89B9-529E1BDD0E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ldNum" sz="quarter" idx="12"/>
              </p:nvPr>
            </p:nvSpPr>
            <p:spPr>
              <a:xfrm>
                <a:off x="6067980" y="6018458"/>
                <a:ext cx="2743200" cy="496661"/>
              </a:xfrm>
              <a:blipFill>
                <a:blip r:embed="rId2"/>
                <a:stretch>
                  <a:fillRect b="-26190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339601" y="6383583"/>
            <a:ext cx="5207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Fig.6 Comportamentul unui circuit RC trece sus la un semnal treaptă</a:t>
            </a:r>
            <a:endParaRPr lang="ro-RO" sz="14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17231" y="143366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029200" y="938827"/>
                <a:ext cx="6775939" cy="3732820"/>
              </a:xfrm>
            </p:spPr>
            <p:txBody>
              <a:bodyPr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220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/>
                      </a:rPr>
                      <m:t> </m:t>
                    </m:r>
                  </m:oMath>
                </a14:m>
                <a:endParaRPr lang="ro-RO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b="0" i="0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14:m>
                  <m:oMath xmlns:m="http://schemas.openxmlformats.org/officeDocument/2006/math"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b="0" i="0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0" lvl="2">
                  <a:lnSpc>
                    <a:spcPct val="15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2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=0,9</m:t>
                    </m:r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=0,1</m:t>
                    </m:r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29200" y="938827"/>
                <a:ext cx="6775939" cy="37328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575611" y="4512233"/>
                <a:ext cx="3727938" cy="13332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0−0,9</m:t>
                                </m:r>
                              </m:num>
                              <m:den>
                                <m:r>
                                  <a:rPr lang="ro-RO" sz="2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0−0,1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ro-RO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9≅2,2</m:t>
                        </m:r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func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endParaRPr lang="ro-RO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11" y="4512233"/>
                <a:ext cx="3727938" cy="1333250"/>
              </a:xfrm>
              <a:prstGeom prst="rect">
                <a:avLst/>
              </a:prstGeom>
              <a:blipFill>
                <a:blip r:embed="rId4"/>
                <a:stretch>
                  <a:fillRect l="-1964"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1" y="1468763"/>
            <a:ext cx="4424310" cy="487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C047AE-0C00-5D57-5E8E-640FBAD25EFF}"/>
              </a:ext>
            </a:extLst>
          </p:cNvPr>
          <p:cNvCxnSpPr/>
          <p:nvPr/>
        </p:nvCxnSpPr>
        <p:spPr>
          <a:xfrm flipH="1">
            <a:off x="1265382" y="3814618"/>
            <a:ext cx="6022109" cy="424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9F9539-535B-E842-D3BD-A5A10AB57F72}"/>
              </a:ext>
            </a:extLst>
          </p:cNvPr>
          <p:cNvCxnSpPr>
            <a:cxnSpLocks/>
          </p:cNvCxnSpPr>
          <p:nvPr/>
        </p:nvCxnSpPr>
        <p:spPr>
          <a:xfrm flipH="1">
            <a:off x="3491345" y="4368800"/>
            <a:ext cx="3934691" cy="1099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50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92671" y="1822224"/>
                <a:ext cx="6019801" cy="4351338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t-IT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frecvenţă mare trece tot semnalul nemodificat</a:t>
                </a:r>
                <a:endParaRPr lang="ro-RO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frecvență joasă tinde spre zero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b>
                        <m:r>
                          <a:rPr lang="ro-RO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b>
                    </m:sSub>
                    <m:d>
                      <m:dPr>
                        <m:ctrlPr>
                          <a:rPr lang="ro-RO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  <m:r>
                      <a:rPr lang="ro-RO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b="1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𝐔</m:t>
                    </m:r>
                    <m:r>
                      <a:rPr lang="ro-RO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ro-RO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r>
                          <a:rPr lang="ro-RO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𝐭</m:t>
                            </m:r>
                          </m:num>
                          <m:den>
                            <m:r>
                              <a:rPr lang="ro-RO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𝐑𝐂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</a:t>
                </a:r>
                <a:endParaRPr lang="ro-RO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92671" y="1822224"/>
                <a:ext cx="6019801" cy="4351338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14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339601" y="6517522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 Fig.</a:t>
            </a:r>
            <a:r>
              <a:rPr lang="en-US" sz="1400" dirty="0"/>
              <a:t>6</a:t>
            </a:r>
            <a:r>
              <a:rPr lang="es-ES" sz="1400" dirty="0"/>
              <a:t> </a:t>
            </a:r>
            <a:r>
              <a:rPr lang="ro-RO" sz="1400" dirty="0"/>
              <a:t>Răspunsul</a:t>
            </a:r>
            <a:r>
              <a:rPr lang="es-ES" sz="1400" dirty="0"/>
              <a:t> </a:t>
            </a:r>
            <a:r>
              <a:rPr lang="ro-RO" sz="1400" dirty="0"/>
              <a:t>circuitului</a:t>
            </a:r>
            <a:r>
              <a:rPr lang="es-ES" sz="1400" dirty="0"/>
              <a:t> RC trece sus la </a:t>
            </a:r>
            <a:r>
              <a:rPr lang="ro-RO" sz="1400" dirty="0"/>
              <a:t>semnal</a:t>
            </a:r>
            <a:r>
              <a:rPr lang="es-ES" sz="1400" dirty="0"/>
              <a:t> </a:t>
            </a:r>
            <a:r>
              <a:rPr lang="ro-RO" sz="1400" dirty="0"/>
              <a:t>treaptă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F14A55-0124-4B37-AC2F-C4D84932F5CB}"/>
              </a:ext>
            </a:extLst>
          </p:cNvPr>
          <p:cNvSpPr txBox="1">
            <a:spLocks/>
          </p:cNvSpPr>
          <p:nvPr/>
        </p:nvSpPr>
        <p:spPr>
          <a:xfrm>
            <a:off x="-170162" y="136525"/>
            <a:ext cx="11189677" cy="947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comportamentelor circuitelor RC la aplicarea diferitelor semnale numerice</a:t>
            </a:r>
          </a:p>
        </p:txBody>
      </p:sp>
      <p:sp>
        <p:nvSpPr>
          <p:cNvPr id="2" name="Rectangle 1"/>
          <p:cNvSpPr/>
          <p:nvPr/>
        </p:nvSpPr>
        <p:spPr>
          <a:xfrm>
            <a:off x="5026701" y="2107568"/>
            <a:ext cx="6941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treaptă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1" y="1639436"/>
            <a:ext cx="4424310" cy="487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026701" y="1369729"/>
            <a:ext cx="19319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zie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117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FB468-52C5-444B-9075-4C935E92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5016" y="769621"/>
            <a:ext cx="6564922" cy="5571637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cenariu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presupune că la intrarea unui circuit RC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trece-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un semnal impuls.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stabilesc repere :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lnSpc>
                <a:spcPct val="150000"/>
              </a:lnSpc>
            </a:pPr>
            <a:endParaRPr lang="ro-RO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ro-RO" sz="2700" dirty="0">
              <a:latin typeface="Cambria Math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15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6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289129" y="231746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75" y="3555440"/>
            <a:ext cx="4666514" cy="209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75" y="902513"/>
            <a:ext cx="2875449" cy="180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8871150" y="4308903"/>
            <a:ext cx="30863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µs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µs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1K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/>
              <a:t>δ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R∙C = 10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µs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71150" y="2601533"/>
            <a:ext cx="332085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→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Amplitudine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/>
              <a:t>T</a:t>
            </a:r>
            <a:r>
              <a:rPr lang="ro-RO" sz="2200" baseline="-25000" dirty="0"/>
              <a:t>i</a:t>
            </a:r>
            <a:r>
              <a:rPr lang="ro-RO" sz="2200" b="1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o-RO" sz="2200" dirty="0"/>
              <a:t> 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repeti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ţie </a:t>
            </a:r>
          </a:p>
        </p:txBody>
      </p:sp>
      <p:sp>
        <p:nvSpPr>
          <p:cNvPr id="17" name="Left Brace 16"/>
          <p:cNvSpPr/>
          <p:nvPr/>
        </p:nvSpPr>
        <p:spPr>
          <a:xfrm>
            <a:off x="8581292" y="2895600"/>
            <a:ext cx="164123" cy="11254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Left Brace 17"/>
          <p:cNvSpPr/>
          <p:nvPr/>
        </p:nvSpPr>
        <p:spPr>
          <a:xfrm>
            <a:off x="8599786" y="4586151"/>
            <a:ext cx="271364" cy="213532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332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FB468-52C5-444B-9075-4C935E92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21571" y="2180846"/>
            <a:ext cx="6447692" cy="2980837"/>
          </a:xfrm>
        </p:spPr>
        <p:txBody>
          <a:bodyPr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descompune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emnal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în: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Semnale elementare de bază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Folosind una din cele două metode descrise anterior: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determină răspunsul final prin însumarea efectelor  pe intervale de timp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16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6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5" y="3420951"/>
            <a:ext cx="3438810" cy="218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5" y="980608"/>
            <a:ext cx="2875449" cy="180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95581" y="570300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8851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228492" y="1157409"/>
                <a:ext cx="6799386" cy="5070940"/>
              </a:xfrm>
            </p:spPr>
            <p:txBody>
              <a:bodyPr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Exemplu: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descompune semnalul impuls în semnale tip treaptă: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iniţial → Semnalul traptă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 → de amplitudine U;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pentru a anula continuarea semnalului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aplică un al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doi-lea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semnal treapta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amplitudine –U.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228492" y="1157409"/>
                <a:ext cx="6799386" cy="5070940"/>
              </a:xfrm>
              <a:blipFill rotWithShape="1">
                <a:blip r:embed="rId2"/>
                <a:stretch>
                  <a:fillRect l="-1166" r="-116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17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7 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95581" y="570300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82" y="1322520"/>
            <a:ext cx="3438810" cy="218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3" y="720098"/>
            <a:ext cx="4810795" cy="5145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3470031" y="3292758"/>
            <a:ext cx="4114800" cy="9861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658970" y="3376246"/>
            <a:ext cx="5066538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3" y="588010"/>
            <a:ext cx="4681842" cy="568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Arrow Connector 18"/>
          <p:cNvCxnSpPr/>
          <p:nvPr/>
        </p:nvCxnSpPr>
        <p:spPr>
          <a:xfrm flipH="1">
            <a:off x="4337538" y="5556738"/>
            <a:ext cx="3387970" cy="1641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61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383825" y="1135750"/>
                <a:ext cx="6644052" cy="5513022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Răspunsul RC trece sus la un semnal treaptă: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Analiza pe intervale de timp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Cambria Math"/>
                </a:endParaRP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ro-RO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200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un singur semnal treaptă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ro-RO" sz="2200" i="1" dirty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o-RO" sz="22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(t):</a:t>
                </a: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/>
                  <a:t> 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b="0" i="0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=0,37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ro-RO" sz="2200" b="0" dirty="0">
                    <a:ea typeface="Cambria Math" panose="02040503050406030204" pitchFamily="18" charset="0"/>
                  </a:rPr>
                  <a:t>; </a:t>
                </a: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i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 b="0" i="0" smtClean="0">
                        <a:latin typeface="Cambria Math"/>
                      </a:rPr>
                      <m:t>3,7 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/>
                      </a:rPr>
                      <m:t>V</m:t>
                    </m:r>
                  </m:oMath>
                </a14:m>
                <a:endParaRPr lang="ro-RO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83825" y="1135750"/>
                <a:ext cx="6644052" cy="5513022"/>
              </a:xfrm>
              <a:blipFill>
                <a:blip r:embed="rId2"/>
                <a:stretch>
                  <a:fillRect l="-1009" b="-3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18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7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68" y="664085"/>
            <a:ext cx="2875449" cy="180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95581" y="570300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2" y="664085"/>
            <a:ext cx="4375416" cy="5310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8865191" y="3974921"/>
            <a:ext cx="3148619" cy="960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marL="717550" indent="-4635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momentul iniţial: </a:t>
            </a:r>
          </a:p>
          <a:p>
            <a:pPr marL="717550" indent="-4635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Salt de amplitudine 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74550" y="6132905"/>
            <a:ext cx="3639260" cy="498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717550" indent="-4635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Scade exponenţial → 3,7V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842304" y="3645877"/>
            <a:ext cx="6027420" cy="809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2321169" y="3645877"/>
            <a:ext cx="4548555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2321169" y="4689231"/>
            <a:ext cx="4302369" cy="3751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65191" y="5064369"/>
            <a:ext cx="696024" cy="36933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ro-R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µs</a:t>
            </a:r>
            <a:endParaRPr lang="ro-RO" dirty="0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8616462" y="5249035"/>
            <a:ext cx="248729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8740826" y="5341368"/>
            <a:ext cx="124365" cy="402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209806" y="5086363"/>
            <a:ext cx="635751" cy="36933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ro-RO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11066585" y="5455695"/>
            <a:ext cx="143221" cy="871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2" y="664085"/>
            <a:ext cx="4233845" cy="5433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Straight Arrow Connector 22"/>
          <p:cNvCxnSpPr>
            <a:cxnSpLocks/>
          </p:cNvCxnSpPr>
          <p:nvPr/>
        </p:nvCxnSpPr>
        <p:spPr>
          <a:xfrm flipH="1" flipV="1">
            <a:off x="664319" y="1625600"/>
            <a:ext cx="11015063" cy="3063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2321169" y="2244436"/>
            <a:ext cx="9206512" cy="4291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76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0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126182" y="869215"/>
                <a:ext cx="6887628" cy="5513022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Analiza pe intervale de timp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Cambria Math"/>
                </a:endParaRP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200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dou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 semnal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treaptă</a:t>
                </a: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ro-RO" sz="2200" b="0" i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b="0" i="0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dirty="0"/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</a:rPr>
                  <a:t>= 2·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 b="0" i="0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b="0" i="1" dirty="0">
                    <a:latin typeface="Cambria Math"/>
                    <a:ea typeface="Cambria Math" panose="02040503050406030204" pitchFamily="18" charset="0"/>
                  </a:rPr>
                  <a:t> </a:t>
                </a:r>
                <a:r>
                  <a:rPr lang="ro-RO" sz="2200" dirty="0"/>
                  <a:t>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ro-RO" sz="220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200" b="0" i="1" dirty="0">
                  <a:latin typeface="Cambria Math"/>
                  <a:ea typeface="Cambria Math" panose="02040503050406030204" pitchFamily="18" charset="0"/>
                </a:endParaRP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ro-RO" sz="2200" b="0" i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ro-RO" sz="2200" dirty="0"/>
                      <m:t>− </m:t>
                    </m:r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2200" b="0" i="0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ro-RO" sz="2200">
                                <a:latin typeface="Cambria Math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o-RO" sz="22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ro-RO" sz="2200" b="0" i="1" smtClean="0">
                                <a:latin typeface="Cambria Math"/>
                              </a:rPr>
                              <m:t>10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>
                    <a:ea typeface="Cambria Math" panose="02040503050406030204" pitchFamily="18" charset="0"/>
                  </a:rPr>
                  <a:t> </a:t>
                </a:r>
                <a:endParaRPr lang="ro-RO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ro-RO" sz="2200" b="0" i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ro-RO" sz="2200" b="0" i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o-RO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dirty="0">
                    <a:ea typeface="Cambria Math" panose="02040503050406030204" pitchFamily="18" charset="0"/>
                  </a:rPr>
                  <a:t> (0,15-0,37)=</a:t>
                </a:r>
                <a:r>
                  <a:rPr lang="en-US" sz="2200" dirty="0">
                    <a:ea typeface="Cambria Math" panose="02040503050406030204" pitchFamily="18" charset="0"/>
                  </a:rPr>
                  <a:t> -</a:t>
                </a:r>
                <a:r>
                  <a:rPr lang="ro-RO" sz="2200" dirty="0">
                    <a:ea typeface="Cambria Math" panose="02040503050406030204" pitchFamily="18" charset="0"/>
                  </a:rPr>
                  <a:t> 0,22 ∙U;  </a:t>
                </a:r>
                <a:endParaRPr lang="ro-RO" sz="2200" b="0" dirty="0">
                  <a:ea typeface="Cambria Math" panose="02040503050406030204" pitchFamily="18" charset="0"/>
                </a:endParaRP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200" b="0" i="0" smtClean="0">
                        <a:latin typeface="Cambria Math"/>
                      </a:rPr>
                      <m:t>−2,2 </m:t>
                    </m:r>
                    <m:r>
                      <m:rPr>
                        <m:sty m:val="p"/>
                      </m:rPr>
                      <a:rPr lang="ro-RO" sz="2200" b="0" i="0" smtClean="0">
                        <a:latin typeface="Cambria Math"/>
                      </a:rPr>
                      <m:t>V</m:t>
                    </m:r>
                  </m:oMath>
                </a14:m>
                <a:endParaRPr lang="ro-RO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26182" y="869215"/>
                <a:ext cx="6887628" cy="5513022"/>
              </a:xfrm>
              <a:blipFill>
                <a:blip r:embed="rId2"/>
                <a:stretch>
                  <a:fillRect l="-973" r="-1858" b="-4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19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 8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95580" y="364003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V="1">
            <a:off x="11674764" y="5273964"/>
            <a:ext cx="0" cy="211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378059" y="4822668"/>
            <a:ext cx="635751" cy="36933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ro-RO" dirty="0"/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2" y="664085"/>
            <a:ext cx="4233845" cy="5433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 flipH="1">
            <a:off x="3318217" y="2036618"/>
            <a:ext cx="3581347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 flipH="1" flipV="1">
            <a:off x="4073236" y="2826327"/>
            <a:ext cx="1720895" cy="4710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535382" y="2826327"/>
            <a:ext cx="5181600" cy="692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3318217" y="2826327"/>
            <a:ext cx="5784219" cy="26588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9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FB468-52C5-444B-9075-4C935E92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9758" y="869215"/>
            <a:ext cx="6644052" cy="5513022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pe intervale de timp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Cambria Math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20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842304" y="6228349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9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95580" y="364003"/>
            <a:ext cx="44614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suprapunerii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efectelor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716572" y="1534474"/>
                <a:ext cx="5979362" cy="16158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marL="717550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3,7V </a:t>
                </a:r>
              </a:p>
              <a:p>
                <a:pPr marL="717550" indent="-4635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Salt de amplitudine → - U</a:t>
                </a:r>
              </a:p>
              <a:p>
                <a:pPr marL="1174750" lvl="1" indent="-4635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3,7V -10 V = -6,3V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572" y="1534474"/>
                <a:ext cx="5979362" cy="1615827"/>
              </a:xfrm>
              <a:prstGeom prst="rect">
                <a:avLst/>
              </a:prstGeom>
              <a:blipFill rotWithShape="1">
                <a:blip r:embed="rId2"/>
                <a:stretch>
                  <a:fillRect b="-262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794131" y="3583669"/>
                <a:ext cx="3639260" cy="4986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marL="717550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momentul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-2,2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131" y="3583669"/>
                <a:ext cx="3639260" cy="498663"/>
              </a:xfrm>
              <a:prstGeom prst="rect">
                <a:avLst/>
              </a:prstGeom>
              <a:blipFill rotWithShape="1">
                <a:blip r:embed="rId3"/>
                <a:stretch>
                  <a:fillRect r="-2003" b="-1904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2" y="664085"/>
            <a:ext cx="4233845" cy="5433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2" y="664084"/>
            <a:ext cx="4233845" cy="530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2383844" y="2479964"/>
            <a:ext cx="6649320" cy="6703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43" y="644737"/>
            <a:ext cx="4233845" cy="5348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4003964" y="2923309"/>
            <a:ext cx="4222317" cy="11590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155047" y="1995055"/>
            <a:ext cx="6171535" cy="347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794131" y="4117079"/>
                <a:ext cx="6096000" cy="244240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596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Procesul se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repet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 se aplică un alt impuls:</a:t>
                </a:r>
              </a:p>
              <a:p>
                <a:pPr marL="1054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aplică un alt semnal treaptă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ro-RO" sz="20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o-RO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T</a:t>
                </a:r>
                <a:r>
                  <a:rPr lang="ro-RO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</a:p>
              <a:p>
                <a:pPr marL="1511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formează un nou salt de amplitudine U:</a:t>
                </a:r>
              </a:p>
              <a:p>
                <a:pPr marL="1511300" lvl="2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10V - 2,2V=7,8V</a:t>
                </a:r>
              </a:p>
              <a:p>
                <a:pPr marL="1511300" lvl="2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Ş.a.m.d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131" y="4117079"/>
                <a:ext cx="6096000" cy="2442400"/>
              </a:xfrm>
              <a:prstGeom prst="rect">
                <a:avLst/>
              </a:prstGeom>
              <a:blipFill rotWithShape="1">
                <a:blip r:embed="rId7"/>
                <a:stretch>
                  <a:fillRect r="-100" b="-124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43" y="841001"/>
            <a:ext cx="4758386" cy="531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 flipH="1" flipV="1">
            <a:off x="4003964" y="1815353"/>
            <a:ext cx="7022624" cy="2743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2" y="644737"/>
            <a:ext cx="4758386" cy="5294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" name="Straight Arrow Connector 26"/>
          <p:cNvCxnSpPr/>
          <p:nvPr/>
        </p:nvCxnSpPr>
        <p:spPr>
          <a:xfrm flipH="1" flipV="1">
            <a:off x="4003964" y="1815353"/>
            <a:ext cx="7493271" cy="36172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4003964" y="4117079"/>
            <a:ext cx="6027542" cy="8852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90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30152" y="1274295"/>
                <a:ext cx="6261848" cy="5220634"/>
              </a:xfrm>
            </p:spPr>
            <p:txBody>
              <a:bodyPr anchor="t"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ro-RO" sz="24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Concluzie:</a:t>
                </a:r>
              </a:p>
              <a:p>
                <a:pPr>
                  <a:lnSpc>
                    <a:spcPct val="150000"/>
                  </a:lnSpc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Răspunsul inițial este: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amplitudine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U;</a:t>
                </a:r>
                <a:endParaRPr lang="ro-RO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scade exponenţial şi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atinge o valoare ce tinde 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spre 0: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ro-RO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Urmează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 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salt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s-E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amplitudine</a:t>
                </a:r>
                <a:r>
                  <a:rPr lang="es-E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-U;</a:t>
                </a:r>
                <a:endParaRPr lang="ro-RO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tinde 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să crească 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dinnou exponential spre 0</a:t>
                </a:r>
                <a:r>
                  <a:rPr lang="pt-BR" dirty="0"/>
                  <a:t>.</a:t>
                </a:r>
                <a:endParaRPr lang="ro-RO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9FB468-52C5-444B-9075-4C935E92D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30152" y="1274295"/>
                <a:ext cx="6261848" cy="5220634"/>
              </a:xfrm>
              <a:blipFill>
                <a:blip r:embed="rId2"/>
                <a:stretch>
                  <a:fillRect l="-1266" r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21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D31C3-3324-4149-A372-AD73B023DE3B}"/>
              </a:ext>
            </a:extLst>
          </p:cNvPr>
          <p:cNvSpPr txBox="1"/>
          <p:nvPr/>
        </p:nvSpPr>
        <p:spPr>
          <a:xfrm>
            <a:off x="279783" y="6057404"/>
            <a:ext cx="4951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ro-RO" sz="1400" dirty="0"/>
              <a:t>5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 sus la </a:t>
            </a:r>
            <a:r>
              <a:rPr lang="es-ES" sz="1400" dirty="0" err="1"/>
              <a:t>semnal</a:t>
            </a:r>
            <a:r>
              <a:rPr lang="es-ES" sz="1400" dirty="0"/>
              <a:t> </a:t>
            </a:r>
            <a:r>
              <a:rPr lang="es-ES" sz="1400" dirty="0" err="1"/>
              <a:t>impuls</a:t>
            </a:r>
            <a:endParaRPr lang="ro-RO" sz="1400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46" y="779725"/>
            <a:ext cx="4758386" cy="5294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88963" y="0"/>
            <a:ext cx="10515600" cy="1325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753035" y="1963271"/>
            <a:ext cx="8942294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312894" y="2420471"/>
            <a:ext cx="4988859" cy="19767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2312894" y="3408829"/>
            <a:ext cx="8027894" cy="16203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3966882" y="2877671"/>
            <a:ext cx="3617259" cy="3079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99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E7B7BB9-8ABC-4954-96F1-D9ECA355E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754" y="894241"/>
                <a:ext cx="10697308" cy="4327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Analiza în funcție de constanta de timp RC față de durata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E7B7BB9-8ABC-4954-96F1-D9ECA355E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754" y="894241"/>
                <a:ext cx="10697308" cy="4327705"/>
              </a:xfrm>
              <a:blipFill rotWithShape="1">
                <a:blip r:embed="rId2"/>
                <a:stretch>
                  <a:fillRect l="-6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E1DB5-240E-4100-BA4F-494ECC67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E8001-5D5E-4343-B067-6FDE8FB1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22</a:t>
            </a:fld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2F6F8B-EB8F-47D7-AE2B-01DAC8F88CBE}"/>
                  </a:ext>
                </a:extLst>
              </p:cNvPr>
              <p:cNvSpPr txBox="1"/>
              <p:nvPr/>
            </p:nvSpPr>
            <p:spPr>
              <a:xfrm>
                <a:off x="302553" y="5400427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C2F6F8B-EB8F-47D7-AE2B-01DAC8F88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53" y="5400427"/>
                <a:ext cx="3207434" cy="43088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A3B2E9-80C7-4174-82C7-05B0ED7CE54C}"/>
                  </a:ext>
                </a:extLst>
              </p:cNvPr>
              <p:cNvSpPr txBox="1"/>
              <p:nvPr/>
            </p:nvSpPr>
            <p:spPr>
              <a:xfrm>
                <a:off x="4583137" y="5400426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9A3B2E9-80C7-4174-82C7-05B0ED7CE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137" y="5400426"/>
                <a:ext cx="3207434" cy="430887"/>
              </a:xfrm>
              <a:prstGeom prst="rect">
                <a:avLst/>
              </a:prstGeom>
              <a:blipFill rotWithShape="1"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3F9CB8-ADD4-44C6-9126-D48BCE8F3801}"/>
                  </a:ext>
                </a:extLst>
              </p:cNvPr>
              <p:cNvSpPr txBox="1"/>
              <p:nvPr/>
            </p:nvSpPr>
            <p:spPr>
              <a:xfrm>
                <a:off x="8586784" y="5400425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83F9CB8-ADD4-44C6-9126-D48BCE8F3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784" y="5400425"/>
                <a:ext cx="3207434" cy="43088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C10D35F-74CE-44C9-876E-58529A46BF5D}"/>
              </a:ext>
            </a:extLst>
          </p:cNvPr>
          <p:cNvSpPr txBox="1"/>
          <p:nvPr/>
        </p:nvSpPr>
        <p:spPr>
          <a:xfrm>
            <a:off x="3165231" y="6185098"/>
            <a:ext cx="586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ro-RO" sz="1400" dirty="0"/>
              <a:t>6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trece-sus </a:t>
            </a:r>
            <a:r>
              <a:rPr lang="es-ES" sz="1400" dirty="0" err="1"/>
              <a:t>în</a:t>
            </a:r>
            <a:r>
              <a:rPr lang="es-ES" sz="1400" dirty="0"/>
              <a:t> </a:t>
            </a:r>
            <a:r>
              <a:rPr lang="es-ES" sz="1400" dirty="0" err="1"/>
              <a:t>funcţie</a:t>
            </a:r>
            <a:r>
              <a:rPr lang="es-ES" sz="1400" dirty="0"/>
              <a:t> de </a:t>
            </a:r>
            <a:r>
              <a:rPr lang="es-ES" sz="1400" dirty="0" err="1"/>
              <a:t>raportul</a:t>
            </a:r>
            <a:r>
              <a:rPr lang="es-ES" sz="1400" dirty="0"/>
              <a:t> Ti </a:t>
            </a:r>
            <a:r>
              <a:rPr lang="es-ES" sz="1400" dirty="0" err="1"/>
              <a:t>şi</a:t>
            </a:r>
            <a:r>
              <a:rPr lang="es-ES" sz="1400" dirty="0"/>
              <a:t> RC</a:t>
            </a:r>
            <a:endParaRPr lang="ro-RO" sz="1400" dirty="0"/>
          </a:p>
        </p:txBody>
      </p:sp>
      <p:sp>
        <p:nvSpPr>
          <p:cNvPr id="17" name="Rectangle 16"/>
          <p:cNvSpPr/>
          <p:nvPr/>
        </p:nvSpPr>
        <p:spPr>
          <a:xfrm>
            <a:off x="218713" y="286642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047" y="2042804"/>
            <a:ext cx="3162471" cy="1829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570" y="2157517"/>
            <a:ext cx="3669801" cy="2118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29" y="2157517"/>
            <a:ext cx="3246555" cy="245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199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7B7BB9-8ABC-4954-96F1-D9ECA355E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13" y="759402"/>
            <a:ext cx="10697308" cy="4327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Observații:</a:t>
            </a:r>
          </a:p>
          <a:p>
            <a:pPr marL="0" indent="0">
              <a:lnSpc>
                <a:spcPct val="150000"/>
              </a:lnSpc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E1DB5-240E-4100-BA4F-494ECC67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E8001-5D5E-4343-B067-6FDE8FB1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23</a:t>
            </a:fld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2F6F8B-EB8F-47D7-AE2B-01DAC8F88CBE}"/>
                  </a:ext>
                </a:extLst>
              </p:cNvPr>
              <p:cNvSpPr txBox="1"/>
              <p:nvPr/>
            </p:nvSpPr>
            <p:spPr>
              <a:xfrm>
                <a:off x="218713" y="1317521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C2F6F8B-EB8F-47D7-AE2B-01DAC8F88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13" y="1317521"/>
                <a:ext cx="3207434" cy="43088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A3B2E9-80C7-4174-82C7-05B0ED7CE54C}"/>
                  </a:ext>
                </a:extLst>
              </p:cNvPr>
              <p:cNvSpPr txBox="1"/>
              <p:nvPr/>
            </p:nvSpPr>
            <p:spPr>
              <a:xfrm>
                <a:off x="3951125" y="1325675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9A3B2E9-80C7-4174-82C7-05B0ED7CE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125" y="1325675"/>
                <a:ext cx="3207434" cy="430887"/>
              </a:xfrm>
              <a:prstGeom prst="rect">
                <a:avLst/>
              </a:prstGeom>
              <a:blipFill rotWithShape="1"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3F9CB8-ADD4-44C6-9126-D48BCE8F3801}"/>
                  </a:ext>
                </a:extLst>
              </p:cNvPr>
              <p:cNvSpPr txBox="1"/>
              <p:nvPr/>
            </p:nvSpPr>
            <p:spPr>
              <a:xfrm>
                <a:off x="8022007" y="1254315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83F9CB8-ADD4-44C6-9126-D48BCE8F3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007" y="1254315"/>
                <a:ext cx="3207434" cy="430887"/>
              </a:xfrm>
              <a:prstGeom prst="rect">
                <a:avLst/>
              </a:prstGeom>
              <a:blipFill rotWithShape="1">
                <a:blip r:embed="rId4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C10D35F-74CE-44C9-876E-58529A46BF5D}"/>
              </a:ext>
            </a:extLst>
          </p:cNvPr>
          <p:cNvSpPr txBox="1"/>
          <p:nvPr/>
        </p:nvSpPr>
        <p:spPr>
          <a:xfrm>
            <a:off x="3086023" y="4130628"/>
            <a:ext cx="586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en-US" sz="1400" dirty="0"/>
              <a:t>10 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trece-sus </a:t>
            </a:r>
            <a:r>
              <a:rPr lang="es-ES" sz="1400" dirty="0" err="1"/>
              <a:t>în</a:t>
            </a:r>
            <a:r>
              <a:rPr lang="es-ES" sz="1400" dirty="0"/>
              <a:t> </a:t>
            </a:r>
            <a:r>
              <a:rPr lang="es-ES" sz="1400" dirty="0" err="1"/>
              <a:t>funcţie</a:t>
            </a:r>
            <a:r>
              <a:rPr lang="es-ES" sz="1400" dirty="0"/>
              <a:t> de </a:t>
            </a:r>
            <a:r>
              <a:rPr lang="es-ES" sz="1400" dirty="0" err="1"/>
              <a:t>raportul</a:t>
            </a:r>
            <a:r>
              <a:rPr lang="es-ES" sz="1400" dirty="0"/>
              <a:t> Ti </a:t>
            </a:r>
            <a:r>
              <a:rPr lang="es-ES" sz="1400" dirty="0" err="1"/>
              <a:t>şi</a:t>
            </a:r>
            <a:r>
              <a:rPr lang="es-ES" sz="1400" dirty="0"/>
              <a:t> RC</a:t>
            </a:r>
            <a:endParaRPr lang="ro-RO" sz="1400" dirty="0"/>
          </a:p>
        </p:txBody>
      </p:sp>
      <p:sp>
        <p:nvSpPr>
          <p:cNvPr id="17" name="Rectangle 16"/>
          <p:cNvSpPr/>
          <p:nvPr/>
        </p:nvSpPr>
        <p:spPr>
          <a:xfrm>
            <a:off x="218713" y="286642"/>
            <a:ext cx="8728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29" y="1677921"/>
            <a:ext cx="3246555" cy="245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78147" y="4566954"/>
                <a:ext cx="11603182" cy="2169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Răspunsul circuitului RC trece-sus: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depinde foarte mult de raportul dintre durata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și constanta de timp RC;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Indiferent ce valoare are constanta de timp RC a circuitului: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aria de deasupra abscisei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este întotdeauna egală cu aria de sub abscisă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47" y="4566954"/>
                <a:ext cx="11603182" cy="2169825"/>
              </a:xfrm>
              <a:prstGeom prst="rect">
                <a:avLst/>
              </a:prstGeom>
              <a:blipFill rotWithShape="1">
                <a:blip r:embed="rId6"/>
                <a:stretch>
                  <a:fillRect l="-52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 flipV="1">
            <a:off x="1822430" y="2785545"/>
            <a:ext cx="2485759" cy="36018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2918012" y="3388659"/>
            <a:ext cx="6883243" cy="299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569" y="1748408"/>
            <a:ext cx="3669801" cy="2118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7">
            <a:extLst>
              <a:ext uri="{FF2B5EF4-FFF2-40B4-BE49-F238E27FC236}">
                <a16:creationId xmlns:a16="http://schemas.microsoft.com/office/drawing/2014/main" id="{3A9498CD-A2DA-2D91-6C2D-E004C3E4E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749" y="1747187"/>
            <a:ext cx="3162471" cy="1829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925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60945-632F-45B4-931A-B2E20A19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8713"/>
            <a:ext cx="11573436" cy="1849868"/>
          </a:xfrm>
        </p:spPr>
        <p:txBody>
          <a:bodyPr anchor="t"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Semnalele de frecvență înaltă → puțin distorsionate: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semnalul de la ieșire are forma aproximativă a semnalului de la intrare;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Semnalele de frecvență joasă → puternic distorsionate la trecerea prin astfel de circuite.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5D49C-4A10-4CF5-8486-9119A11B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B7FE-F06E-4366-A067-E9E7D0FB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24</a:t>
            </a:fld>
            <a:endParaRPr lang="ro-RO"/>
          </a:p>
        </p:txBody>
      </p:sp>
      <p:sp>
        <p:nvSpPr>
          <p:cNvPr id="6" name="Rectangle 5"/>
          <p:cNvSpPr/>
          <p:nvPr/>
        </p:nvSpPr>
        <p:spPr>
          <a:xfrm>
            <a:off x="357223" y="1320530"/>
            <a:ext cx="25338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223" y="3598581"/>
            <a:ext cx="1170478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situația extremă pentru semnalele de frecvență foarte joasă (Hz)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componenta continua nu este transmisă la ieșire 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permite ca RC trece sus → folosite pentru separarea unor circuite în curent continuu.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RC trece sus → importanță deosebită în sistemele numerice.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circuite de cuplare/legătură între diferite circuite: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Cuplare se face → ținând sub control amplitudinea semnalelor (sunt și Atenuatoare).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1D7D00-AD13-4FB2-807C-B3114BAFB66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04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RC trece sus </a:t>
            </a:r>
          </a:p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Analiză comportament la aplicarea diferitelor semnale numerice</a:t>
            </a:r>
          </a:p>
        </p:txBody>
      </p:sp>
    </p:spTree>
    <p:extLst>
      <p:ext uri="{BB962C8B-B14F-4D97-AF65-F5344CB8AC3E}">
        <p14:creationId xmlns:p14="http://schemas.microsoft.com/office/powerpoint/2010/main" val="76733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5D49C-4A10-4CF5-8486-9119A11B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B7FE-F06E-4366-A067-E9E7D0FB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25</a:t>
            </a:fld>
            <a:endParaRPr lang="ro-RO"/>
          </a:p>
        </p:txBody>
      </p:sp>
      <p:sp>
        <p:nvSpPr>
          <p:cNvPr id="6" name="Rectangle 5"/>
          <p:cNvSpPr/>
          <p:nvPr/>
        </p:nvSpPr>
        <p:spPr>
          <a:xfrm>
            <a:off x="357221" y="1119309"/>
            <a:ext cx="25338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962" y="1608234"/>
            <a:ext cx="11704789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un cablaj imprimat → se găsesc un număr foarte mare de circuite logice: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Caracteristică → existența unui număr mare de trasee paralele / conexiuni.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Pericolul transmiterii unor semnale părăsite de pe un traseu pe celălalt;  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Posibilitatea transmiterii unor semnale nedorite de pe traseele vecine;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 influența negativ generarea incorectă - semnale logice parazite.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Nefuncționarea corectă a sistemului numeric.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Studiul circuitului RC trece sus → implică dezvoltarea unor  măsuri tehnologice pentru: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Generarea unor trasee de interconectare a circuitelor integrate numerice: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avea cât mai puține efecte negative.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1D7D00-AD13-4FB2-807C-B3114BAFB668}"/>
              </a:ext>
            </a:extLst>
          </p:cNvPr>
          <p:cNvSpPr txBox="1">
            <a:spLocks/>
          </p:cNvSpPr>
          <p:nvPr/>
        </p:nvSpPr>
        <p:spPr>
          <a:xfrm>
            <a:off x="763556" y="314540"/>
            <a:ext cx="10515600" cy="804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 RC trece sus </a:t>
            </a:r>
          </a:p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Analiză comportament la aplicarea diferitelor semnale numerice</a:t>
            </a:r>
          </a:p>
        </p:txBody>
      </p:sp>
    </p:spTree>
    <p:extLst>
      <p:ext uri="{BB962C8B-B14F-4D97-AF65-F5344CB8AC3E}">
        <p14:creationId xmlns:p14="http://schemas.microsoft.com/office/powerpoint/2010/main" val="96193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E14C3-4B01-44B8-B8B1-FAACBA0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Electronica Digitala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0BBAE-104F-40E5-9D00-1CDD44A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26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32A45-2B10-4124-8755-246B0F606C98}"/>
              </a:ext>
            </a:extLst>
          </p:cNvPr>
          <p:cNvSpPr/>
          <p:nvPr/>
        </p:nvSpPr>
        <p:spPr>
          <a:xfrm>
            <a:off x="379247" y="1642693"/>
            <a:ext cx="11433506" cy="23799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bliqueBottomLef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o-RO" sz="5400" b="1" cap="none" spc="0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Vă mulțumesc pentru atenție!</a:t>
            </a:r>
            <a:endParaRPr lang="en-US" sz="5400" b="1" cap="none" spc="0" dirty="0">
              <a:ln/>
              <a:solidFill>
                <a:schemeClr val="accent3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9E20A-FF53-4798-B519-15368B3D9B29}"/>
              </a:ext>
            </a:extLst>
          </p:cNvPr>
          <p:cNvSpPr/>
          <p:nvPr/>
        </p:nvSpPr>
        <p:spPr>
          <a:xfrm>
            <a:off x="354303" y="6400412"/>
            <a:ext cx="12472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200" dirty="0"/>
              <a:t>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32522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10865</TotalTime>
  <Words>2095</Words>
  <Application>Microsoft Office PowerPoint</Application>
  <PresentationFormat>Widescreen</PresentationFormat>
  <Paragraphs>302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Tw Cen MT</vt:lpstr>
      <vt:lpstr>Wingdings</vt:lpstr>
      <vt:lpstr>Circuit</vt:lpstr>
      <vt:lpstr>Office Theme</vt:lpstr>
      <vt:lpstr>Electronică Digitală</vt:lpstr>
      <vt:lpstr>PowerPoint Presentation</vt:lpstr>
      <vt:lpstr>PowerPoint Presentation</vt:lpstr>
      <vt:lpstr>PowerPoint Presentation</vt:lpstr>
      <vt:lpstr>PowerPoint Presentation</vt:lpstr>
      <vt:lpstr>Comportamentul circuitelor RC la aplicarea diferitelor semnale numerice</vt:lpstr>
      <vt:lpstr>Comportamentul circuitelor RC la aplicarea diferitelor semnale numerice</vt:lpstr>
      <vt:lpstr>Comportamentul circuitelor RC la aplicarea diferitelor semnale numerice</vt:lpstr>
      <vt:lpstr>Comportamentul circuitelor RC la aplicarea diferitelor semnale numerice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Răspunsul circuitului RC trece sus la semnal impuls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Digitale</dc:title>
  <dc:creator>Lucian Gaina</dc:creator>
  <cp:lastModifiedBy>Daniela Stanescu</cp:lastModifiedBy>
  <cp:revision>575</cp:revision>
  <dcterms:created xsi:type="dcterms:W3CDTF">2020-08-05T12:22:10Z</dcterms:created>
  <dcterms:modified xsi:type="dcterms:W3CDTF">2025-10-07T12:23:22Z</dcterms:modified>
</cp:coreProperties>
</file>