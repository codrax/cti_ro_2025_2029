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6" r:id="rId1"/>
    <p:sldMasterId id="2147483705" r:id="rId2"/>
    <p:sldMasterId id="2147483753" r:id="rId3"/>
  </p:sldMasterIdLst>
  <p:notesMasterIdLst>
    <p:notesMasterId r:id="rId44"/>
  </p:notesMasterIdLst>
  <p:sldIdLst>
    <p:sldId id="256" r:id="rId4"/>
    <p:sldId id="353" r:id="rId5"/>
    <p:sldId id="359" r:id="rId6"/>
    <p:sldId id="361" r:id="rId7"/>
    <p:sldId id="363" r:id="rId8"/>
    <p:sldId id="370" r:id="rId9"/>
    <p:sldId id="430" r:id="rId10"/>
    <p:sldId id="391" r:id="rId11"/>
    <p:sldId id="393" r:id="rId12"/>
    <p:sldId id="399" r:id="rId13"/>
    <p:sldId id="400" r:id="rId14"/>
    <p:sldId id="402" r:id="rId15"/>
    <p:sldId id="403" r:id="rId16"/>
    <p:sldId id="432" r:id="rId17"/>
    <p:sldId id="404" r:id="rId18"/>
    <p:sldId id="405" r:id="rId19"/>
    <p:sldId id="406" r:id="rId20"/>
    <p:sldId id="407" r:id="rId21"/>
    <p:sldId id="411" r:id="rId22"/>
    <p:sldId id="408" r:id="rId23"/>
    <p:sldId id="409" r:id="rId24"/>
    <p:sldId id="410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428" r:id="rId42"/>
    <p:sldId id="429" r:id="rId43"/>
  </p:sldIdLst>
  <p:sldSz cx="12192000" cy="6858000"/>
  <p:notesSz cx="7559675" cy="10691813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710" autoAdjust="0"/>
  </p:normalViewPr>
  <p:slideViewPr>
    <p:cSldViewPr>
      <p:cViewPr varScale="1">
        <p:scale>
          <a:sx n="79" d="100"/>
          <a:sy n="79" d="100"/>
        </p:scale>
        <p:origin x="25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C0DAC-9DEA-4F82-B351-A088FAF4EFBC}" type="datetimeFigureOut">
              <a:rPr lang="ro-RO" smtClean="0"/>
              <a:t>13.10.2026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BE0FD-171C-4DDF-8710-E941C03990D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049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2391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9166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8214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76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3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7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7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5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6" y="5410205"/>
            <a:ext cx="5124887" cy="365125"/>
          </a:xfrm>
        </p:spPr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4" y="5410203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455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57103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30"/>
            <a:ext cx="9906000" cy="2852737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8425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415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30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22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3" y="3073401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9" y="2249485"/>
            <a:ext cx="464660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73401"/>
            <a:ext cx="487521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440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22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4570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7" y="609601"/>
            <a:ext cx="3856037" cy="163988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2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7" y="2249486"/>
            <a:ext cx="3856037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19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5934508" cy="163988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5"/>
            <a:ext cx="3666691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2249486"/>
            <a:ext cx="5934511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782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4304668"/>
            <a:ext cx="9912355" cy="81935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2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146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4419603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81980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2"/>
            <a:ext cx="9302752" cy="2748429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4309919"/>
            <a:ext cx="9906003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1" y="2764972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12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34045"/>
            <a:ext cx="9906001" cy="2511835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6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1182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5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21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9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5" y="3363435"/>
            <a:ext cx="3195831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3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3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7496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62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5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8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5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3" y="4980858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2072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7479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1" y="609603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1" y="609603"/>
            <a:ext cx="774859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33074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808756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37605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2633333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5447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D89FB-8F56-44D3-A4F4-D1E787AC13C9}"/>
              </a:ext>
            </a:extLst>
          </p:cNvPr>
          <p:cNvSpPr txBox="1"/>
          <p:nvPr userDrawn="1"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404126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9839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8518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9154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4654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9269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43061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9709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5386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2955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798537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34817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0523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26303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06101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62299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0705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98303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19138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99357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06145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54326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0409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2804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101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3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5" y="618518"/>
            <a:ext cx="9905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5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9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4" y="5883278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1" y="3"/>
            <a:ext cx="1378631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12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1" y="3"/>
            <a:ext cx="1378631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158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7" Type="http://schemas.openxmlformats.org/officeDocument/2006/relationships/image" Target="../media/image39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6.png"/><Relationship Id="rId5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5.png"/><Relationship Id="rId11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7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2.xml"/><Relationship Id="rId10" Type="http://schemas.openxmlformats.org/officeDocument/2006/relationships/image" Target="../media/image33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8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0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electronică Digitală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 anchor="ctr">
            <a:normAutofit/>
          </a:bodyPr>
          <a:lstStyle/>
          <a:p>
            <a:pPr algn="ctr"/>
            <a:r>
              <a:rPr lang="ro-RO" dirty="0">
                <a:solidFill>
                  <a:schemeClr val="bg2"/>
                </a:solidFill>
              </a:rPr>
              <a:t>Curs </a:t>
            </a:r>
            <a:r>
              <a:rPr lang="en-US" dirty="0">
                <a:solidFill>
                  <a:schemeClr val="bg2"/>
                </a:solidFill>
              </a:rPr>
              <a:t>2</a:t>
            </a:r>
            <a:endParaRPr lang="ro-RO" dirty="0">
              <a:solidFill>
                <a:schemeClr val="bg2"/>
              </a:solidFill>
            </a:endParaRPr>
          </a:p>
          <a:p>
            <a:pPr algn="ctr"/>
            <a:r>
              <a:rPr lang="ro-RO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28329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867397" y="1771070"/>
            <a:ext cx="69115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e caracterizează prin trei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parametrii principali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lang="vi-V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375920" y="2595714"/>
            <a:ext cx="5499128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b="1" dirty="0">
                <a:solidFill>
                  <a:srgbClr val="00B050"/>
                </a:solidFill>
                <a:latin typeface="Times New Roman"/>
                <a:ea typeface="DejaVu Sans"/>
              </a:rPr>
              <a:t>U 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-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amplitudinea impulsului</a:t>
            </a:r>
            <a:r>
              <a:rPr lang="ro-RO" sz="2400" dirty="0">
                <a:solidFill>
                  <a:srgbClr val="00B050"/>
                </a:solidFill>
                <a:latin typeface="Times New Roman"/>
                <a:ea typeface="DejaVu Sans"/>
              </a:rPr>
              <a:t>: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 (V)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</a:t>
            </a:r>
            <a:endParaRPr lang="ro-RO" sz="2400" dirty="0">
              <a:solidFill>
                <a:srgbClr val="00B050"/>
              </a:solidFill>
              <a:latin typeface="Times New Roman"/>
              <a:ea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75920" y="3431098"/>
            <a:ext cx="5697424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/>
              </a:rPr>
              <a:t> </a:t>
            </a:r>
            <a:r>
              <a:rPr lang="vi-VN" sz="2400" b="1" dirty="0">
                <a:solidFill>
                  <a:srgbClr val="00B050"/>
                </a:solidFill>
                <a:latin typeface="Times New Roman"/>
                <a:ea typeface="DejaVu Sans"/>
              </a:rPr>
              <a:t>T</a:t>
            </a:r>
            <a:r>
              <a:rPr lang="vi-VN" sz="2400" b="1" baseline="-25000" dirty="0">
                <a:solidFill>
                  <a:srgbClr val="00B050"/>
                </a:solidFill>
                <a:latin typeface="Times New Roman"/>
                <a:ea typeface="DejaVu Sans"/>
              </a:rPr>
              <a:t>i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 -  durata impulsului </a:t>
            </a:r>
            <a:r>
              <a:rPr lang="ro-RO" sz="2400" dirty="0">
                <a:solidFill>
                  <a:srgbClr val="00B050"/>
                </a:solidFill>
                <a:latin typeface="Times New Roman"/>
                <a:ea typeface="DejaVu Sans"/>
              </a:rPr>
              <a:t>: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(s</a:t>
            </a:r>
            <a:r>
              <a:rPr lang="en-US" sz="2400" dirty="0">
                <a:solidFill>
                  <a:srgbClr val="00B050"/>
                </a:solidFill>
                <a:latin typeface="Times New Roman"/>
                <a:ea typeface="DejaVu Sans"/>
              </a:rPr>
              <a:t>, </a:t>
            </a:r>
            <a:r>
              <a:rPr lang="en-US" sz="2400" dirty="0" err="1">
                <a:solidFill>
                  <a:srgbClr val="00B050"/>
                </a:solidFill>
                <a:latin typeface="Times New Roman"/>
                <a:ea typeface="DejaVu Sans"/>
              </a:rPr>
              <a:t>ms</a:t>
            </a:r>
            <a:r>
              <a:rPr lang="en-US" sz="2400" dirty="0">
                <a:solidFill>
                  <a:srgbClr val="00B050"/>
                </a:solidFill>
                <a:latin typeface="Times New Roman"/>
                <a:ea typeface="DejaVu Sans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µs, ns</a:t>
            </a:r>
            <a:r>
              <a:rPr lang="vi-VN" sz="2400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) </a:t>
            </a:r>
            <a:endParaRPr lang="vi-V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29766" y="4266482"/>
                <a:ext cx="6693583" cy="1916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lvl="2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>
                    <a:solidFill>
                      <a:srgbClr val="00B050"/>
                    </a:solidFill>
                    <a:latin typeface="Times New Roman"/>
                  </a:rPr>
                  <a:t> 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  - </a:t>
                </a:r>
                <a:r>
                  <a:rPr lang="vi-VN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durata de repetiţie a impulsului</a:t>
                </a:r>
                <a:r>
                  <a:rPr lang="ro-RO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: </a:t>
                </a:r>
                <a:r>
                  <a:rPr lang="vi-VN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(s</a:t>
                </a:r>
                <a:r>
                  <a:rPr lang="ro-RO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)</a:t>
                </a:r>
                <a:endParaRPr lang="en-US" sz="2400" dirty="0">
                  <a:solidFill>
                    <a:srgbClr val="00B050"/>
                  </a:solidFill>
                  <a:latin typeface="Times New Roman"/>
                  <a:ea typeface="DejaVu Sans"/>
                </a:endParaRPr>
              </a:p>
              <a:p>
                <a:pPr marL="1257300" lvl="4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vi-V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o-RO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ar-AE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vi-V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4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vi-V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= frecvența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(Hz, </a:t>
                </a:r>
                <a:r>
                  <a:rPr lang="en-US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KHz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 Hz, G Hz)</a:t>
                </a:r>
                <a:endParaRPr lang="vi-V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DejaVu Sans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766" y="4266482"/>
                <a:ext cx="6693583" cy="1916294"/>
              </a:xfrm>
              <a:prstGeom prst="rect">
                <a:avLst/>
              </a:prstGeom>
              <a:blipFill>
                <a:blip r:embed="rId2"/>
                <a:stretch>
                  <a:fillRect l="-1184" b="-6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04" y="2128727"/>
            <a:ext cx="4743450" cy="339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570442" y="6054256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Impuls ideal</a:t>
            </a:r>
          </a:p>
        </p:txBody>
      </p:sp>
      <p:sp>
        <p:nvSpPr>
          <p:cNvPr id="5" name="CustomShape 4">
            <a:extLst>
              <a:ext uri="{FF2B5EF4-FFF2-40B4-BE49-F238E27FC236}">
                <a16:creationId xmlns:a16="http://schemas.microsoft.com/office/drawing/2014/main" id="{C079DD95-9079-59C3-B7EC-7D87C885872C}"/>
              </a:ext>
            </a:extLst>
          </p:cNvPr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B1D01-1147-0EDD-A82B-9B8C2F4C5539}"/>
              </a:ext>
            </a:extLst>
          </p:cNvPr>
          <p:cNvSpPr txBox="1"/>
          <p:nvPr/>
        </p:nvSpPr>
        <p:spPr>
          <a:xfrm>
            <a:off x="135135" y="1027753"/>
            <a:ext cx="4179394" cy="43088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IDEAL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9545F-285E-6C3C-489B-17A42A24D428}"/>
              </a:ext>
            </a:extLst>
          </p:cNvPr>
          <p:cNvSpPr txBox="1"/>
          <p:nvPr/>
        </p:nvSpPr>
        <p:spPr>
          <a:xfrm>
            <a:off x="5441096" y="1050509"/>
            <a:ext cx="1612156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ight Arrow 2">
            <a:extLst>
              <a:ext uri="{FF2B5EF4-FFF2-40B4-BE49-F238E27FC236}">
                <a16:creationId xmlns:a16="http://schemas.microsoft.com/office/drawing/2014/main" id="{61636F83-EEBB-51BB-E47B-0D019800A02A}"/>
              </a:ext>
            </a:extLst>
          </p:cNvPr>
          <p:cNvSpPr/>
          <p:nvPr/>
        </p:nvSpPr>
        <p:spPr>
          <a:xfrm>
            <a:off x="4579365" y="1247319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CB32A6-C727-B84B-BCB4-82816501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60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4841032" y="1685457"/>
            <a:ext cx="3312368" cy="428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tensiune: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63352" y="1102330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3676" y="1059980"/>
            <a:ext cx="16121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4"/>
          <p:cNvSpPr/>
          <p:nvPr/>
        </p:nvSpPr>
        <p:spPr>
          <a:xfrm>
            <a:off x="911424" y="5731059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p:sp>
        <p:nvSpPr>
          <p:cNvPr id="14" name="CustomShape 5"/>
          <p:cNvSpPr/>
          <p:nvPr/>
        </p:nvSpPr>
        <p:spPr>
          <a:xfrm>
            <a:off x="6456295" y="2120597"/>
            <a:ext cx="4920436" cy="2639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nivel de tensiune inferioară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nivel de tensiune superioară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tensiunea de prag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Amplitudine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83BDA316-581F-542D-4A1F-CD71A9EA7622}"/>
              </a:ext>
            </a:extLst>
          </p:cNvPr>
          <p:cNvSpPr/>
          <p:nvPr/>
        </p:nvSpPr>
        <p:spPr>
          <a:xfrm>
            <a:off x="4901512" y="4425644"/>
            <a:ext cx="3312369" cy="637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Parametrii  timp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56BB3B-9FEE-6CA1-CED9-F4CF9FD6B066}"/>
                  </a:ext>
                </a:extLst>
              </p:cNvPr>
              <p:cNvSpPr txBox="1"/>
              <p:nvPr/>
            </p:nvSpPr>
            <p:spPr>
              <a:xfrm>
                <a:off x="6497216" y="4900118"/>
                <a:ext cx="5135421" cy="1917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</a:t>
                </a:r>
                <a:r>
                  <a:rPr lang="vi-VN" sz="2400" b="1" baseline="-250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i 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 -</a:t>
                </a:r>
                <a:r>
                  <a:rPr lang="vi-VN" sz="2400" dirty="0">
                    <a:latin typeface="Times New Roman"/>
                    <a:ea typeface="DejaVu Sans"/>
                  </a:rPr>
                  <a:t>  durata impulsului </a:t>
                </a:r>
                <a:endParaRPr lang="en-US" sz="2400" dirty="0">
                  <a:latin typeface="Times New Roman"/>
                  <a:ea typeface="DejaVu Sans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  </a:t>
                </a:r>
                <a:r>
                  <a:rPr lang="vi-VN" sz="2400" dirty="0">
                    <a:latin typeface="Times New Roman"/>
                    <a:ea typeface="DejaVu Sans"/>
                  </a:rPr>
                  <a:t>- durata de repetiţie a impulsului</a:t>
                </a:r>
                <a:endParaRPr lang="ro-RO" sz="2400" dirty="0">
                  <a:latin typeface="Times New Roman"/>
                  <a:ea typeface="DejaVu Sans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ro-RO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2400" i="1"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unde F = frecvența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56BB3B-9FEE-6CA1-CED9-F4CF9FD6B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216" y="4900118"/>
                <a:ext cx="5135421" cy="1917513"/>
              </a:xfrm>
              <a:prstGeom prst="rect">
                <a:avLst/>
              </a:prstGeom>
              <a:blipFill>
                <a:blip r:embed="rId3"/>
                <a:stretch>
                  <a:fillRect l="-1663" b="-2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2">
            <a:extLst>
              <a:ext uri="{FF2B5EF4-FFF2-40B4-BE49-F238E27FC236}">
                <a16:creationId xmlns:a16="http://schemas.microsoft.com/office/drawing/2014/main" id="{32985EBD-C2F6-031B-B423-B8F357E31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09" y="2367375"/>
            <a:ext cx="369570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7C5A971C-49B1-C8DD-6E32-5F113D38F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2507257"/>
            <a:ext cx="41338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FE05A364-275E-C9DF-6FAE-A08BFE0BD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20144"/>
              </p:ext>
            </p:extLst>
          </p:nvPr>
        </p:nvGraphicFramePr>
        <p:xfrm>
          <a:off x="327034" y="2088032"/>
          <a:ext cx="3968766" cy="3461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055680" imgH="2926080" progId="Paint.Picture">
                  <p:embed/>
                </p:oleObj>
              </mc:Choice>
              <mc:Fallback>
                <p:oleObj name="Bitmap Image" r:id="rId6" imgW="3055680" imgH="2926080" progId="Paint.Picture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FE05A364-275E-C9DF-6FAE-A08BFE0BD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034" y="2088032"/>
                        <a:ext cx="3968766" cy="3461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CEAF4-7B24-6BC2-1708-D0BC38F4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51139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6156488" y="2571935"/>
            <a:ext cx="5423639" cy="778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Parametrii de timp 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numiţi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generic: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79829" y="1137540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64152" y="1109357"/>
            <a:ext cx="16121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312024" y="1294471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CustomShape 4"/>
          <p:cNvSpPr/>
          <p:nvPr/>
        </p:nvSpPr>
        <p:spPr>
          <a:xfrm>
            <a:off x="1919536" y="6217830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stomShape 5"/>
              <p:cNvSpPr/>
              <p:nvPr/>
            </p:nvSpPr>
            <p:spPr>
              <a:xfrm>
                <a:off x="6600056" y="3488921"/>
                <a:ext cx="4155246" cy="1800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/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Fronturi de impuls</a:t>
                </a: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Ridicător 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𝐫</m:t>
                        </m:r>
                      </m:sub>
                    </m:sSub>
                  </m:oMath>
                </a14:m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Coborâtor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1" i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400" b="1" i="0">
                            <a:latin typeface="Cambria Math"/>
                            <a:cs typeface="Times New Roman" panose="020206030504050203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𝐜</m:t>
                        </m:r>
                      </m:sub>
                    </m:sSub>
                  </m:oMath>
                </a14:m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stom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3488921"/>
                <a:ext cx="4155246" cy="1800200"/>
              </a:xfrm>
              <a:prstGeom prst="rect">
                <a:avLst/>
              </a:prstGeom>
              <a:blipFill>
                <a:blip r:embed="rId2"/>
                <a:stretch>
                  <a:fillRect l="-2056" b="-6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sp>
        <p:nvSpPr>
          <p:cNvPr id="11" name="CustomShape 5">
            <a:extLst>
              <a:ext uri="{FF2B5EF4-FFF2-40B4-BE49-F238E27FC236}">
                <a16:creationId xmlns:a16="http://schemas.microsoft.com/office/drawing/2014/main" id="{4051F606-C786-E612-1B36-B8C834EF4F2D}"/>
              </a:ext>
            </a:extLst>
          </p:cNvPr>
          <p:cNvSpPr/>
          <p:nvPr/>
        </p:nvSpPr>
        <p:spPr>
          <a:xfrm>
            <a:off x="5879976" y="1761447"/>
            <a:ext cx="5976664" cy="778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plus față de Impuls ideal există: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614C515-10A5-0CD6-7B72-8ACA4E9AC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44" y="1808512"/>
            <a:ext cx="39243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E6E983-99CD-9D5E-E6B7-56DBC125DDB0}"/>
              </a:ext>
            </a:extLst>
          </p:cNvPr>
          <p:cNvCxnSpPr/>
          <p:nvPr/>
        </p:nvCxnSpPr>
        <p:spPr>
          <a:xfrm flipH="1">
            <a:off x="2063552" y="4509120"/>
            <a:ext cx="7056784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C56F0-72DB-315B-00B5-DB547E60EE4D}"/>
              </a:ext>
            </a:extLst>
          </p:cNvPr>
          <p:cNvCxnSpPr>
            <a:cxnSpLocks/>
          </p:cNvCxnSpPr>
          <p:nvPr/>
        </p:nvCxnSpPr>
        <p:spPr>
          <a:xfrm flipH="1">
            <a:off x="3143672" y="5013176"/>
            <a:ext cx="6120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7A218E-A270-2729-5153-06780DD2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204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6059996" y="2024881"/>
            <a:ext cx="3651802" cy="447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Fronturi de tranziţie: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0306" y="1140135"/>
            <a:ext cx="4179394" cy="43088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0" y="1151861"/>
            <a:ext cx="1612156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087888" y="1332718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CustomShape 4"/>
          <p:cNvSpPr/>
          <p:nvPr/>
        </p:nvSpPr>
        <p:spPr>
          <a:xfrm>
            <a:off x="1904104" y="5963824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p:sp>
        <p:nvSpPr>
          <p:cNvPr id="14" name="CustomShape 5"/>
          <p:cNvSpPr/>
          <p:nvPr/>
        </p:nvSpPr>
        <p:spPr>
          <a:xfrm>
            <a:off x="5951984" y="3013575"/>
            <a:ext cx="6048671" cy="2359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TLH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tranziția de la nivelul logic inferior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cel superior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THL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tranziția de la nivelul logic superior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cel inferior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2596" y="6356505"/>
            <a:ext cx="4114800" cy="365125"/>
          </a:xfrm>
        </p:spPr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FD5A471-93E0-A279-A793-3F24BFFE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991783"/>
            <a:ext cx="39243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B7C5C3-34ED-A77E-8C79-B72A15EAC640}"/>
              </a:ext>
            </a:extLst>
          </p:cNvPr>
          <p:cNvCxnSpPr>
            <a:cxnSpLocks/>
          </p:cNvCxnSpPr>
          <p:nvPr/>
        </p:nvCxnSpPr>
        <p:spPr>
          <a:xfrm flipH="1">
            <a:off x="2135560" y="3573016"/>
            <a:ext cx="4970784" cy="1706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BB23E5-2EB2-A2FE-C0E1-E587AF04BB26}"/>
              </a:ext>
            </a:extLst>
          </p:cNvPr>
          <p:cNvCxnSpPr/>
          <p:nvPr/>
        </p:nvCxnSpPr>
        <p:spPr>
          <a:xfrm flipH="1">
            <a:off x="3431704" y="4509120"/>
            <a:ext cx="2952328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9CCF7-08C1-249F-4DDB-D346AB33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085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6102966" y="1556792"/>
            <a:ext cx="5249617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Timpii de tranziţie se iau în zona cu trecerea cea mai rapidă</a:t>
            </a:r>
            <a:endParaRPr dirty="0"/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CustomShape 5"/>
          <p:cNvSpPr/>
          <p:nvPr/>
        </p:nvSpPr>
        <p:spPr>
          <a:xfrm>
            <a:off x="6109801" y="3010862"/>
            <a:ext cx="4848989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0,1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­-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0,1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0,9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(V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­-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0,9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3381643" y="5421710"/>
            <a:ext cx="7560840" cy="612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Timpul de tranziţie → cuprins între 0,1·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0,9·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1919538" y="199493"/>
            <a:ext cx="2952329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tranziţie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2" y="1146799"/>
            <a:ext cx="3839443" cy="306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AEFED974-EAEC-C2CC-F43C-60B14C7AA62E}"/>
              </a:ext>
            </a:extLst>
          </p:cNvPr>
          <p:cNvSpPr/>
          <p:nvPr/>
        </p:nvSpPr>
        <p:spPr>
          <a:xfrm>
            <a:off x="479376" y="5283167"/>
            <a:ext cx="2448272" cy="428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Observație:</a:t>
            </a:r>
          </a:p>
          <a:p>
            <a:pPr>
              <a:lnSpc>
                <a:spcPct val="150000"/>
              </a:lnSpc>
            </a:pP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5" name="CustomShape 4">
            <a:extLst>
              <a:ext uri="{FF2B5EF4-FFF2-40B4-BE49-F238E27FC236}">
                <a16:creationId xmlns:a16="http://schemas.microsoft.com/office/drawing/2014/main" id="{9512BB04-C3A4-0522-ECDA-96F879E42E54}"/>
              </a:ext>
            </a:extLst>
          </p:cNvPr>
          <p:cNvSpPr/>
          <p:nvPr/>
        </p:nvSpPr>
        <p:spPr>
          <a:xfrm>
            <a:off x="994939" y="4368806"/>
            <a:ext cx="2952331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ziţie</a:t>
            </a:r>
            <a:endParaRPr sz="2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8F2E0E-C72C-6C02-E3F6-C9F285E48A63}"/>
              </a:ext>
            </a:extLst>
          </p:cNvPr>
          <p:cNvCxnSpPr/>
          <p:nvPr/>
        </p:nvCxnSpPr>
        <p:spPr>
          <a:xfrm flipH="1">
            <a:off x="1631504" y="3429000"/>
            <a:ext cx="4896544" cy="15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23B828-E5B6-10CE-B019-638DD0E3F632}"/>
              </a:ext>
            </a:extLst>
          </p:cNvPr>
          <p:cNvCxnSpPr>
            <a:cxnSpLocks/>
          </p:cNvCxnSpPr>
          <p:nvPr/>
        </p:nvCxnSpPr>
        <p:spPr>
          <a:xfrm flipH="1" flipV="1">
            <a:off x="2471103" y="1916832"/>
            <a:ext cx="4056945" cy="2089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B501-A64C-008A-FC13-9A93700A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16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415883" y="975649"/>
            <a:ext cx="1963643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ţii: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70611" y="2722565"/>
            <a:ext cx="774245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se atribuie valori binare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“0”; “1”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22526" y="849950"/>
            <a:ext cx="8252151" cy="16879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 de la intrarea circuitului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 cu tensiunea de prag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indiferent de forma semnalului (ideal sau real)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8" y="2376931"/>
            <a:ext cx="44862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05" y="2282280"/>
            <a:ext cx="44767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26" y="2395455"/>
            <a:ext cx="441007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1286865" y="6029188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Impuls ideal</a:t>
            </a: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663CC30B-9208-3BA3-A1C9-BBCD5A152DB9}"/>
              </a:ext>
            </a:extLst>
          </p:cNvPr>
          <p:cNvSpPr/>
          <p:nvPr/>
        </p:nvSpPr>
        <p:spPr>
          <a:xfrm>
            <a:off x="5265403" y="4985795"/>
            <a:ext cx="6164507" cy="1368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Orice valoare care este:</a:t>
            </a: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peste zona de prag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→  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“1”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logic</a:t>
            </a:r>
            <a:endParaRPr lang="ro-RO" sz="2400" dirty="0"/>
          </a:p>
          <a:p>
            <a:pPr algn="just">
              <a:lnSpc>
                <a:spcPct val="15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dirty="0"/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94760DDF-328F-6603-B4F6-B39787E42E03}"/>
              </a:ext>
            </a:extLst>
          </p:cNvPr>
          <p:cNvSpPr/>
          <p:nvPr/>
        </p:nvSpPr>
        <p:spPr>
          <a:xfrm>
            <a:off x="4860509" y="3429000"/>
            <a:ext cx="6300706" cy="1296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Orice valoare care este: </a:t>
            </a: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sub zona de prag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→  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“0”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logic</a:t>
            </a:r>
            <a:endParaRPr sz="2400" dirty="0"/>
          </a:p>
          <a:p>
            <a:pPr algn="just">
              <a:lnSpc>
                <a:spcPct val="15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dirty="0"/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15923F7-A88C-B468-1AFC-87DFD419CD03}"/>
              </a:ext>
            </a:extLst>
          </p:cNvPr>
          <p:cNvSpPr/>
          <p:nvPr/>
        </p:nvSpPr>
        <p:spPr>
          <a:xfrm>
            <a:off x="2175360" y="41723"/>
            <a:ext cx="6868872" cy="82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it-IT" sz="2400" b="1" dirty="0">
                <a:solidFill>
                  <a:srgbClr val="002060"/>
                </a:solidFill>
                <a:latin typeface="Times New Roman"/>
                <a:ea typeface="DejaVu Sans"/>
              </a:rPr>
              <a:t>Interpretare logică a circuitelor numerice:</a:t>
            </a:r>
            <a:endParaRPr lang="it-IT" sz="2400" dirty="0">
              <a:solidFill>
                <a:srgbClr val="00206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68EE17-00F7-832B-D58E-6C9603558F9D}"/>
              </a:ext>
            </a:extLst>
          </p:cNvPr>
          <p:cNvCxnSpPr/>
          <p:nvPr/>
        </p:nvCxnSpPr>
        <p:spPr>
          <a:xfrm flipH="1">
            <a:off x="1055440" y="1988840"/>
            <a:ext cx="7292217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25A5E7-02C5-A150-A4BC-F5EF44240E5F}"/>
              </a:ext>
            </a:extLst>
          </p:cNvPr>
          <p:cNvCxnSpPr>
            <a:cxnSpLocks/>
          </p:cNvCxnSpPr>
          <p:nvPr/>
        </p:nvCxnSpPr>
        <p:spPr>
          <a:xfrm flipH="1">
            <a:off x="2755078" y="4594188"/>
            <a:ext cx="6305554" cy="18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083333-3705-2EC4-205B-13DCDFAA3280}"/>
              </a:ext>
            </a:extLst>
          </p:cNvPr>
          <p:cNvCxnSpPr>
            <a:cxnSpLocks/>
          </p:cNvCxnSpPr>
          <p:nvPr/>
        </p:nvCxnSpPr>
        <p:spPr>
          <a:xfrm flipH="1" flipV="1">
            <a:off x="3395736" y="4293096"/>
            <a:ext cx="6433284" cy="1734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E4E5-5205-807E-9642-049F3075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647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93337B-C4DC-4672-A53E-BEB748B8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890"/>
          </a:xfrm>
        </p:spPr>
        <p:txBody>
          <a:bodyPr>
            <a:normAutofit/>
          </a:bodyPr>
          <a:lstStyle/>
          <a:p>
            <a:pPr algn="ctr"/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938582-AD1B-4C5F-A11F-7B0A6B6B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124744"/>
            <a:ext cx="10515600" cy="523161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liniare → circuite electrice care au în componența lor rezistențe, capacități, inductanțe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sufer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modificări în raport cu tensiunea și curentul.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nductanțele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pot fi integrate (ex. sârmele)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rămân pentru studiu doar circuitele ce au în componența lor → rezistențe și capacități.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analizează comportamentul circuitelor RC:</a:t>
            </a:r>
          </a:p>
          <a:p>
            <a:pPr lvl="1" algn="just"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capacitatea → parametru ce își face simțită prezența chiar dacă nu există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 intrinsecă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3CC7A-FC70-4D49-AB2D-42383BFF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118BE-84FC-0AC5-967A-3D33D6CC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907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48" y="879290"/>
            <a:ext cx="10852052" cy="5287108"/>
          </a:xfrm>
        </p:spPr>
        <p:txBody>
          <a:bodyPr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Influența rezistențelor: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obține frecvențe cât mai mari → așa cum se dorește: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alculatorul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dotat cu circuite integrate → timp de răspuns cât mai mic: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rezistența circuitului.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trebuie astfel concepute → încât să aibă rezistența de ieșire → cât mai mică.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Influența capacităților: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micșorarea distanței dintre componente și a dimensiunii acestora: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 mare de integrare =&gt; creșterea frecvenței de lucru.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C0ECE7F-41D0-510E-9D76-528928B5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271400"/>
            <a:ext cx="5977880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AD10E-849D-4316-5ECE-3F60741F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425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D2E3E61-3348-4EFF-902D-497ECF6439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07968" y="1876798"/>
                <a:ext cx="6308188" cy="2331256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o capacitate de ieșire: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un comportament capacitiv.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Capacitatea parazită are forma:</a:t>
                </a:r>
                <a:endParaRPr lang="ro-RO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ro-RO" sz="22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𝑓𝑖𝑟</m:t>
                            </m:r>
                          </m:sub>
                        </m:sSub>
                      </m:e>
                    </m:nary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D2E3E61-3348-4EFF-902D-497ECF643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07968" y="1876798"/>
                <a:ext cx="6308188" cy="2331256"/>
              </a:xfrm>
              <a:blipFill>
                <a:blip r:embed="rId3"/>
                <a:stretch>
                  <a:fillRect l="-1159" b="-5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3962C-36CF-4B65-98B0-D4BDA615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344627"/>
            <a:ext cx="4114800" cy="365125"/>
          </a:xfrm>
        </p:spPr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6E183-4EC6-4337-B8C1-68782952762D}"/>
              </a:ext>
            </a:extLst>
          </p:cNvPr>
          <p:cNvSpPr txBox="1"/>
          <p:nvPr/>
        </p:nvSpPr>
        <p:spPr>
          <a:xfrm>
            <a:off x="499402" y="478606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2</a:t>
            </a:r>
            <a:r>
              <a:rPr lang="it-IT" sz="1400" dirty="0"/>
              <a:t> Conexiune porţi/ Capacităţi parazite</a:t>
            </a:r>
            <a:endParaRPr lang="ro-RO" sz="1400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9693337B-C4DC-4672-A53E-BEB748B8C95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75698" y="5249067"/>
            <a:ext cx="259666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de fir: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7022" y="4939948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 proporțională cu lungimea firului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 proporțională cu → distanța față de masă.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806721" y="5359820"/>
            <a:ext cx="281354" cy="198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13625" y="5557868"/>
            <a:ext cx="281354" cy="200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32653CF9-DF05-F1A9-4B50-59E1F77C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63" y="1837999"/>
            <a:ext cx="5142964" cy="2771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C49A7-B228-9E8E-ABEE-EA306D7C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A2E32-6AAC-217F-470A-1703EC64CFA6}"/>
              </a:ext>
            </a:extLst>
          </p:cNvPr>
          <p:cNvSpPr/>
          <p:nvPr/>
        </p:nvSpPr>
        <p:spPr>
          <a:xfrm>
            <a:off x="480646" y="967027"/>
            <a:ext cx="11054862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consideră 2 circuite conectate între ele printr-un fir (sârmă) sau cablaj imprimat.</a:t>
            </a:r>
          </a:p>
        </p:txBody>
      </p:sp>
    </p:spTree>
    <p:extLst>
      <p:ext uri="{BB962C8B-B14F-4D97-AF65-F5344CB8AC3E}">
        <p14:creationId xmlns:p14="http://schemas.microsoft.com/office/powerpoint/2010/main" val="368877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0438F-EA21-42AA-B989-D263E96B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Electronica digitala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8D82D-AE55-42D8-A8A9-2A7D2C6ACABE}"/>
              </a:ext>
            </a:extLst>
          </p:cNvPr>
          <p:cNvSpPr txBox="1"/>
          <p:nvPr/>
        </p:nvSpPr>
        <p:spPr>
          <a:xfrm>
            <a:off x="662667" y="5860141"/>
            <a:ext cx="529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Fig.</a:t>
            </a:r>
            <a:r>
              <a:rPr lang="en-US" dirty="0"/>
              <a:t>3</a:t>
            </a:r>
            <a:r>
              <a:rPr lang="it-IT" dirty="0"/>
              <a:t> Echivalare poartă </a:t>
            </a:r>
            <a:r>
              <a:rPr lang="ro-RO" dirty="0"/>
              <a:t>logică 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693337B-C4DC-4672-A53E-BEB748B8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890"/>
          </a:xfrm>
        </p:spPr>
        <p:txBody>
          <a:bodyPr>
            <a:normAutofit/>
          </a:bodyPr>
          <a:lstStyle/>
          <a:p>
            <a:pPr algn="ctr"/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855223-3AE6-B44B-40D3-4632ED63FDEF}"/>
              </a:ext>
            </a:extLst>
          </p:cNvPr>
          <p:cNvSpPr/>
          <p:nvPr/>
        </p:nvSpPr>
        <p:spPr>
          <a:xfrm>
            <a:off x="479376" y="1021589"/>
            <a:ext cx="194421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438B2E-56D6-6546-F948-E0D8C3610AFB}"/>
                  </a:ext>
                </a:extLst>
              </p:cNvPr>
              <p:cNvSpPr/>
              <p:nvPr/>
            </p:nvSpPr>
            <p:spPr>
              <a:xfrm>
                <a:off x="7176120" y="1726724"/>
                <a:ext cx="5112568" cy="1047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la ieșire:</a:t>
                </a:r>
              </a:p>
              <a:p>
                <a:pPr marL="800100" lvl="1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rezistență echivalentă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438B2E-56D6-6546-F948-E0D8C3610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726724"/>
                <a:ext cx="5112568" cy="1047210"/>
              </a:xfrm>
              <a:prstGeom prst="rect">
                <a:avLst/>
              </a:prstGeom>
              <a:blipFill>
                <a:blip r:embed="rId2"/>
                <a:stretch>
                  <a:fillRect l="-131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3B95B121-A7B1-862A-86E5-1361559A9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2013706"/>
            <a:ext cx="2505075" cy="1438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A7E876-60D9-3287-ECE5-9E2F1AE6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91" y="1751577"/>
            <a:ext cx="5876925" cy="260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BBD21C-2B5E-F189-F59E-6FF06E8D4C20}"/>
                  </a:ext>
                </a:extLst>
              </p:cNvPr>
              <p:cNvSpPr/>
              <p:nvPr/>
            </p:nvSpPr>
            <p:spPr>
              <a:xfrm>
                <a:off x="7248128" y="2900815"/>
                <a:ext cx="5112568" cy="21080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la ieșire:</a:t>
                </a:r>
              </a:p>
              <a:p>
                <a:pPr marL="800100" lvl="1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Capacitate parazită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Echivalare poartă →circuit RC trece jos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BBD21C-2B5E-F189-F59E-6FF06E8D4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28" y="2900815"/>
                <a:ext cx="5112568" cy="2108078"/>
              </a:xfrm>
              <a:prstGeom prst="rect">
                <a:avLst/>
              </a:prstGeom>
              <a:blipFill>
                <a:blip r:embed="rId5"/>
                <a:stretch>
                  <a:fillRect l="-1311" b="-4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A11703F6-A050-7D1D-3297-B851E03A4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8" y="1958009"/>
            <a:ext cx="6477000" cy="31527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7F535-7C67-B047-7B0F-66544E4C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59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56" y="1119308"/>
            <a:ext cx="11049000" cy="5190011"/>
          </a:xfrm>
        </p:spPr>
        <p:txBody>
          <a:bodyPr/>
          <a:lstStyle/>
          <a:p>
            <a:pPr marL="0" indent="0">
              <a:buNone/>
            </a:pPr>
            <a:endParaRPr lang="ro-RO" sz="600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trece-jos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ce permit trecerea semnalelor de frecvență joasă: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distorsiuni minime și atenuarea puternică a semnalelor de frecvență înaltă.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1865F-064D-448F-83FA-78D558A7739A}"/>
              </a:ext>
            </a:extLst>
          </p:cNvPr>
          <p:cNvSpPr txBox="1"/>
          <p:nvPr/>
        </p:nvSpPr>
        <p:spPr>
          <a:xfrm>
            <a:off x="8151557" y="5907219"/>
            <a:ext cx="3967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4</a:t>
            </a:r>
            <a:r>
              <a:rPr lang="es-ES" sz="1400" dirty="0"/>
              <a:t> </a:t>
            </a:r>
            <a:r>
              <a:rPr lang="ro-RO" sz="1400" dirty="0"/>
              <a:t>Circuitul</a:t>
            </a:r>
            <a:r>
              <a:rPr lang="es-ES" sz="1400" dirty="0"/>
              <a:t> RC trece </a:t>
            </a:r>
            <a:r>
              <a:rPr lang="ro-RO" sz="1400" dirty="0"/>
              <a:t>jos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1D7D00-AD13-4FB2-807C-B3114BAFB668}"/>
              </a:ext>
            </a:extLst>
          </p:cNvPr>
          <p:cNvSpPr txBox="1">
            <a:spLocks/>
          </p:cNvSpPr>
          <p:nvPr/>
        </p:nvSpPr>
        <p:spPr>
          <a:xfrm>
            <a:off x="763556" y="314540"/>
            <a:ext cx="10515600" cy="804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 - jos</a:t>
            </a:r>
          </a:p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Analiză comportament la aplicarea diferitelor semnale numerice</a:t>
            </a: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96" y="3309916"/>
            <a:ext cx="3703992" cy="24376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114662-F51B-BF56-5BAD-B65FE17632E3}"/>
              </a:ext>
            </a:extLst>
          </p:cNvPr>
          <p:cNvSpPr/>
          <p:nvPr/>
        </p:nvSpPr>
        <p:spPr>
          <a:xfrm>
            <a:off x="538988" y="3002727"/>
            <a:ext cx="4265655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 filtru RC trece –jos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430D9-B9F1-2650-93D2-7AE25A0A677D}"/>
                  </a:ext>
                </a:extLst>
              </p:cNvPr>
              <p:cNvSpPr txBox="1"/>
              <p:nvPr/>
            </p:nvSpPr>
            <p:spPr>
              <a:xfrm>
                <a:off x="303160" y="3701737"/>
                <a:ext cx="10329344" cy="2803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lcătuit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din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două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rezistență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legată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condensator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conectat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nodul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comun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ieșire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masă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(GND)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430D9-B9F1-2650-93D2-7AE25A0A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60" y="3701737"/>
                <a:ext cx="10329344" cy="2803140"/>
              </a:xfrm>
              <a:prstGeom prst="rect">
                <a:avLst/>
              </a:prstGeom>
              <a:blipFill>
                <a:blip r:embed="rId3"/>
                <a:stretch>
                  <a:fillRect l="-826" b="-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AA32B6-FA11-981F-E8C6-9CFF4B7A8DC8}"/>
              </a:ext>
            </a:extLst>
          </p:cNvPr>
          <p:cNvCxnSpPr>
            <a:cxnSpLocks/>
          </p:cNvCxnSpPr>
          <p:nvPr/>
        </p:nvCxnSpPr>
        <p:spPr>
          <a:xfrm flipV="1">
            <a:off x="7464152" y="3789040"/>
            <a:ext cx="1146448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42155F-69C8-EA8B-28EC-E4497683AFF1}"/>
              </a:ext>
            </a:extLst>
          </p:cNvPr>
          <p:cNvCxnSpPr/>
          <p:nvPr/>
        </p:nvCxnSpPr>
        <p:spPr>
          <a:xfrm flipV="1">
            <a:off x="3935760" y="4869160"/>
            <a:ext cx="6192688" cy="878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ADE948-D7D9-F585-86E8-E79200075BCA}"/>
              </a:ext>
            </a:extLst>
          </p:cNvPr>
          <p:cNvCxnSpPr/>
          <p:nvPr/>
        </p:nvCxnSpPr>
        <p:spPr>
          <a:xfrm flipV="1">
            <a:off x="8832304" y="5589240"/>
            <a:ext cx="2713552" cy="767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F7CEDD-F67E-119A-96D6-BF77462EF9C0}"/>
              </a:ext>
            </a:extLst>
          </p:cNvPr>
          <p:cNvCxnSpPr/>
          <p:nvPr/>
        </p:nvCxnSpPr>
        <p:spPr>
          <a:xfrm flipV="1">
            <a:off x="8832304" y="3789040"/>
            <a:ext cx="1656184" cy="256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1CB092-1102-76A2-BF68-3A5574FA7EF7}"/>
              </a:ext>
            </a:extLst>
          </p:cNvPr>
          <p:cNvCxnSpPr>
            <a:cxnSpLocks/>
          </p:cNvCxnSpPr>
          <p:nvPr/>
        </p:nvCxnSpPr>
        <p:spPr>
          <a:xfrm flipV="1">
            <a:off x="3359696" y="3789040"/>
            <a:ext cx="6192688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37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01" y="620688"/>
            <a:ext cx="11618397" cy="59766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Principiu de funcționare:</a:t>
            </a:r>
            <a:endParaRPr lang="en-US" sz="2400" b="1" dirty="0"/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frecvențe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joase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condensatorul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încarcă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descarcă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circuitului se regăsește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aproape identic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bornele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frecvențe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înalte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condensatorul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o rezistență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impedanță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scăzută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semnificativă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închide prin circuitul 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circuitului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rămâne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13</a:t>
            </a:fld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5DBCF-E5D2-130C-30CF-388BFD13A3E3}"/>
              </a:ext>
            </a:extLst>
          </p:cNvPr>
          <p:cNvSpPr/>
          <p:nvPr/>
        </p:nvSpPr>
        <p:spPr>
          <a:xfrm>
            <a:off x="3863752" y="144250"/>
            <a:ext cx="36005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trece-jos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6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D732-1084-ABED-9C70-B58EE5A2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C5937-C45D-4F01-F9EA-0D9722E2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01" y="562252"/>
            <a:ext cx="11618397" cy="27947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Importantă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5A76B-37A6-02AD-B691-B2590882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9B1D-F095-AEA6-C2F5-56D98951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317D1-C8CC-4E52-78A4-1269B6FD3CEF}"/>
              </a:ext>
            </a:extLst>
          </p:cNvPr>
          <p:cNvSpPr/>
          <p:nvPr/>
        </p:nvSpPr>
        <p:spPr>
          <a:xfrm>
            <a:off x="3863752" y="144250"/>
            <a:ext cx="36005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trece-jos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D1E8E-4348-0563-6C05-A272F9B178F5}"/>
              </a:ext>
            </a:extLst>
          </p:cNvPr>
          <p:cNvSpPr txBox="1"/>
          <p:nvPr/>
        </p:nvSpPr>
        <p:spPr>
          <a:xfrm>
            <a:off x="699388" y="980728"/>
            <a:ext cx="10793221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Filtrele RC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trece-jos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omniprezente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dorește: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pastrarea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joasă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frecvență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limin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frecvențele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înalte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nedorite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B150A-55B1-F157-4EF6-F9239A67A8A2}"/>
              </a:ext>
            </a:extLst>
          </p:cNvPr>
          <p:cNvSpPr txBox="1"/>
          <p:nvPr/>
        </p:nvSpPr>
        <p:spPr>
          <a:xfrm>
            <a:off x="-96688" y="2564904"/>
            <a:ext cx="6094378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utilizare filtre RC trece-jos: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8F749-5F3C-9C3C-3AB0-79D25576A8B4}"/>
              </a:ext>
            </a:extLst>
          </p:cNvPr>
          <p:cNvSpPr txBox="1"/>
          <p:nvPr/>
        </p:nvSpPr>
        <p:spPr>
          <a:xfrm>
            <a:off x="428578" y="3152052"/>
            <a:ext cx="1190520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udio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/Video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accentuarea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sunetelor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înalte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atenuarea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joase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ircuite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înaltă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frecvență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sursele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alimentare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referință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stabile (ex. reset).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Telecomunicații: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comunicații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(radio,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telefonie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date),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plicații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speciale (ex: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temporizatoare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etc.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56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30664"/>
            <a:ext cx="11383107" cy="79546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527235" y="999152"/>
                <a:ext cx="6260123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cenariu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presupune că ar exista un semnal treaptă  de amplitudine U → aplicat la intrarea unui circuit RC trece jos.</a:t>
                </a:r>
                <a:endParaRPr lang="ro-RO" sz="2200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𝑝𝑒𝑛𝑡𝑟𝑢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𝑝𝑒𝑛𝑡𝑟𝑢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comportament circuit aplicând relaţia:</a:t>
                </a: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=""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527235" y="999152"/>
                <a:ext cx="6260123" cy="4351338"/>
              </a:xfrm>
              <a:blipFill rotWithShape="1">
                <a:blip r:embed="rId2"/>
                <a:stretch>
                  <a:fillRect l="-1168" r="-97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838200" y="6112768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5 </a:t>
            </a:r>
            <a:r>
              <a:rPr lang="it-IT" sz="1400" dirty="0"/>
              <a:t>Comportamentul unui circuit RC trece jos la un semnal treaptă</a:t>
            </a:r>
            <a:endParaRPr lang="ro-RO" sz="1400" dirty="0"/>
          </a:p>
        </p:txBody>
      </p:sp>
      <p:sp>
        <p:nvSpPr>
          <p:cNvPr id="3" name="Rectangle 2"/>
          <p:cNvSpPr/>
          <p:nvPr/>
        </p:nvSpPr>
        <p:spPr>
          <a:xfrm>
            <a:off x="339601" y="938826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367550" y="4945698"/>
                <a:ext cx="6579493" cy="55739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den>
                        </m:f>
                      </m:sup>
                    </m:sSup>
                    <m:r>
                      <a:rPr lang="ro-RO" sz="2200" b="1">
                        <a:solidFill>
                          <a:srgbClr val="002060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550" y="4945698"/>
                <a:ext cx="6579493" cy="557397"/>
              </a:xfrm>
              <a:prstGeom prst="rect">
                <a:avLst/>
              </a:prstGeom>
              <a:blipFill rotWithShape="1">
                <a:blip r:embed="rId5"/>
                <a:stretch>
                  <a:fillRect r="-185" b="-19149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307058" y="6051212"/>
                <a:ext cx="253300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243013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058" y="6051212"/>
                <a:ext cx="2533001" cy="430887"/>
              </a:xfrm>
              <a:prstGeom prst="rect">
                <a:avLst/>
              </a:prstGeom>
              <a:blipFill rotWithShape="1">
                <a:blip r:embed="rId6"/>
                <a:stretch>
                  <a:fillRect t="-2857" b="-242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09879" y="5513972"/>
                <a:ext cx="32301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ro-RO" sz="2200" dirty="0"/>
                  <a:t>  </a:t>
                </a:r>
                <a:r>
                  <a:rPr lang="ro-RO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constanta de timp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879" y="5513972"/>
                <a:ext cx="3230180" cy="430887"/>
              </a:xfrm>
              <a:prstGeom prst="rect">
                <a:avLst/>
              </a:prstGeom>
              <a:blipFill rotWithShape="1">
                <a:blip r:embed="rId7"/>
                <a:stretch>
                  <a:fillRect l="-2075" t="-10000" r="-1132" b="-271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08" y="1675397"/>
            <a:ext cx="3762375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439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07968" y="939864"/>
                <a:ext cx="6384032" cy="58009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reactanţa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capacitivă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ωC</m:t>
                        </m:r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ro-RO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Raţionament: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ro-RO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2000" i="1"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unde F = frecvența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519238" indent="0">
                  <a:lnSpc>
                    <a:spcPct val="150000"/>
                  </a:lnSpc>
                  <a:buNone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07968" y="939864"/>
                <a:ext cx="6384032" cy="5800905"/>
              </a:xfrm>
              <a:blipFill>
                <a:blip r:embed="rId2"/>
                <a:stretch>
                  <a:fillRect l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465666" y="6420545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6</a:t>
            </a:r>
            <a:r>
              <a:rPr lang="it-IT" sz="1400" dirty="0"/>
              <a:t> Comportamentul unui circuit RC trece jos la un semnal treaptă</a:t>
            </a:r>
            <a:endParaRPr lang="ro-RO"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9601" y="938826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532077" y="4804718"/>
                <a:ext cx="3272434" cy="161582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o-RO" sz="22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ro-RO" sz="2200" dirty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ro-RO" sz="22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=&gt;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(scurtcircuit)</a:t>
                </a: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077" y="4804718"/>
                <a:ext cx="3272434" cy="1615827"/>
              </a:xfrm>
              <a:prstGeom prst="rect">
                <a:avLst/>
              </a:prstGeom>
              <a:blipFill rotWithShape="1">
                <a:blip r:embed="rId5"/>
                <a:stretch>
                  <a:fillRect r="-1115" b="-262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4044462" y="2004646"/>
            <a:ext cx="6600092" cy="36927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4044462" y="3294185"/>
            <a:ext cx="6600092" cy="2403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381806"/>
            <a:ext cx="3377712" cy="493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>
            <a:off x="1354667" y="4804718"/>
            <a:ext cx="6547555" cy="1133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26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0" y="6429007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6</a:t>
            </a:r>
            <a:r>
              <a:rPr lang="it-IT" sz="1400" dirty="0"/>
              <a:t> Comportamentul unui circuit RC trece jos la un semnal treaptă</a:t>
            </a:r>
            <a:endParaRPr lang="ro-RO"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9601" y="938826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19800" y="1549278"/>
                <a:ext cx="5679831" cy="161582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0" smtClean="0">
                        <a:latin typeface="Cambria Math"/>
                      </a:rPr>
                      <m:t>=</m:t>
                    </m:r>
                    <m:r>
                      <a:rPr lang="ro-RO" sz="2200" dirty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=&gt; </a:t>
                </a:r>
                <a:r>
                  <a:rPr lang="en-US" sz="2200" dirty="0">
                    <a:latin typeface="Times New Roman" panose="02020603050405020304" pitchFamily="18" charset="0"/>
                  </a:rPr>
                  <a:t>I =0 </a:t>
                </a: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r>
                  <a:rPr lang="en-US" sz="2200" dirty="0">
                    <a:latin typeface="Times New Roman" panose="02020603050405020304" pitchFamily="18" charset="0"/>
                  </a:rPr>
                  <a:t>C	</a:t>
                </a:r>
                <a:r>
                  <a:rPr lang="ro-RO" sz="2200" dirty="0" err="1">
                    <a:latin typeface="Times New Roman" panose="02020603050405020304" pitchFamily="18" charset="0"/>
                  </a:rPr>
                  <a:t>ăderea</a:t>
                </a:r>
                <a:r>
                  <a:rPr lang="ro-RO" sz="2200" dirty="0">
                    <a:latin typeface="Times New Roman" panose="02020603050405020304" pitchFamily="18" charset="0"/>
                  </a:rPr>
                  <a:t> de tensiune pe rezistenţa R → 0</a:t>
                </a: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549278"/>
                <a:ext cx="5679831" cy="1615827"/>
              </a:xfrm>
              <a:prstGeom prst="rect">
                <a:avLst/>
              </a:prstGeom>
              <a:blipFill rotWithShape="1">
                <a:blip r:embed="rId3"/>
                <a:stretch>
                  <a:fillRect b="-262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375030" y="3179227"/>
                <a:ext cx="6641124" cy="796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17550" lvl="1" indent="-4635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(1)</a:t>
                </a:r>
                <a:endParaRPr lang="ro-RO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030" y="3179227"/>
                <a:ext cx="6641124" cy="796565"/>
              </a:xfrm>
              <a:prstGeom prst="rect">
                <a:avLst/>
              </a:prstGeom>
              <a:blipFill>
                <a:blip r:embed="rId4"/>
                <a:stretch>
                  <a:fillRect r="-643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584614" y="1047317"/>
                <a:ext cx="272704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614" y="1047317"/>
                <a:ext cx="2727048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2237" t="-8571" b="-285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75030" y="3975792"/>
                <a:ext cx="6096000" cy="13505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 relația (1):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ro-RO" sz="2200" i="0" dirty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030" y="3975792"/>
                <a:ext cx="6096000" cy="1350563"/>
              </a:xfrm>
              <a:prstGeom prst="rect">
                <a:avLst/>
              </a:prstGeom>
              <a:blipFill rotWithShape="1">
                <a:blip r:embed="rId7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359664" y="5765878"/>
                <a:ext cx="5656490" cy="6867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  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ro-RO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664" y="5765878"/>
                <a:ext cx="5656490" cy="686726"/>
              </a:xfrm>
              <a:prstGeom prst="rect">
                <a:avLst/>
              </a:prstGeom>
              <a:blipFill>
                <a:blip r:embed="rId8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375029" y="5326229"/>
                <a:ext cx="2362201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029" y="5326229"/>
                <a:ext cx="2362201" cy="539378"/>
              </a:xfrm>
              <a:prstGeom prst="rect">
                <a:avLst/>
              </a:prstGeom>
              <a:blipFill rotWithShape="1">
                <a:blip r:embed="rId9"/>
                <a:stretch>
                  <a:fillRect l="-1809" b="-125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381806"/>
            <a:ext cx="3377712" cy="493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63" y="1462439"/>
            <a:ext cx="3630399" cy="502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3781778" y="4888089"/>
            <a:ext cx="3318933" cy="14321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2E47C-4901-BC8E-AB0D-A1344011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960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48753" y="1208515"/>
                <a:ext cx="5761893" cy="535640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Reprezentare grafică  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circuitului RC trece jos: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Semnal exponențial :</a:t>
                </a: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porneşte de la 0 </a:t>
                </a: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şi creşte exponenţial spre U.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tinde să crească până la infinit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 de ridicare de la 0,1U la 0,9U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0" i="0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4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2400" i="1" dirty="0">
                  <a:latin typeface="Cambria Math"/>
                </a:endParaRPr>
              </a:p>
              <a:p>
                <a:pPr marL="342900" lvl="1" indent="0">
                  <a:lnSpc>
                    <a:spcPct val="150000"/>
                  </a:lnSpc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48753" y="1208515"/>
                <a:ext cx="5761893" cy="5356408"/>
              </a:xfrm>
              <a:blipFill>
                <a:blip r:embed="rId2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420510" y="6266656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6</a:t>
            </a:r>
            <a:r>
              <a:rPr lang="it-IT" sz="1400" dirty="0"/>
              <a:t> Comportamentul unui circuit RC trece jos la un semnal treaptă</a:t>
            </a:r>
            <a:endParaRPr lang="ro-RO" sz="1400" dirty="0"/>
          </a:p>
        </p:txBody>
      </p:sp>
      <p:sp>
        <p:nvSpPr>
          <p:cNvPr id="9" name="Rectangle 8"/>
          <p:cNvSpPr/>
          <p:nvPr/>
        </p:nvSpPr>
        <p:spPr>
          <a:xfrm>
            <a:off x="339601" y="938826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78204"/>
            <a:ext cx="4004733" cy="4634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A20058-E2F9-FC87-590D-06C8CEBA6724}"/>
              </a:ext>
            </a:extLst>
          </p:cNvPr>
          <p:cNvCxnSpPr/>
          <p:nvPr/>
        </p:nvCxnSpPr>
        <p:spPr>
          <a:xfrm flipH="1">
            <a:off x="1703512" y="3212976"/>
            <a:ext cx="7416824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E3039F-8EFA-B5BD-7336-F0D353761D4F}"/>
              </a:ext>
            </a:extLst>
          </p:cNvPr>
          <p:cNvCxnSpPr/>
          <p:nvPr/>
        </p:nvCxnSpPr>
        <p:spPr>
          <a:xfrm flipH="1">
            <a:off x="4295800" y="3717032"/>
            <a:ext cx="6120680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CE234A-262A-63B2-12AB-D6B5989C5935}"/>
              </a:ext>
            </a:extLst>
          </p:cNvPr>
          <p:cNvCxnSpPr/>
          <p:nvPr/>
        </p:nvCxnSpPr>
        <p:spPr>
          <a:xfrm flipH="1">
            <a:off x="1631504" y="4869160"/>
            <a:ext cx="8280920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5EB25E-0507-FE6F-D986-31456869F30F}"/>
              </a:ext>
            </a:extLst>
          </p:cNvPr>
          <p:cNvCxnSpPr/>
          <p:nvPr/>
        </p:nvCxnSpPr>
        <p:spPr>
          <a:xfrm flipH="1" flipV="1">
            <a:off x="2783632" y="4581128"/>
            <a:ext cx="7848872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36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C0F6F-ADE2-4AD6-B391-E197615A06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3708" y="1124744"/>
                <a:ext cx="9135024" cy="4797177"/>
              </a:xfrm>
            </p:spPr>
            <p:txBody>
              <a:bodyPr anchor="ctr"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ntervalul de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 de 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creştere/ridicare 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200" i="0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Valoarea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final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ă−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Valoarea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ini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ț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ial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Valoarea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final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ă−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Valoarea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sf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â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ș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it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â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unde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dore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ș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ă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soare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ro-RO" sz="22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final</m:t>
                                </m:r>
                              </m:e>
                            </m:d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final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Observație: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nu s-ar pune limite: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de ridicare → ar fi infinit si practic din acest motiv → se pun repere.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C0F6F-ADE2-4AD6-B391-E197615A06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3708" y="1124744"/>
                <a:ext cx="9135024" cy="4797177"/>
              </a:xfrm>
              <a:blipFill>
                <a:blip r:embed="rId2"/>
                <a:stretch>
                  <a:fillRect l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6D8CB-6805-43E7-8179-75731FC6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4AAE7-166B-4248-ACF2-0B55C616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B1DDDF-CFCB-4DCA-8B23-8B7949245020}"/>
              </a:ext>
            </a:extLst>
          </p:cNvPr>
          <p:cNvSpPr txBox="1">
            <a:spLocks/>
          </p:cNvSpPr>
          <p:nvPr/>
        </p:nvSpPr>
        <p:spPr>
          <a:xfrm>
            <a:off x="334108" y="318234"/>
            <a:ext cx="5433646" cy="678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trece jos – semnal treaptă: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634928"/>
            <a:ext cx="2952328" cy="503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55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73260" y="774539"/>
                <a:ext cx="5761893" cy="535640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Reprezentare grafică  :</a:t>
                </a:r>
                <a:endParaRPr lang="en-US" sz="2200" i="1" dirty="0">
                  <a:latin typeface="Cambria Math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200" i="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2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200" b="0" i="0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en-US" sz="22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moment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iniţial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 măsurat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 măsurat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 particular:</a:t>
                </a:r>
                <a:endParaRPr lang="ro-RO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ro-RO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=""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73260" y="774539"/>
                <a:ext cx="5761893" cy="5356408"/>
              </a:xfrm>
              <a:blipFill rotWithShape="1">
                <a:blip r:embed="rId2"/>
                <a:stretch>
                  <a:fillRect l="-116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736600" y="6283424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6 </a:t>
            </a:r>
            <a:r>
              <a:rPr lang="it-IT" sz="1400" dirty="0"/>
              <a:t>Comportamentul unui circuit RC trece jos la un semnal treaptă</a:t>
            </a:r>
            <a:endParaRPr lang="ro-RO" sz="1400" dirty="0"/>
          </a:p>
        </p:txBody>
      </p:sp>
      <p:sp>
        <p:nvSpPr>
          <p:cNvPr id="9" name="Rectangle 8"/>
          <p:cNvSpPr/>
          <p:nvPr/>
        </p:nvSpPr>
        <p:spPr>
          <a:xfrm>
            <a:off x="339601" y="785149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391916" y="5469410"/>
                <a:ext cx="5120144" cy="94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0,1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U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U</m:t>
                            </m:r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0,9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U</m:t>
                            </m:r>
                          </m:den>
                        </m:f>
                      </m:e>
                    </m:func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dirty="0"/>
                  <a:t> ln9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o-RO" sz="2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916" y="5469410"/>
                <a:ext cx="5120144" cy="94448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784495" y="3543701"/>
                <a:ext cx="2772506" cy="16158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en-US" sz="22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/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0,1U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/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0,9U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95" y="3543701"/>
                <a:ext cx="2772506" cy="1615827"/>
              </a:xfrm>
              <a:prstGeom prst="rect">
                <a:avLst/>
              </a:prstGeom>
              <a:blipFill rotWithShape="1">
                <a:blip r:embed="rId8"/>
                <a:stretch>
                  <a:fillRect b="-301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84495" y="6268032"/>
                <a:ext cx="2205155" cy="43088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2,2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95" y="6268032"/>
                <a:ext cx="2205155" cy="430887"/>
              </a:xfrm>
              <a:prstGeom prst="rect">
                <a:avLst/>
              </a:prstGeom>
              <a:blipFill rotWithShape="1">
                <a:blip r:embed="rId9"/>
                <a:stretch>
                  <a:fillRect l="-3022" t="-4110" b="-21918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/>
          <p:cNvSpPr/>
          <p:nvPr/>
        </p:nvSpPr>
        <p:spPr>
          <a:xfrm>
            <a:off x="8094739" y="3770680"/>
            <a:ext cx="164123" cy="10550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2" y="1322679"/>
            <a:ext cx="3765197" cy="4896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12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DDDF-CFCB-4DCA-8B23-8B794924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46" y="154111"/>
            <a:ext cx="10515600" cy="678228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trece jos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5E608-BA86-4544-8CB3-E68F8019A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199" y="1288050"/>
                <a:ext cx="10515600" cy="522998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kΩ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10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/>
              </a:p>
              <a:p>
                <a:pPr>
                  <a:lnSpc>
                    <a:spcPct val="150000"/>
                  </a:lnSpc>
                </a:pPr>
                <a:r>
                  <a:rPr lang="ro-RO" sz="2200" dirty="0"/>
                  <a:t>Pentru calcul se refolosește relația (1) si se înlocuiesc valorile: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=0,1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ro-RO" sz="2200" dirty="0"/>
                  <a:t>;    </a:t>
                </a:r>
                <a:endParaRPr lang="ro-RO" sz="22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200" dirty="0"/>
                  <a:t> → se obține la fel: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]∙</m:t>
                    </m:r>
                    <m:sSup>
                      <m:sSup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ro-RO" sz="2200" dirty="0"/>
                  <a:t>; </a:t>
                </a:r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15E608-BA86-4544-8CB3-E68F8019A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199" y="1288050"/>
                <a:ext cx="10515600" cy="5229981"/>
              </a:xfrm>
              <a:blipFill rotWithShape="1">
                <a:blip r:embed="rId2"/>
                <a:stretch>
                  <a:fillRect l="-696" b="-617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F509A-9998-4BF8-AA6A-3E8AFA48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34200" y="6332904"/>
            <a:ext cx="4114800" cy="365125"/>
          </a:xfrm>
        </p:spPr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1FC93-7CEE-4710-9806-96A60F38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692" y="6352198"/>
            <a:ext cx="2743200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 dirty="0"/>
          </a:p>
        </p:txBody>
      </p:sp>
      <p:sp>
        <p:nvSpPr>
          <p:cNvPr id="6" name="Rectangle 5"/>
          <p:cNvSpPr/>
          <p:nvPr/>
        </p:nvSpPr>
        <p:spPr>
          <a:xfrm>
            <a:off x="291199" y="857163"/>
            <a:ext cx="27216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 numeric</a:t>
            </a:r>
            <a:endParaRPr lang="ro-RO" sz="22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9859" y="2629679"/>
                <a:ext cx="6171561" cy="545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10∙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o-RO" sz="22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− 9</m:t>
                        </m:r>
                      </m:sup>
                    </m:sSup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− 6</m:t>
                        </m:r>
                      </m:sup>
                    </m:sSup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59" y="2629679"/>
                <a:ext cx="6171561" cy="545406"/>
              </a:xfrm>
              <a:prstGeom prst="rect">
                <a:avLst/>
              </a:prstGeom>
              <a:blipFill rotWithShape="1">
                <a:blip r:embed="rId3"/>
                <a:stretch>
                  <a:fillRect l="-1087" b="-1666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448875" y="4463890"/>
                <a:ext cx="2416880" cy="43088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=0,1∙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875" y="4463890"/>
                <a:ext cx="2416880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2764" t="-5479" b="-20548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500079" y="6168717"/>
                <a:ext cx="2485937" cy="546881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=0,9∙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79" y="6168717"/>
                <a:ext cx="2485937" cy="546881"/>
              </a:xfrm>
              <a:prstGeom prst="rect">
                <a:avLst/>
              </a:prstGeom>
              <a:blipFill rotWithShape="1">
                <a:blip r:embed="rId7"/>
                <a:stretch>
                  <a:fillRect l="-2439" b="-16304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075" y="1072606"/>
            <a:ext cx="291465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35" y="3478006"/>
            <a:ext cx="3021057" cy="240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076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443D8-97DE-4BD3-933C-16A98D6E25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199" y="1438763"/>
                <a:ext cx="11353800" cy="4868252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</a:rPr>
                  <a:t> = timpul de ridicare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ro-RO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2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ro-RO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−0,1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−0,9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</m:den>
                        </m:f>
                      </m:e>
                    </m:func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func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2,2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RC</m:t>
                    </m:r>
                  </m:oMath>
                </a14:m>
                <a:endParaRPr lang="ro-RO" sz="2200" b="0" dirty="0">
                  <a:ea typeface="Cambria Math" panose="02040503050406030204" pitchFamily="18" charset="0"/>
                </a:endParaRPr>
              </a:p>
              <a:p>
                <a:pPr marL="633413" indent="0">
                  <a:lnSpc>
                    <a:spcPct val="150000"/>
                  </a:lnSpc>
                  <a:buNone/>
                </a:pPr>
                <a:r>
                  <a:rPr lang="ro-RO" sz="2200" dirty="0"/>
                  <a:t>=&gt;</a:t>
                </a:r>
                <a:r>
                  <a:rPr lang="ro-RO" sz="2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sub>
                    </m:sSub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>
                        <a:latin typeface="Cambria Math" panose="02040503050406030204" pitchFamily="18" charset="0"/>
                      </a:rPr>
                      <m:t>∙</m:t>
                    </m:r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ro-RO" sz="2200">
                        <a:latin typeface="Cambria Math" panose="02040503050406030204" pitchFamily="18" charset="0"/>
                      </a:rPr>
                      <m:t>∙</m:t>
                    </m:r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</m:oMath>
                </a14:m>
                <a:endParaRPr lang="ro-RO" sz="22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2,2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μs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=220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μs</m:t>
                    </m:r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B5443D8-97DE-4BD3-933C-16A98D6E25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199" y="1438763"/>
                <a:ext cx="11353800" cy="4868252"/>
              </a:xfrm>
              <a:blipFill rotWithShape="1">
                <a:blip r:embed="rId2"/>
                <a:stretch>
                  <a:fillRect l="-6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49C46-32FE-40FF-BD51-D72AE69D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3476E-3CA4-4A2E-ADD2-3659A43C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B1DDDF-CFCB-4DCA-8B23-8B794924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46" y="154111"/>
            <a:ext cx="5433646" cy="678228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trece jos – semnal treaptă:</a:t>
            </a:r>
          </a:p>
        </p:txBody>
      </p:sp>
      <p:sp>
        <p:nvSpPr>
          <p:cNvPr id="8" name="Rectangle 7"/>
          <p:cNvSpPr/>
          <p:nvPr/>
        </p:nvSpPr>
        <p:spPr>
          <a:xfrm>
            <a:off x="291199" y="857163"/>
            <a:ext cx="27216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 numeric</a:t>
            </a:r>
            <a:endParaRPr lang="ro-RO" sz="2200" dirty="0">
              <a:solidFill>
                <a:srgbClr val="00B05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810" y="857163"/>
            <a:ext cx="3689879" cy="5664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46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5FD698-B8A8-440B-8C6C-6B823B06DE3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pentru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pentru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ro-RO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  <m:d>
                      <m:dPr>
                        <m:ctrlP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𝐭</m:t>
                            </m:r>
                          </m:num>
                          <m:den>
                            <m:r>
                              <a:rPr lang="ro-RO" sz="22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𝐑𝐂</m:t>
                            </m:r>
                          </m:den>
                        </m:f>
                      </m:sup>
                    </m:sSup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b="1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=2,2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5FD698-B8A8-440B-8C6C-6B823B06D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1ACFD-D34C-41E7-830A-1972D68C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5CE35-788B-4242-B111-577EA4F8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8AC49-381E-4A2E-9BE4-0BA18E2C8CF6}"/>
              </a:ext>
            </a:extLst>
          </p:cNvPr>
          <p:cNvSpPr txBox="1"/>
          <p:nvPr/>
        </p:nvSpPr>
        <p:spPr>
          <a:xfrm>
            <a:off x="410528" y="611277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 Fig.</a:t>
            </a:r>
            <a:r>
              <a:rPr lang="en-US" sz="1400" dirty="0"/>
              <a:t>6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</a:t>
            </a:r>
            <a:r>
              <a:rPr lang="ro-RO" sz="1400" dirty="0"/>
              <a:t>jos</a:t>
            </a:r>
            <a:r>
              <a:rPr lang="es-ES" sz="1400" dirty="0"/>
              <a:t>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treaptă</a:t>
            </a:r>
            <a:endParaRPr lang="ro-RO" sz="14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1D7D00-AD13-4FB2-807C-B3114BAFB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528" y="123078"/>
            <a:ext cx="10515600" cy="9257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 - jos</a:t>
            </a:r>
          </a:p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Analiză comportament la aplicarea diferitelor semnale numerice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5321" y="2216005"/>
            <a:ext cx="69060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treaptă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043" y="1463245"/>
            <a:ext cx="25120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Concluzie: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8" y="911181"/>
            <a:ext cx="3280295" cy="503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1FEB08-CBE0-6D64-7C53-99EDBCAE4672}"/>
              </a:ext>
            </a:extLst>
          </p:cNvPr>
          <p:cNvSpPr txBox="1"/>
          <p:nvPr/>
        </p:nvSpPr>
        <p:spPr>
          <a:xfrm>
            <a:off x="11280576" y="4180331"/>
            <a:ext cx="648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5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FB468-52C5-444B-9075-4C935E92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5016" y="769621"/>
            <a:ext cx="6564922" cy="608837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cenariu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presupune că la intrarea unui circuit RC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trece-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un semnal impuls.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stabilesc repere :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lvl="1" indent="0">
              <a:lnSpc>
                <a:spcPct val="150000"/>
              </a:lnSpc>
              <a:buNone/>
            </a:pPr>
            <a:endParaRPr lang="ro-RO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0">
              <a:lnSpc>
                <a:spcPct val="150000"/>
              </a:lnSpc>
              <a:buNone/>
            </a:pPr>
            <a:endParaRPr lang="ro-RO" sz="2700" dirty="0">
              <a:latin typeface="Cambria Math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7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289129" y="231746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5" y="3555440"/>
            <a:ext cx="4666514" cy="209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8912468" y="4271075"/>
            <a:ext cx="33208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/>
              <a:t>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R∙C = 10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71150" y="2601533"/>
            <a:ext cx="332085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→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Amplitudine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/>
              <a:t>T</a:t>
            </a:r>
            <a:r>
              <a:rPr lang="ro-RO" sz="2200" baseline="-25000" dirty="0"/>
              <a:t>i</a:t>
            </a:r>
            <a:r>
              <a:rPr lang="ro-RO" sz="2200" b="1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sz="2200" dirty="0"/>
              <a:t> 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ţie </a:t>
            </a:r>
          </a:p>
        </p:txBody>
      </p:sp>
      <p:sp>
        <p:nvSpPr>
          <p:cNvPr id="17" name="Left Brace 16"/>
          <p:cNvSpPr/>
          <p:nvPr/>
        </p:nvSpPr>
        <p:spPr>
          <a:xfrm>
            <a:off x="8581292" y="2895600"/>
            <a:ext cx="164123" cy="11254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Left Brace 17"/>
          <p:cNvSpPr/>
          <p:nvPr/>
        </p:nvSpPr>
        <p:spPr>
          <a:xfrm>
            <a:off x="8663353" y="4601584"/>
            <a:ext cx="164123" cy="20246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11" y="850752"/>
            <a:ext cx="3703992" cy="2437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871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FB468-52C5-444B-9075-4C935E92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1571" y="2180846"/>
            <a:ext cx="6447692" cy="2980837"/>
          </a:xfrm>
        </p:spPr>
        <p:txBody>
          <a:bodyPr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descompune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emnal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în: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Semnale elementare de bază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Folosind una din cele două metode descrise anterior: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determină răspunsul final prin însumarea efectelor  pe intervale de timp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7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5" y="3420951"/>
            <a:ext cx="3438810" cy="218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5" y="980608"/>
            <a:ext cx="2875449" cy="18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2315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28492" y="1157409"/>
                <a:ext cx="6799386" cy="4708010"/>
              </a:xfrm>
            </p:spPr>
            <p:txBody>
              <a:bodyPr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Exemplu: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descompune semnalul impuls în semnale tip treaptă: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iniţial → Semnalul tr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 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amplitudine U;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pentru a anula continuarea semnalului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aplică un al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doi-lea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semnal treapta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amplitudine –U.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28492" y="1157409"/>
                <a:ext cx="6799386" cy="4708010"/>
              </a:xfrm>
              <a:blipFill>
                <a:blip r:embed="rId2"/>
                <a:stretch>
                  <a:fillRect l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8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82" y="1322520"/>
            <a:ext cx="3438810" cy="218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3" y="720098"/>
            <a:ext cx="4810795" cy="514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3470031" y="2924944"/>
            <a:ext cx="6802433" cy="13539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658970" y="3376246"/>
            <a:ext cx="5066538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3" y="535256"/>
            <a:ext cx="4681842" cy="568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337538" y="5013176"/>
            <a:ext cx="5718902" cy="7076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527431" y="5766684"/>
            <a:ext cx="642700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Adunând cele două semnale: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semnalul impuls aplicat la intrarea circuitului.</a:t>
            </a:r>
          </a:p>
        </p:txBody>
      </p:sp>
    </p:spTree>
    <p:extLst>
      <p:ext uri="{BB962C8B-B14F-4D97-AF65-F5344CB8AC3E}">
        <p14:creationId xmlns:p14="http://schemas.microsoft.com/office/powerpoint/2010/main" val="95236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83825" y="1135750"/>
                <a:ext cx="6644052" cy="5513022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pe intervale de timp</a:t>
                </a:r>
                <a:r>
                  <a:rPr lang="en-US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solidFill>
                    <a:srgbClr val="00B050"/>
                  </a:solidFill>
                  <a:latin typeface="Cambria Math"/>
                </a:endParaRP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un singur semnal treaptă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sz="22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ro-RO" sz="22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(t):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RC trece-jos la un semnal treaptă: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2200" dirty="0"/>
                  <a:t> 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</a:rPr>
                  <a:t>      (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se  presupune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RC)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ro-RO" sz="2200" i="1">
                        <a:latin typeface="Cambria Math"/>
                        <a:ea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(1</m:t>
                    </m:r>
                    <m:r>
                      <a:rPr lang="ro-RO" sz="22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dirty="0"/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ro-RO" sz="22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– 0</a:t>
                </a:r>
                <a:r>
                  <a:rPr lang="en-US" sz="22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o-RO" sz="22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37) 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∙ U = 0</a:t>
                </a:r>
                <a:r>
                  <a:rPr lang="en-US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63 ∙ U</a:t>
                </a:r>
                <a:r>
                  <a:rPr lang="ro-RO" sz="2200" b="0" dirty="0">
                    <a:ea typeface="Cambria Math" panose="02040503050406030204" pitchFamily="18" charset="0"/>
                  </a:rPr>
                  <a:t>; </a:t>
                </a:r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0,63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83825" y="1135750"/>
                <a:ext cx="6644052" cy="5513022"/>
              </a:xfrm>
              <a:blipFill>
                <a:blip r:embed="rId2"/>
                <a:stretch>
                  <a:fillRect l="-1009" b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35582" y="6394815"/>
            <a:ext cx="4114800" cy="365125"/>
          </a:xfrm>
        </p:spPr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27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-68176" y="6244157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8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39" y="570300"/>
            <a:ext cx="4375416" cy="531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706582" y="2366682"/>
            <a:ext cx="6043842" cy="2023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2321169" y="2366682"/>
            <a:ext cx="4429255" cy="2023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44652" y="6082155"/>
            <a:ext cx="4224618" cy="6001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717550" indent="-4635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Creşte exponenţial → 0,63U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28356" y="3217452"/>
            <a:ext cx="2579868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717550" indent="-4635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Porneşte → 0 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842304" y="2366682"/>
            <a:ext cx="10184284" cy="11277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 flipV="1">
            <a:off x="2615974" y="2716306"/>
            <a:ext cx="3529332" cy="15329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28" y="570300"/>
            <a:ext cx="4358887" cy="548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Arrow Connector 38"/>
          <p:cNvCxnSpPr/>
          <p:nvPr/>
        </p:nvCxnSpPr>
        <p:spPr>
          <a:xfrm flipH="1" flipV="1">
            <a:off x="1143000" y="2528047"/>
            <a:ext cx="10475259" cy="1075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2151529" y="1759204"/>
            <a:ext cx="9036424" cy="45826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62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96435" y="502086"/>
                <a:ext cx="6891101" cy="6049848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pe intervale de timp</a:t>
                </a:r>
                <a:r>
                  <a:rPr lang="en-US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solidFill>
                    <a:srgbClr val="00B050"/>
                  </a:solidFill>
                  <a:latin typeface="Cambria Math"/>
                </a:endParaRP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rgbClr val="00206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se adună două semnale treaptă:</a:t>
                </a:r>
              </a:p>
              <a:p>
                <a:pPr lvl="4">
                  <a:lnSpc>
                    <a:spcPct val="17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(t-T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2200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ro-RO" sz="2200" b="0" i="0" smtClean="0">
                            <a:latin typeface="Cambria Math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dirty="0"/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200" dirty="0"/>
                  <a:t> </a:t>
                </a:r>
                <a:r>
                  <a:rPr lang="ro-RO" sz="2200" dirty="0">
                    <a:solidFill>
                      <a:srgbClr val="002060"/>
                    </a:solidFill>
                  </a:rPr>
                  <a:t>= 2·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o-RO" sz="2200" dirty="0"/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0" i="1" smtClean="0">
                        <a:latin typeface="Cambria Math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ro-RO" sz="2200" dirty="0"/>
                  <a:t>(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/>
                        <a:ea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/>
                  <a:t>)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(1</m:t>
                    </m:r>
                    <m:r>
                      <a:rPr lang="ro-RO" sz="22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ro-RO" sz="22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2200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∙(1−</m:t>
                    </m:r>
                    <m:sSup>
                      <m:sSupPr>
                        <m:ctrl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ro-RO" sz="22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2200" dirty="0"/>
                  <a:t> </a:t>
                </a:r>
              </a:p>
              <a:p>
                <a:pPr marL="914400" lvl="2" indent="0">
                  <a:lnSpc>
                    <a:spcPct val="170000"/>
                  </a:lnSpc>
                  <a:buNone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0,85 ∙ U</a:t>
                </a:r>
                <a:r>
                  <a:rPr lang="ro-RO" sz="22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– 0,63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∙ U = 0</a:t>
                </a:r>
                <a:r>
                  <a:rPr lang="en-US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22 ∙ U</a:t>
                </a:r>
                <a:r>
                  <a:rPr lang="ro-RO" sz="2200" b="0" dirty="0">
                    <a:ea typeface="Cambria Math" panose="02040503050406030204" pitchFamily="18" charset="0"/>
                  </a:rPr>
                  <a:t>; </a:t>
                </a:r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0,22</m:t>
                    </m:r>
                    <m:r>
                      <m:rPr>
                        <m:nor/>
                      </m:rPr>
                      <a:rPr lang="ro-RO" sz="2200" i="0" dirty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96435" y="502086"/>
                <a:ext cx="6891101" cy="6049848"/>
              </a:xfrm>
              <a:blipFill>
                <a:blip r:embed="rId2"/>
                <a:stretch>
                  <a:fillRect l="-973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26251" y="6436332"/>
            <a:ext cx="4114800" cy="365125"/>
          </a:xfrm>
        </p:spPr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8823" y="6398045"/>
            <a:ext cx="2743200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28</a:t>
            </a:fld>
            <a:endParaRPr lang="ro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-68176" y="6244157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8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644653" y="6097963"/>
            <a:ext cx="4224618" cy="6001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717550" indent="-4635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Scade exponenţial → 0,22∙U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64" y="702784"/>
            <a:ext cx="4358887" cy="548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13" y="647381"/>
            <a:ext cx="4462438" cy="560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>
            <a:off x="3563472" y="1627094"/>
            <a:ext cx="2891116" cy="9681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407738" y="1627094"/>
            <a:ext cx="4046850" cy="9681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667435" y="2339788"/>
            <a:ext cx="5661212" cy="13581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254188" y="2339788"/>
            <a:ext cx="4894730" cy="3361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3563472" y="2796988"/>
            <a:ext cx="2299446" cy="9009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31" y="702784"/>
            <a:ext cx="4291983" cy="554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H="1" flipV="1">
            <a:off x="3563472" y="2501153"/>
            <a:ext cx="7328646" cy="3896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73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29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8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0" y="364003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271247" y="1266303"/>
                <a:ext cx="6777318" cy="4433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96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Procesul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 există un alt impuls :</a:t>
                </a:r>
              </a:p>
              <a:p>
                <a:pPr marL="1054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aplică un alt semnal treaptă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formează ca răspuns →  un nou semnal ce creşte exponenţial până la o valoare determinată de: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>
                            <a:latin typeface="Cambria Math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2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o-RO" sz="22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După care tinde să scadă exponenţial spre 0;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Ş.a.m.d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247" y="1266303"/>
                <a:ext cx="6777318" cy="4433650"/>
              </a:xfrm>
              <a:prstGeom prst="rect">
                <a:avLst/>
              </a:prstGeom>
              <a:blipFill rotWithShape="1">
                <a:blip r:embed="rId2"/>
                <a:stretch>
                  <a:fillRect r="-1980" b="-5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43" y="814874"/>
            <a:ext cx="4166716" cy="471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 flipH="1">
            <a:off x="3523129" y="1734671"/>
            <a:ext cx="7153836" cy="6185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756647" y="2245659"/>
            <a:ext cx="7436224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523130" y="1734672"/>
            <a:ext cx="3307976" cy="2581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3778624" y="2043953"/>
            <a:ext cx="7785847" cy="27031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02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30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6970685" y="3632838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9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407" y="680662"/>
            <a:ext cx="4461403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837" y="1607355"/>
            <a:ext cx="661750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 de la circuitul RC trece jos: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extinde pe un timp mai mare → este integrat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conține timpi de tranziție: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la intrare și la ieșire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0837" y="4115289"/>
            <a:ext cx="1145844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istorsiunea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o interpretează RC trece jos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depinde de mărimea timpilor;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fiecare circuit logic afectează răspunsul la ieșirea circuitului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acest motiv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distorsionat.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ADC349-C422-68FA-2751-5927358D7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924" y="1095964"/>
            <a:ext cx="44386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4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31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766874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răspuns RC –trece –jos  -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 particulare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562C6-37F4-4DB7-9AEB-BC7C6A873952}"/>
              </a:ext>
            </a:extLst>
          </p:cNvPr>
          <p:cNvSpPr txBox="1"/>
          <p:nvPr/>
        </p:nvSpPr>
        <p:spPr>
          <a:xfrm>
            <a:off x="442097" y="5539514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0</a:t>
            </a:r>
            <a:r>
              <a:rPr lang="es-ES" sz="1400" b="1" dirty="0"/>
              <a:t> </a:t>
            </a:r>
            <a:r>
              <a:rPr lang="en-US" sz="1400" b="1" dirty="0" err="1"/>
              <a:t>Răspunsul</a:t>
            </a:r>
            <a:r>
              <a:rPr lang="en-US" sz="1400" b="1" dirty="0"/>
              <a:t> </a:t>
            </a:r>
            <a:r>
              <a:rPr lang="en-US" sz="1400" b="1" dirty="0" err="1"/>
              <a:t>unui</a:t>
            </a:r>
            <a:r>
              <a:rPr lang="en-US" sz="1400" b="1" dirty="0"/>
              <a:t> </a:t>
            </a:r>
            <a:r>
              <a:rPr lang="en-US" sz="1400" b="1" dirty="0" err="1"/>
              <a:t>circuitul</a:t>
            </a:r>
            <a:r>
              <a:rPr lang="en-US" sz="1400" b="1" dirty="0"/>
              <a:t> RC </a:t>
            </a:r>
            <a:r>
              <a:rPr lang="en-US" sz="1400" b="1" dirty="0" err="1"/>
              <a:t>trece</a:t>
            </a:r>
            <a:r>
              <a:rPr lang="en-US" sz="1400" b="1" dirty="0"/>
              <a:t> </a:t>
            </a:r>
            <a:r>
              <a:rPr lang="en-US" sz="1400" b="1" dirty="0" err="1"/>
              <a:t>jos</a:t>
            </a:r>
            <a:r>
              <a:rPr lang="en-US" sz="1400" b="1" dirty="0"/>
              <a:t> </a:t>
            </a:r>
            <a:r>
              <a:rPr lang="en-US" sz="1400" b="1" dirty="0" err="1"/>
              <a:t>pentru</a:t>
            </a:r>
            <a:r>
              <a:rPr lang="en-US" sz="1400" b="1" dirty="0"/>
              <a:t> RC &lt;&lt; </a:t>
            </a:r>
            <a:r>
              <a:rPr lang="en-US" sz="1400" b="1" dirty="0" err="1"/>
              <a:t>Ti</a:t>
            </a:r>
            <a:endParaRPr lang="ro-RO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656730" y="2409745"/>
                <a:ext cx="6096000" cy="263149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𝐑𝐂</m:t>
                    </m:r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de ridicare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ro-RO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foarte mic: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răspuns puțin distorsionat :</a:t>
                </a:r>
              </a:p>
              <a:p>
                <a:pPr marL="1714500" lvl="3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lucrează la frecvențe joase.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730" y="2409745"/>
                <a:ext cx="6096000" cy="2631490"/>
              </a:xfrm>
              <a:prstGeom prst="rect">
                <a:avLst/>
              </a:prstGeom>
              <a:blipFill>
                <a:blip r:embed="rId2"/>
                <a:stretch>
                  <a:fillRect l="-1300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F829708-B559-0AF3-2C55-A458D014A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11214"/>
            <a:ext cx="370522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AE3621-ACB1-A736-C9C0-0A453EC9C1B5}"/>
              </a:ext>
            </a:extLst>
          </p:cNvPr>
          <p:cNvCxnSpPr/>
          <p:nvPr/>
        </p:nvCxnSpPr>
        <p:spPr>
          <a:xfrm flipH="1">
            <a:off x="2495600" y="3861048"/>
            <a:ext cx="4104456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98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32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766874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răspuns RC –trece –jos  -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 particulare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904913" y="2399019"/>
                <a:ext cx="6096000" cy="212365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 startAt="2"/>
                </a:pPr>
                <a14:m>
                  <m:oMath xmlns:m="http://schemas.openxmlformats.org/officeDocument/2006/math"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𝐑𝐂</m:t>
                    </m:r>
                    <m:r>
                      <a:rPr lang="ro-RO" sz="2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de ridicare atinge doar 2/3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răspuns 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ternic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distorsionat :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13" y="2399019"/>
                <a:ext cx="6096000" cy="2123658"/>
              </a:xfrm>
              <a:prstGeom prst="rect">
                <a:avLst/>
              </a:prstGeom>
              <a:blipFill>
                <a:blip r:embed="rId2"/>
                <a:stretch>
                  <a:fillRect l="-1300" b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72" y="2044938"/>
            <a:ext cx="5477753" cy="26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2562C6-37F4-4DB7-9AEB-BC7C6A873952}"/>
              </a:ext>
            </a:extLst>
          </p:cNvPr>
          <p:cNvSpPr txBox="1"/>
          <p:nvPr/>
        </p:nvSpPr>
        <p:spPr>
          <a:xfrm>
            <a:off x="549674" y="5511898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1</a:t>
            </a:r>
            <a:r>
              <a:rPr lang="es-ES" sz="1400" b="1" dirty="0"/>
              <a:t> </a:t>
            </a:r>
            <a:r>
              <a:rPr lang="en-US" sz="1400" b="1" dirty="0" err="1"/>
              <a:t>Răspunsul</a:t>
            </a:r>
            <a:r>
              <a:rPr lang="en-US" sz="1400" b="1" dirty="0"/>
              <a:t> </a:t>
            </a:r>
            <a:r>
              <a:rPr lang="en-US" sz="1400" b="1" dirty="0" err="1"/>
              <a:t>unui</a:t>
            </a:r>
            <a:r>
              <a:rPr lang="en-US" sz="1400" b="1" dirty="0"/>
              <a:t> </a:t>
            </a:r>
            <a:r>
              <a:rPr lang="en-US" sz="1400" b="1" dirty="0" err="1"/>
              <a:t>circuitul</a:t>
            </a:r>
            <a:r>
              <a:rPr lang="en-US" sz="1400" b="1" dirty="0"/>
              <a:t> RC </a:t>
            </a:r>
            <a:r>
              <a:rPr lang="en-US" sz="1400" b="1" dirty="0" err="1"/>
              <a:t>trece</a:t>
            </a:r>
            <a:r>
              <a:rPr lang="en-US" sz="1400" b="1" dirty="0"/>
              <a:t> </a:t>
            </a:r>
            <a:r>
              <a:rPr lang="en-US" sz="1400" b="1" dirty="0" err="1"/>
              <a:t>jos</a:t>
            </a:r>
            <a:r>
              <a:rPr lang="en-US" sz="1400" b="1" dirty="0"/>
              <a:t> </a:t>
            </a:r>
            <a:r>
              <a:rPr lang="en-US" sz="1400" b="1" dirty="0" err="1"/>
              <a:t>pentru</a:t>
            </a:r>
            <a:r>
              <a:rPr lang="en-US" sz="1400" b="1" dirty="0"/>
              <a:t> RC</a:t>
            </a:r>
            <a:r>
              <a:rPr lang="ro-RO" sz="1400" b="1" dirty="0"/>
              <a:t> = </a:t>
            </a:r>
            <a:r>
              <a:rPr lang="en-US" sz="1400" b="1" dirty="0" err="1"/>
              <a:t>Ti</a:t>
            </a:r>
            <a:endParaRPr lang="ro-RO" sz="14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913D10-6402-AF3F-BD69-8EAF9FD91091}"/>
              </a:ext>
            </a:extLst>
          </p:cNvPr>
          <p:cNvCxnSpPr/>
          <p:nvPr/>
        </p:nvCxnSpPr>
        <p:spPr>
          <a:xfrm flipH="1" flipV="1">
            <a:off x="2423592" y="3212976"/>
            <a:ext cx="4176464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2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33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766874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răspuns RC –trece –jos  -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 particulare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904913" y="2197313"/>
                <a:ext cx="6096000" cy="31393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 startAt="3"/>
                </a:pPr>
                <a14:m>
                  <m:oMath xmlns:m="http://schemas.openxmlformats.org/officeDocument/2006/math">
                    <m:r>
                      <a:rPr lang="ro-RO" sz="2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𝐑𝐂</m:t>
                    </m:r>
                    <m:r>
                      <a:rPr lang="ro-RO" sz="2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ro-RO" sz="2200" b="1" dirty="0">
                  <a:solidFill>
                    <a:srgbClr val="00B050"/>
                  </a:solidFill>
                </a:endParaRPr>
              </a:p>
              <a:p>
                <a:pPr lvl="1" indent="-4572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 este puternic distorsionat:</a:t>
                </a:r>
              </a:p>
              <a:p>
                <a:pPr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aproape că nu mai există semnal:</a:t>
                </a:r>
              </a:p>
              <a:p>
                <a:pPr lvl="2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Amplitudinea → devine foarte mică.</a:t>
                </a:r>
              </a:p>
              <a:p>
                <a:pPr>
                  <a:lnSpc>
                    <a:spcPct val="150000"/>
                  </a:lnSpc>
                </a:pPr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13" y="2197313"/>
                <a:ext cx="6096000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13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1">
            <a:extLst>
              <a:ext uri="{FF2B5EF4-FFF2-40B4-BE49-F238E27FC236}">
                <a16:creationId xmlns:a16="http://schemas.microsoft.com/office/drawing/2014/main" id="{CDEB8606-2884-4FF9-880E-0558CA198F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814" y="2147294"/>
            <a:ext cx="4039833" cy="305577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2562C6-37F4-4DB7-9AEB-BC7C6A873952}"/>
              </a:ext>
            </a:extLst>
          </p:cNvPr>
          <p:cNvSpPr txBox="1"/>
          <p:nvPr/>
        </p:nvSpPr>
        <p:spPr>
          <a:xfrm>
            <a:off x="975851" y="582822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2</a:t>
            </a:r>
            <a:r>
              <a:rPr lang="es-ES" sz="1400" b="1" dirty="0"/>
              <a:t> </a:t>
            </a:r>
            <a:r>
              <a:rPr lang="en-US" sz="1400" b="1" dirty="0" err="1"/>
              <a:t>Răspunsul</a:t>
            </a:r>
            <a:r>
              <a:rPr lang="en-US" sz="1400" b="1" dirty="0"/>
              <a:t> </a:t>
            </a:r>
            <a:r>
              <a:rPr lang="en-US" sz="1400" b="1" dirty="0" err="1"/>
              <a:t>unui</a:t>
            </a:r>
            <a:r>
              <a:rPr lang="en-US" sz="1400" b="1" dirty="0"/>
              <a:t> </a:t>
            </a:r>
            <a:r>
              <a:rPr lang="en-US" sz="1400" b="1" dirty="0" err="1"/>
              <a:t>circuitul</a:t>
            </a:r>
            <a:r>
              <a:rPr lang="en-US" sz="1400" b="1" dirty="0"/>
              <a:t> RC </a:t>
            </a:r>
            <a:r>
              <a:rPr lang="en-US" sz="1400" b="1" dirty="0" err="1"/>
              <a:t>trece</a:t>
            </a:r>
            <a:r>
              <a:rPr lang="en-US" sz="1400" b="1" dirty="0"/>
              <a:t> </a:t>
            </a:r>
            <a:r>
              <a:rPr lang="en-US" sz="1400" b="1" dirty="0" err="1"/>
              <a:t>jos</a:t>
            </a:r>
            <a:r>
              <a:rPr lang="en-US" sz="1400" b="1" dirty="0"/>
              <a:t> </a:t>
            </a:r>
            <a:r>
              <a:rPr lang="en-US" sz="1400" b="1" dirty="0" err="1"/>
              <a:t>pentru</a:t>
            </a:r>
            <a:r>
              <a:rPr lang="en-US" sz="1400" b="1" dirty="0"/>
              <a:t> RC</a:t>
            </a:r>
            <a:r>
              <a:rPr lang="ro-RO" sz="1400" b="1" dirty="0"/>
              <a:t> &gt;&gt; </a:t>
            </a:r>
            <a:r>
              <a:rPr lang="en-US" sz="1400" b="1" dirty="0" err="1"/>
              <a:t>Ti</a:t>
            </a:r>
            <a:endParaRPr lang="ro-RO" sz="1400" b="1" dirty="0"/>
          </a:p>
        </p:txBody>
      </p:sp>
    </p:spTree>
    <p:extLst>
      <p:ext uri="{BB962C8B-B14F-4D97-AF65-F5344CB8AC3E}">
        <p14:creationId xmlns:p14="http://schemas.microsoft.com/office/powerpoint/2010/main" val="279278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34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76687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răspuns RC –trece –jos  - 3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 particulare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46" y="1342924"/>
            <a:ext cx="10292654" cy="231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0473" y="4824921"/>
                <a:ext cx="11670173" cy="1047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circuit logic întotdeauna interpretează valoarea de la intrare: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în funcție de o tensiune de prag 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73" y="4824921"/>
                <a:ext cx="11670173" cy="1047210"/>
              </a:xfrm>
              <a:prstGeom prst="rect">
                <a:avLst/>
              </a:prstGeom>
              <a:blipFill rotWithShape="1">
                <a:blip r:embed="rId3"/>
                <a:stretch>
                  <a:fillRect l="-575" b="-104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30473" y="3978587"/>
            <a:ext cx="2162518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Observaţii: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22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35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76687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răspuns RC –trece –jos  - 3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 particulare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46" y="1342924"/>
            <a:ext cx="10292654" cy="231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30473" y="3978587"/>
            <a:ext cx="1167017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analiza făcută mai sus se poate observa că: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în primul caz →interpretează corect;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al doilea caz → interpretează cu dificultate și răspunde cu multă întârziere;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al treilea caz → răspunsul nu mai poate fi corect: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interpretarea semnalului de la intrare → eronată.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83932" y="742760"/>
            <a:ext cx="216251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Observaţii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F3198D-D252-B191-46C2-579D671D556E}"/>
              </a:ext>
            </a:extLst>
          </p:cNvPr>
          <p:cNvCxnSpPr/>
          <p:nvPr/>
        </p:nvCxnSpPr>
        <p:spPr>
          <a:xfrm flipV="1">
            <a:off x="838200" y="3573016"/>
            <a:ext cx="649288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7C423D-1FF0-00D9-0533-ED7A7078C407}"/>
              </a:ext>
            </a:extLst>
          </p:cNvPr>
          <p:cNvCxnSpPr/>
          <p:nvPr/>
        </p:nvCxnSpPr>
        <p:spPr>
          <a:xfrm flipV="1">
            <a:off x="838200" y="2780928"/>
            <a:ext cx="3745632" cy="2520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75A9D-C500-CBA3-6890-33A3F82D05B2}"/>
              </a:ext>
            </a:extLst>
          </p:cNvPr>
          <p:cNvCxnSpPr/>
          <p:nvPr/>
        </p:nvCxnSpPr>
        <p:spPr>
          <a:xfrm flipV="1">
            <a:off x="870420" y="3398984"/>
            <a:ext cx="7850088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44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36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73" y="742760"/>
            <a:ext cx="2257233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Observaţii: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049" y="1786717"/>
            <a:ext cx="1167017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→ format din circuite integrate: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Circuitele integrate → formate din porți logice conectate între ele: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apărea pe parcurs și anumite disfuncționalități.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Până acum s-au scos în evidență elemente negative ale circuitului RC trece jos: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Funcţie  de → disfuncționalități logice;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Ulterior → se vor discuta și efectele benefice ale acestui circuit.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77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37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338049" y="440233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8049" y="1126894"/>
            <a:ext cx="2257233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291" y="1867838"/>
            <a:ext cx="11670173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RC trece jos → filtre ce permit: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trecerea semnalelor de frecvență joasă cu distorsiuni minime 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atenuarea puternică a semnalelor de frecvență înaltă.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frecvențe foarte mari: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durata de tranziție extrem de mică → în comparație cu constanta de timp  RC a circuitului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mod practic semnalul de la ieșire → va fi zero.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frecvențe mici: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semnalul de la ieșire repetă cu aproximație valoarea și forma semnalului de la intrare: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fiind foarte puțin distorsionat.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95" y="1493569"/>
            <a:ext cx="2977021" cy="220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547" y="1416878"/>
            <a:ext cx="3230969" cy="2590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88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38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338049" y="362043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8049" y="831610"/>
            <a:ext cx="2257233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7225" y="1365979"/>
            <a:ext cx="11795485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de tip RC în circuitele integrate numerice → rol important → permit 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simularea comportamentului acestora → la răspunsul unui semnal numeric aplicat la intrarea lor.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comportamentului zgomotelor de pe barele de alimentare: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luarea unor măsuri pentru eliminarea sau reducerea acestora: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până la înlăturarea efectelor negative care s-ar putea produce într-un sistem numeric.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23F4D-E8E9-49FE-E866-F1C8D7E0E6E6}"/>
              </a:ext>
            </a:extLst>
          </p:cNvPr>
          <p:cNvSpPr/>
          <p:nvPr/>
        </p:nvSpPr>
        <p:spPr>
          <a:xfrm>
            <a:off x="338049" y="3904399"/>
            <a:ext cx="11656726" cy="257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Zgomotele de pe bara de alimentare: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influența negativ nivelul de tensiune superior → „1” logic: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sensul apropierii acestora de → nivelul logic inferior → „0” logic 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poate conduce la → disfuncționalitatea circuitului integrat numeric: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în final chiar a întregului sistem numeric.</a:t>
            </a:r>
          </a:p>
        </p:txBody>
      </p:sp>
    </p:spTree>
    <p:extLst>
      <p:ext uri="{BB962C8B-B14F-4D97-AF65-F5344CB8AC3E}">
        <p14:creationId xmlns:p14="http://schemas.microsoft.com/office/powerpoint/2010/main" val="98238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39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338049" y="362043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8049" y="831610"/>
            <a:ext cx="2257233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7637" y="1530057"/>
            <a:ext cx="11656726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Orice circuit integrat → poate fi reprezentat printr-o rezistență echivalentă și o capacitate pe ieșire: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rezultând practic → un circuit RC trece jos: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permite analiza circuitului integrat pe baza comportamentului acestuia.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CF51F3-E237-AD04-D4CA-EE61C30C1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3203579"/>
            <a:ext cx="64770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6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0BBAE-104F-40E5-9D00-1CDD44A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40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Pauză</a:t>
            </a:r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32522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375DBE93-D1A0-48BE-B60F-9C089715AA3E}" vid="{1E6B53E7-D096-4117-9E48-D46D6729C3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375DBE93-D1A0-48BE-B60F-9C089715AA3E}" vid="{CBD31931-9BC8-43D4-94C2-D9FE130F7104}"/>
    </a:ext>
  </a:extLst>
</a:theme>
</file>

<file path=ppt/theme/theme3.xml><?xml version="1.0" encoding="utf-8"?>
<a:theme xmlns:a="http://schemas.openxmlformats.org/drawingml/2006/main" name="1_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4456</TotalTime>
  <Words>3202</Words>
  <Application>Microsoft Office PowerPoint</Application>
  <PresentationFormat>Widescreen</PresentationFormat>
  <Paragraphs>477</Paragraphs>
  <Slides>40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Tw Cen MT</vt:lpstr>
      <vt:lpstr>Wingdings</vt:lpstr>
      <vt:lpstr>Circuit</vt:lpstr>
      <vt:lpstr>Office Theme</vt:lpstr>
      <vt:lpstr>1_Circuit</vt:lpstr>
      <vt:lpstr>Bitmap Image</vt:lpstr>
      <vt:lpstr>electronică Digitală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Circuite pentru transformări liniare</vt:lpstr>
      <vt:lpstr>Circuite pentru transformări liniare</vt:lpstr>
      <vt:lpstr>PowerPoint Presentation</vt:lpstr>
      <vt:lpstr>Circuite pentru transformări liniare.</vt:lpstr>
      <vt:lpstr>PowerPoint Presentation</vt:lpstr>
      <vt:lpstr>PowerPoint Presentation</vt:lpstr>
      <vt:lpstr>PowerPoint Presentation</vt:lpstr>
      <vt:lpstr>Comportamentul circuitelor RC la aplicarea diferitelor semnale numerice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RC trece jos – semnal treaptă:</vt:lpstr>
      <vt:lpstr>RC trece jos – semnal treaptă:</vt:lpstr>
      <vt:lpstr>Circuite RC trece - jos Analiză comportament la aplicarea diferitelor semnale numerice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Lucian Gaina</dc:creator>
  <cp:lastModifiedBy>Daniela Stanescu</cp:lastModifiedBy>
  <cp:revision>195</cp:revision>
  <dcterms:created xsi:type="dcterms:W3CDTF">2020-09-30T18:14:51Z</dcterms:created>
  <dcterms:modified xsi:type="dcterms:W3CDTF">2026-10-13T06:17:41Z</dcterms:modified>
</cp:coreProperties>
</file>