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  <p:sldMasterId id="2147483762" r:id="rId2"/>
  </p:sldMasterIdLst>
  <p:notesMasterIdLst>
    <p:notesMasterId r:id="rId65"/>
  </p:notesMasterIdLst>
  <p:handoutMasterIdLst>
    <p:handoutMasterId r:id="rId66"/>
  </p:handoutMasterIdLst>
  <p:sldIdLst>
    <p:sldId id="256" r:id="rId3"/>
    <p:sldId id="493" r:id="rId4"/>
    <p:sldId id="495" r:id="rId5"/>
    <p:sldId id="496" r:id="rId6"/>
    <p:sldId id="498" r:id="rId7"/>
    <p:sldId id="499" r:id="rId8"/>
    <p:sldId id="502" r:id="rId9"/>
    <p:sldId id="504" r:id="rId10"/>
    <p:sldId id="505" r:id="rId11"/>
    <p:sldId id="513" r:id="rId12"/>
    <p:sldId id="521" r:id="rId13"/>
    <p:sldId id="494" r:id="rId14"/>
    <p:sldId id="296" r:id="rId15"/>
    <p:sldId id="300" r:id="rId16"/>
    <p:sldId id="301" r:id="rId17"/>
    <p:sldId id="304" r:id="rId18"/>
    <p:sldId id="306" r:id="rId19"/>
    <p:sldId id="307" r:id="rId20"/>
    <p:sldId id="308" r:id="rId21"/>
    <p:sldId id="287" r:id="rId22"/>
    <p:sldId id="309" r:id="rId23"/>
    <p:sldId id="340" r:id="rId24"/>
    <p:sldId id="312" r:id="rId25"/>
    <p:sldId id="341" r:id="rId26"/>
    <p:sldId id="314" r:id="rId27"/>
    <p:sldId id="342" r:id="rId28"/>
    <p:sldId id="343" r:id="rId29"/>
    <p:sldId id="344" r:id="rId30"/>
    <p:sldId id="345" r:id="rId31"/>
    <p:sldId id="346" r:id="rId32"/>
    <p:sldId id="347" r:id="rId33"/>
    <p:sldId id="348" r:id="rId34"/>
    <p:sldId id="349" r:id="rId35"/>
    <p:sldId id="350" r:id="rId36"/>
    <p:sldId id="351" r:id="rId37"/>
    <p:sldId id="352" r:id="rId38"/>
    <p:sldId id="353" r:id="rId39"/>
    <p:sldId id="354" r:id="rId40"/>
    <p:sldId id="330" r:id="rId41"/>
    <p:sldId id="331" r:id="rId42"/>
    <p:sldId id="355" r:id="rId43"/>
    <p:sldId id="522" r:id="rId44"/>
    <p:sldId id="335" r:id="rId45"/>
    <p:sldId id="356" r:id="rId46"/>
    <p:sldId id="361" r:id="rId47"/>
    <p:sldId id="360" r:id="rId48"/>
    <p:sldId id="359" r:id="rId49"/>
    <p:sldId id="362" r:id="rId50"/>
    <p:sldId id="363" r:id="rId51"/>
    <p:sldId id="364" r:id="rId52"/>
    <p:sldId id="365" r:id="rId53"/>
    <p:sldId id="377" r:id="rId54"/>
    <p:sldId id="376" r:id="rId55"/>
    <p:sldId id="337" r:id="rId56"/>
    <p:sldId id="338" r:id="rId57"/>
    <p:sldId id="366" r:id="rId58"/>
    <p:sldId id="367" r:id="rId59"/>
    <p:sldId id="369" r:id="rId60"/>
    <p:sldId id="372" r:id="rId61"/>
    <p:sldId id="375" r:id="rId62"/>
    <p:sldId id="374" r:id="rId63"/>
    <p:sldId id="339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921C70-FA35-4AAE-BD03-CB13AD8BFB1E}" v="25" dt="2020-08-05T13:09:28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E372D8-6F3F-4772-B055-C2035B91BC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B5DE29-39E1-44BF-9F6D-A455C4EA1C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B61D1-D8BB-4F8E-8568-4911F02FDCA5}" type="datetimeFigureOut">
              <a:rPr lang="ro-RO" smtClean="0"/>
              <a:t>21.10.2025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A5CFEC-1C70-4D90-83E9-4E1D3D0E33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DF9054-B9FC-4D5F-8C1A-999E3345AD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ADF158-E70D-46E6-ABBA-93AC3048441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2052812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76F46-A423-4663-86EC-02ABB9243E3F}" type="datetimeFigureOut">
              <a:rPr lang="ro-RO" smtClean="0"/>
              <a:t>21.10.2025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D4C6F-B1B6-44E0-8719-2227692C165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4273926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54649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F282D8-D9A3-49FC-A47C-4B0EAD250BD0}"/>
              </a:ext>
            </a:extLst>
          </p:cNvPr>
          <p:cNvSpPr txBox="1"/>
          <p:nvPr userDrawn="1"/>
        </p:nvSpPr>
        <p:spPr>
          <a:xfrm>
            <a:off x="838200" y="6400412"/>
            <a:ext cx="274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Daniela</a:t>
            </a:r>
            <a:r>
              <a:rPr lang="ro-RO" sz="1200" b="0" dirty="0"/>
              <a:t> </a:t>
            </a:r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Stănescu</a:t>
            </a:r>
          </a:p>
        </p:txBody>
      </p:sp>
    </p:spTree>
    <p:extLst>
      <p:ext uri="{BB962C8B-B14F-4D97-AF65-F5344CB8AC3E}">
        <p14:creationId xmlns:p14="http://schemas.microsoft.com/office/powerpoint/2010/main" val="615243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26310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56125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39718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6573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98108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86400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14030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75210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14515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62759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41765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39253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154350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486790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033660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27655-BA84-42DA-B8E9-233661A25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058635A-2484-4F5B-B9BE-A56859E16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5DEE71D-7364-46F7-B8B3-D86CF6C9D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B51DF43-45A8-4A94-9974-9231DD7DE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D87CAA-0C0D-418E-B999-B322B9B407B0}"/>
              </a:ext>
            </a:extLst>
          </p:cNvPr>
          <p:cNvSpPr txBox="1"/>
          <p:nvPr userDrawn="1"/>
        </p:nvSpPr>
        <p:spPr>
          <a:xfrm>
            <a:off x="838200" y="6400412"/>
            <a:ext cx="274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Daniela</a:t>
            </a:r>
            <a:r>
              <a:rPr lang="ro-RO" sz="1200" b="0" dirty="0"/>
              <a:t> </a:t>
            </a:r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Stănescu</a:t>
            </a:r>
          </a:p>
        </p:txBody>
      </p:sp>
    </p:spTree>
    <p:extLst>
      <p:ext uri="{BB962C8B-B14F-4D97-AF65-F5344CB8AC3E}">
        <p14:creationId xmlns:p14="http://schemas.microsoft.com/office/powerpoint/2010/main" val="16094152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F1B0-22F2-4539-9AF8-855E81D35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BD4774-2552-4D85-9674-7DB0CD2ED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56F98-3695-4344-AA86-FE77F60EA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5DAF8-DA50-42FC-ADF1-BBA3A9A08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E100D-4CE6-4855-A195-615DDD38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866316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73E39-B208-4185-88AD-FC3A0E07C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27655-BA84-42DA-B8E9-233661A25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5D770-9C6D-4978-AA6A-2CB35282D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3C6FE-FF4F-4A1E-BE9E-DA0558F7F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F3CEA2-7A38-4A60-9CF9-B3D13055F9AB}"/>
              </a:ext>
            </a:extLst>
          </p:cNvPr>
          <p:cNvSpPr txBox="1"/>
          <p:nvPr userDrawn="1"/>
        </p:nvSpPr>
        <p:spPr>
          <a:xfrm>
            <a:off x="838200" y="6400412"/>
            <a:ext cx="274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Daniela</a:t>
            </a:r>
            <a:r>
              <a:rPr lang="ro-RO" sz="1200" b="0" dirty="0"/>
              <a:t> </a:t>
            </a:r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Stănescu</a:t>
            </a:r>
          </a:p>
        </p:txBody>
      </p:sp>
    </p:spTree>
    <p:extLst>
      <p:ext uri="{BB962C8B-B14F-4D97-AF65-F5344CB8AC3E}">
        <p14:creationId xmlns:p14="http://schemas.microsoft.com/office/powerpoint/2010/main" val="1557095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9004D-8FCB-4B6C-83AE-5F7CB15F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100B3-40D8-45F5-B899-AA0C8CA81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4A233-B076-41CB-ABEA-6346E0E2D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ACF7C-0EE0-4EAE-AE73-0E384D61A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AF40A-D714-49C9-B28D-192AF7545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241086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127CB-9E40-45A1-8473-CC93FAC3B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4467-0D97-4DE3-9F3C-C028B6FE7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BF5C3-33A8-4435-801F-31B35B6DC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55D92-C7CC-47C1-B786-A116107B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ED44F-F3BB-4822-B26B-B0F8DCF7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F32C1-7543-4E86-B7A1-78272F7BE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305567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4AE58-FB78-4410-B681-4B1BA2E50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6142A-66C6-47F2-8FD0-349E0D589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30570-F883-4E01-BC14-1D7B9E3BE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127B1D-AE99-480B-BC9E-E5E3B937B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7B27E4-5071-4DAF-A785-1A5519DF7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045B08-F145-4982-BA1B-6C5F8FE57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C7911C-4B49-408B-896B-3116018D0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34E533-D706-4278-A1DF-F04BFAAC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678321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C2996-ED5E-4DF3-9128-F135EF218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ABC23F-0670-42BA-8620-B184A8267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064A4-327C-47F8-897A-C7BB61D6C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A3A1C6-8503-4F2C-982F-958F5D6D1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834665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B0B568-49AF-4694-BF37-00654E0B8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880A2A-C2B1-49F1-95BF-DCCE77E34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77F3C-6CDC-4AB3-AD9E-F00A887E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036295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8E4CC-71D5-4296-98AB-C5AC9A2F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8025F-FEE9-4F06-B0B4-2B367B26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9257E-B602-407E-A6AE-DF5539BA0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A06BF-E491-47B7-93B3-CC6192EA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0E48B-F8FD-4D70-B15F-7E4018C8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0A5E8-15CB-46D7-B6F9-4759ED64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10212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8A0E8-41C7-4BBD-BE2A-1C34858E5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160580-3B72-4452-BE69-6F8E75F21B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EE573-4F56-484F-B5CC-409616771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0CD4E-3E52-432A-A173-B864EE47C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09B7E-8E1E-485B-9274-28A47709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59043-0D93-4B2E-9387-968926B65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214394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6BADA-8B52-4AAC-BBB6-A4B2E9C5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F74ED7-78AB-4179-AFA8-EB2BD0F21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EC9E0-00B1-419A-B6E5-4A0964604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77A9F-AA09-455D-8F12-4AD3CE6D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2CCC5-A756-420E-A5CA-21E3FDC48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664018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2B3B85-7D0E-4FED-A71D-9F93C6808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C9F51-20BB-459E-A73F-935A299AD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290AF-86CA-4611-99E0-883DA4FF2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58D37-365A-40D0-9393-68EFC4C6D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E9044-3DFC-45EC-A9B7-395F7ACF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323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pic>
        <p:nvPicPr>
          <p:cNvPr id="48" name="Picture 47" descr="A picture containing drawing&#10;&#10;Description automatically generated">
            <a:extLst>
              <a:ext uri="{FF2B5EF4-FFF2-40B4-BE49-F238E27FC236}">
                <a16:creationId xmlns:a16="http://schemas.microsoft.com/office/drawing/2014/main" id="{99A63265-8878-4D82-9AF8-C5953C940355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3370" y="0"/>
            <a:ext cx="1378630" cy="90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828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34" r:id="rId1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0FAE0F-2FCB-464F-9782-4E9641CAE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E9FD3-58F4-4BC8-88E3-87728FF3F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850B1-1D08-4852-9493-B73A821C7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78B0F-6710-4BFC-8CA6-059D75704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6B2EF-1AA8-40C3-8A3C-0EBAF5E890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DD0A3A-E3EC-4E58-B6D0-D3E200941D3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3370" y="0"/>
            <a:ext cx="1378630" cy="90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13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png"/><Relationship Id="rId7" Type="http://schemas.openxmlformats.org/officeDocument/2006/relationships/image" Target="../media/image21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661.png"/><Relationship Id="rId5" Type="http://schemas.openxmlformats.org/officeDocument/2006/relationships/image" Target="../media/image201.png"/><Relationship Id="rId4" Type="http://schemas.openxmlformats.org/officeDocument/2006/relationships/image" Target="../media/image6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34.png"/><Relationship Id="rId4" Type="http://schemas.openxmlformats.org/officeDocument/2006/relationships/image" Target="../media/image14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33.png"/><Relationship Id="rId7" Type="http://schemas.openxmlformats.org/officeDocument/2006/relationships/image" Target="../media/image18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5.png"/><Relationship Id="rId5" Type="http://schemas.openxmlformats.org/officeDocument/2006/relationships/image" Target="../media/image160.png"/><Relationship Id="rId4" Type="http://schemas.openxmlformats.org/officeDocument/2006/relationships/image" Target="../media/image34.png"/><Relationship Id="rId9" Type="http://schemas.openxmlformats.org/officeDocument/2006/relationships/image" Target="../media/image20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2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6.png"/><Relationship Id="rId5" Type="http://schemas.openxmlformats.org/officeDocument/2006/relationships/image" Target="../media/image210.png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7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29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7.png"/><Relationship Id="rId5" Type="http://schemas.openxmlformats.org/officeDocument/2006/relationships/image" Target="../media/image380.png"/><Relationship Id="rId4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50.png"/><Relationship Id="rId4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520.png"/><Relationship Id="rId4" Type="http://schemas.openxmlformats.org/officeDocument/2006/relationships/image" Target="../media/image51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3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5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3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5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40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1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E9C8A7-46D2-4073-8F67-E8FACFA4B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3"/>
            <a:ext cx="6858000" cy="1055951"/>
          </a:xfrm>
        </p:spPr>
        <p:txBody>
          <a:bodyPr anchor="ctr">
            <a:normAutofit/>
          </a:bodyPr>
          <a:lstStyle/>
          <a:p>
            <a:pPr algn="ctr"/>
            <a:r>
              <a:rPr lang="ro-RO" b="1" dirty="0">
                <a:solidFill>
                  <a:srgbClr val="FFFFFF"/>
                </a:solidFill>
              </a:rPr>
              <a:t>electronică Digitală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758408-1DD3-4BA0-B227-217A6D198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231886"/>
            <a:ext cx="6857999" cy="1323182"/>
          </a:xfrm>
        </p:spPr>
        <p:txBody>
          <a:bodyPr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ro-RO" sz="2800" dirty="0">
                <a:solidFill>
                  <a:schemeClr val="bg2"/>
                </a:solidFill>
              </a:rPr>
              <a:t>Curs </a:t>
            </a:r>
            <a:r>
              <a:rPr lang="en-US" sz="2800" dirty="0">
                <a:solidFill>
                  <a:schemeClr val="bg2"/>
                </a:solidFill>
              </a:rPr>
              <a:t>4</a:t>
            </a:r>
            <a:endParaRPr lang="ro-RO" sz="2800" dirty="0">
              <a:solidFill>
                <a:schemeClr val="bg2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ro-RO" sz="2800" cap="none" dirty="0">
                <a:solidFill>
                  <a:schemeClr val="bg2"/>
                </a:solidFill>
              </a:rPr>
              <a:t>Ș.l. dr. ing. Daniela Stănescu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94A90-6709-D451-6AB9-1477682F3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C074E6-ADCD-37B8-EBF0-1BB38EDF1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69829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434" y="221435"/>
            <a:ext cx="7524206" cy="653778"/>
          </a:xfrm>
        </p:spPr>
        <p:txBody>
          <a:bodyPr>
            <a:normAutofit/>
          </a:bodyPr>
          <a:lstStyle/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A218B-1A61-4B2D-89E8-80ED8CFCA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16" y="819785"/>
            <a:ext cx="11780522" cy="16099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Structură:</a:t>
            </a:r>
          </a:p>
          <a:p>
            <a:pPr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 → realizată din 2 materiale semiconductoare: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FAE6F-B836-4CF4-B7D9-784A5DCC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75BB9-62F9-4BCA-93C6-437778D7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</a:t>
            </a:fld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061039-AC4F-4F1E-9940-C16572DAA478}"/>
              </a:ext>
            </a:extLst>
          </p:cNvPr>
          <p:cNvSpPr txBox="1"/>
          <p:nvPr/>
        </p:nvSpPr>
        <p:spPr>
          <a:xfrm>
            <a:off x="7425397" y="4523573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b="1" dirty="0"/>
              <a:t>Fig.1  Dioda semiconductoare - Structura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937" y="4899453"/>
            <a:ext cx="10985863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Zona N: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sarcinile electrice negative (electronii) → majoritare;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sarcinile electrice pozitive (goluri) → minoritare (invers decât Zona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067" y="2241453"/>
            <a:ext cx="7242144" cy="1555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Zona P: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sarcinile electrice pozitive (goluri )→ majoritare;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sarcinile electrice  negative (electronii) → minoritare.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210" y="2294345"/>
            <a:ext cx="36957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5778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433" y="41431"/>
            <a:ext cx="7524206" cy="653778"/>
          </a:xfrm>
        </p:spPr>
        <p:txBody>
          <a:bodyPr>
            <a:normAutofit/>
          </a:bodyPr>
          <a:lstStyle/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FAE6F-B836-4CF4-B7D9-784A5DCC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75BB9-62F9-4BCA-93C6-437778D7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</a:t>
            </a:fld>
            <a:endParaRPr lang="ro-RO" dirty="0"/>
          </a:p>
        </p:txBody>
      </p:sp>
      <p:sp>
        <p:nvSpPr>
          <p:cNvPr id="10" name="Rectangle 9"/>
          <p:cNvSpPr/>
          <p:nvPr/>
        </p:nvSpPr>
        <p:spPr>
          <a:xfrm>
            <a:off x="119741" y="1863997"/>
            <a:ext cx="9653452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Există o </a:t>
            </a:r>
            <a:r>
              <a:rPr lang="ro-RO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distribuţie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neuniformă  sau concentrație diferită de sarcini electrice: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5875" y="4817126"/>
            <a:ext cx="974053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sarcinile electrice pozitive 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+)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deplasează din zona P către Zona N ;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sarcinile electrice negative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(-)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deplasează din zona N către Zona 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45693" y="5920427"/>
            <a:ext cx="690445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Zona de interconexiune → numită →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Zona de joncţiune</a:t>
            </a:r>
            <a:endParaRPr lang="ro-RO" sz="2200" dirty="0">
              <a:solidFill>
                <a:srgbClr val="00206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35875" y="2609880"/>
            <a:ext cx="4871847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fără a face nimic din exterior: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92159" y="3413421"/>
            <a:ext cx="4013984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 numit → Difuzie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768" y="2539163"/>
            <a:ext cx="375285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0E8AA39-8C34-579F-313A-621458F3A68E}"/>
              </a:ext>
            </a:extLst>
          </p:cNvPr>
          <p:cNvSpPr/>
          <p:nvPr/>
        </p:nvSpPr>
        <p:spPr>
          <a:xfrm>
            <a:off x="119741" y="646236"/>
            <a:ext cx="11621589" cy="10472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Principii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caracteristice</a:t>
            </a:r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ţie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semiconduct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raport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ate la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existenţa sarcinilor electrice din interiorul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569754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434" y="221435"/>
            <a:ext cx="7524206" cy="653778"/>
          </a:xfrm>
        </p:spPr>
        <p:txBody>
          <a:bodyPr>
            <a:normAutofit/>
          </a:bodyPr>
          <a:lstStyle/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FAE6F-B836-4CF4-B7D9-784A5DCC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75BB9-62F9-4BCA-93C6-437778D7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</a:t>
            </a:fld>
            <a:endParaRPr lang="ro-RO" dirty="0"/>
          </a:p>
        </p:txBody>
      </p:sp>
      <p:sp>
        <p:nvSpPr>
          <p:cNvPr id="17" name="Rectangle 16"/>
          <p:cNvSpPr/>
          <p:nvPr/>
        </p:nvSpPr>
        <p:spPr>
          <a:xfrm>
            <a:off x="316261" y="1155060"/>
            <a:ext cx="11559478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Prezenţa sarcinilor electrice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 la “+” la “-”) →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generează un </a:t>
            </a: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câmp electric de difuzie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se asociază o diferenţă de potenţial de difuzie şi se adoptă notaţia: 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Barieră de </a:t>
            </a:r>
            <a:r>
              <a:rPr lang="ro-RO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30486" y="1126749"/>
            <a:ext cx="161255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notat: 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3" name="Picture 3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048" y="3144662"/>
            <a:ext cx="3126284" cy="225935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93CB267-B5A6-4A52-9202-1404845C29D6}"/>
              </a:ext>
            </a:extLst>
          </p:cNvPr>
          <p:cNvSpPr txBox="1"/>
          <p:nvPr/>
        </p:nvSpPr>
        <p:spPr>
          <a:xfrm>
            <a:off x="2300252" y="5726295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Fig.</a:t>
            </a:r>
            <a:r>
              <a:rPr lang="en-US" sz="1400" b="1" dirty="0"/>
              <a:t>2</a:t>
            </a:r>
            <a:r>
              <a:rPr lang="ro-RO" sz="1400" b="1" dirty="0"/>
              <a:t> </a:t>
            </a:r>
            <a:r>
              <a:rPr lang="pt-BR" sz="1400" b="1" dirty="0"/>
              <a:t>Reprezentare câmp electric-barieră de potential</a:t>
            </a:r>
            <a:endParaRPr lang="ro-RO" sz="1400" b="1" dirty="0"/>
          </a:p>
        </p:txBody>
      </p:sp>
    </p:spTree>
    <p:extLst>
      <p:ext uri="{BB962C8B-B14F-4D97-AF65-F5344CB8AC3E}">
        <p14:creationId xmlns:p14="http://schemas.microsoft.com/office/powerpoint/2010/main" val="363652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434" y="221435"/>
            <a:ext cx="7524206" cy="653778"/>
          </a:xfrm>
        </p:spPr>
        <p:txBody>
          <a:bodyPr>
            <a:normAutofit/>
          </a:bodyPr>
          <a:lstStyle/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FAE6F-B836-4CF4-B7D9-784A5DCC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dirty="0"/>
              <a:t>Circuite Digitale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75BB9-62F9-4BCA-93C6-437778D7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</a:t>
            </a:fld>
            <a:endParaRPr lang="ro-RO" dirty="0"/>
          </a:p>
        </p:txBody>
      </p:sp>
      <p:sp>
        <p:nvSpPr>
          <p:cNvPr id="7" name="Rectangle 6"/>
          <p:cNvSpPr/>
          <p:nvPr/>
        </p:nvSpPr>
        <p:spPr>
          <a:xfrm>
            <a:off x="375073" y="731183"/>
            <a:ext cx="194155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Observaţie: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75073" y="1162070"/>
                <a:ext cx="11634653" cy="16008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Pentru a nu se opri procesul de Difuzie → respectiv → pentru a avea curent permanent: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 apelează la cel de-al doilea principiu: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Dispozitivului i se aplică un câmp electric din exterior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acc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fie dintr-un sens, fie din alt sens.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73" y="1162070"/>
                <a:ext cx="11634653" cy="1600823"/>
              </a:xfrm>
              <a:prstGeom prst="rect">
                <a:avLst/>
              </a:prstGeom>
              <a:blipFill>
                <a:blip r:embed="rId2"/>
                <a:stretch>
                  <a:fillRect l="-577" b="-6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1628272" y="2762893"/>
            <a:ext cx="1016206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Câmpul electric → provine din dezechilibrul de sarcini electrice: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cauzat de difuzia purtătorilor de sarcină în semiconductor.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Totul încetează → în momentul când se ajunge la un echilibru, şi anume: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câmpul electric → suficient de mare să se opună deplasărilor sarcinilor electrice.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216" y="4837058"/>
            <a:ext cx="18165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Concluzie: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495" y="5267945"/>
            <a:ext cx="1091207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Difuzia  purtătorilor de sarcină prin joncţiune → dinspre partea în care sunt majoritari: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proces ce se autolimitează.</a:t>
            </a:r>
          </a:p>
        </p:txBody>
      </p:sp>
    </p:spTree>
    <p:extLst>
      <p:ext uri="{BB962C8B-B14F-4D97-AF65-F5344CB8AC3E}">
        <p14:creationId xmlns:p14="http://schemas.microsoft.com/office/powerpoint/2010/main" val="2964530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8CBF60A-9028-4BA5-94B4-B9E90DC38F6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517077" y="1062608"/>
                <a:ext cx="7517459" cy="3658845"/>
              </a:xfrm>
            </p:spPr>
            <p:txBody>
              <a:bodyPr anchor="t">
                <a:no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 lângă câmpul electric de difuzie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ro-RO" sz="2200" i="1">
                        <a:latin typeface="Cambria Math"/>
                      </a:rPr>
                      <m:t> </m:t>
                    </m:r>
                    <m:r>
                      <a:rPr lang="ro-RO" sz="2200" b="0" i="0" smtClean="0">
                        <a:latin typeface="Cambria Math"/>
                      </a:rPr>
                      <m:t>:</m:t>
                    </m:r>
                  </m:oMath>
                </a14:m>
                <a:endParaRPr lang="ro-RO" sz="2200" b="0" dirty="0">
                  <a:latin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Apare şi → câmp electric exterior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/>
                          </a:rPr>
                          <m:t>e</m:t>
                        </m:r>
                      </m:sub>
                    </m:sSub>
                    <m:r>
                      <a:rPr lang="ro-RO" sz="2200" i="1">
                        <a:latin typeface="Cambria Math"/>
                      </a:rPr>
                      <m:t> 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 lângă bariera de 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potenţi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ro-RO" sz="2200" i="0">
                        <a:latin typeface="Cambria Math"/>
                      </a:rPr>
                      <m:t> 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534988"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Apare şi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poten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ţia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lul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la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borna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diodei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r>
                              <a:rPr lang="ro-RO" sz="22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106488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sSub>
                          <m:sSubPr>
                            <m:ctrlPr>
                              <a:rPr lang="ro-RO" sz="22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b="1" i="0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𝐝</m:t>
                            </m:r>
                          </m:e>
                          <m:sub>
                            <m:r>
                              <a:rPr lang="ro-RO" sz="2200" b="1" i="0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2200" b="1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𝐝</m:t>
                        </m:r>
                      </m:sub>
                    </m:sSub>
                  </m:oMath>
                </a14:m>
                <a:r>
                  <a:rPr lang="ro-RO" sz="2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649288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Îngreunarea deplasării sarcinilor electrice</a:t>
                </a:r>
                <a:r>
                  <a:rPr lang="en-US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majoritare</a:t>
                </a:r>
                <a:r>
                  <a:rPr lang="en-US" sz="2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o-RO" sz="2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8CBF60A-9028-4BA5-94B4-B9E90DC38F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517077" y="1062608"/>
                <a:ext cx="7517459" cy="3658845"/>
              </a:xfrm>
              <a:blipFill>
                <a:blip r:embed="rId2"/>
                <a:stretch>
                  <a:fillRect l="-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220E8-09AC-4F60-B3BD-25A1C2CAB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0FD11-19FC-4CD7-9F32-89D65FF08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</a:t>
            </a:fld>
            <a:endParaRPr lang="ro-R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6E7E95-746D-49BF-89EB-525062E9EDA6}"/>
                  </a:ext>
                </a:extLst>
              </p:cNvPr>
              <p:cNvSpPr txBox="1"/>
              <p:nvPr/>
            </p:nvSpPr>
            <p:spPr>
              <a:xfrm>
                <a:off x="74063" y="6294249"/>
                <a:ext cx="4534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/>
                  <a:t>Fig.3  Reprezentare câmp </a:t>
                </a:r>
                <a:r>
                  <a:rPr lang="ro-RO" sz="1400" b="1" dirty="0"/>
                  <a:t> </a:t>
                </a:r>
                <a:r>
                  <a:rPr lang="pt-BR" sz="1400" b="1" dirty="0"/>
                  <a:t>electric pentru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ro-RO" sz="14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pt-BR" sz="1400" b="1" dirty="0"/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ro-RO" sz="1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sub>
                    </m:sSub>
                  </m:oMath>
                </a14:m>
                <a:endParaRPr lang="ro-RO" sz="1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6E7E95-746D-49BF-89EB-525062E9E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3" y="6294249"/>
                <a:ext cx="4534486" cy="307777"/>
              </a:xfrm>
              <a:prstGeom prst="rect">
                <a:avLst/>
              </a:prstGeom>
              <a:blipFill>
                <a:blip r:embed="rId3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0862" y="87680"/>
            <a:ext cx="7524206" cy="653778"/>
          </a:xfrm>
        </p:spPr>
        <p:txBody>
          <a:bodyPr>
            <a:normAutofit/>
          </a:bodyPr>
          <a:lstStyle/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77175" y="1182306"/>
                <a:ext cx="1472583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o-RO" sz="2200" b="1" dirty="0">
                    <a:solidFill>
                      <a:srgbClr val="00B050"/>
                    </a:solidFill>
                  </a:rPr>
                  <a:t>1</a:t>
                </a: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𝐍</m:t>
                        </m:r>
                      </m:sub>
                    </m:sSub>
                    <m:r>
                      <a:rPr lang="ro-RO" sz="2200" b="1" i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ro-RO" sz="2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sub>
                    </m:sSub>
                  </m:oMath>
                </a14:m>
                <a:endParaRPr lang="ro-RO" sz="22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75" y="1182306"/>
                <a:ext cx="1472583" cy="430887"/>
              </a:xfrm>
              <a:prstGeom prst="rect">
                <a:avLst/>
              </a:prstGeom>
              <a:blipFill>
                <a:blip r:embed="rId4"/>
                <a:stretch>
                  <a:fillRect l="-5372" t="-11268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208167" y="585214"/>
            <a:ext cx="1144959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 → funcţie de două cazuri → când se va aplica o tensiune la terminalele joncţiunii: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D41CC7-C583-7793-F2F9-FF491B38DC22}"/>
                  </a:ext>
                </a:extLst>
              </p:cNvPr>
              <p:cNvSpPr txBox="1"/>
              <p:nvPr/>
            </p:nvSpPr>
            <p:spPr>
              <a:xfrm>
                <a:off x="4530566" y="4658603"/>
                <a:ext cx="7517459" cy="1555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20688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 acest fel de la N la P trece un curent invers limitat numit:</a:t>
                </a:r>
              </a:p>
              <a:p>
                <a:pPr marL="877888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 rezidual (de saturație)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notat cu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1335088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22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Datorat</a:t>
                </a:r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sarcinilor</a:t>
                </a:r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electrice</a:t>
                </a:r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minoritare</a:t>
                </a:r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o-RO" sz="2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D41CC7-C583-7793-F2F9-FF491B38D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0566" y="4658603"/>
                <a:ext cx="7517459" cy="1555041"/>
              </a:xfrm>
              <a:prstGeom prst="rect">
                <a:avLst/>
              </a:prstGeom>
              <a:blipFill>
                <a:blip r:embed="rId5"/>
                <a:stretch>
                  <a:fillRect b="-7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2E32DE35-50E9-F87A-F0BD-EE9118D258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975" y="1779399"/>
            <a:ext cx="4250034" cy="4514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9DB736-067C-10C2-C27B-6F52CA8AC081}"/>
              </a:ext>
            </a:extLst>
          </p:cNvPr>
          <p:cNvSpPr txBox="1"/>
          <p:nvPr/>
        </p:nvSpPr>
        <p:spPr>
          <a:xfrm>
            <a:off x="7416800" y="3459815"/>
            <a:ext cx="4617736" cy="539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0688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→ polarizată invers</a:t>
            </a:r>
          </a:p>
        </p:txBody>
      </p:sp>
    </p:spTree>
    <p:extLst>
      <p:ext uri="{BB962C8B-B14F-4D97-AF65-F5344CB8AC3E}">
        <p14:creationId xmlns:p14="http://schemas.microsoft.com/office/powerpoint/2010/main" val="4135915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8CBF60A-9028-4BA5-94B4-B9E90DC38F6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938597" y="684647"/>
                <a:ext cx="7241310" cy="3674918"/>
              </a:xfrm>
            </p:spPr>
            <p:txBody>
              <a:bodyPr anchor="t">
                <a:no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 lângă câmpul electric de difuzie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ro-RO" sz="2200" i="1">
                        <a:latin typeface="Cambria Math"/>
                      </a:rPr>
                      <m:t> </m:t>
                    </m:r>
                    <m:r>
                      <a:rPr lang="ro-RO" sz="2200" b="0" i="0" smtClean="0">
                        <a:latin typeface="Cambria Math"/>
                      </a:rPr>
                      <m:t>:</m:t>
                    </m:r>
                  </m:oMath>
                </a14:m>
                <a:endParaRPr lang="ro-RO" sz="2200" b="0" dirty="0">
                  <a:latin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Apare şi → câmp electric exterior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/>
                          </a:rPr>
                          <m:t>e</m:t>
                        </m:r>
                      </m:sub>
                    </m:sSub>
                    <m:r>
                      <a:rPr lang="ro-RO" sz="2200" i="1">
                        <a:latin typeface="Cambria Math"/>
                      </a:rPr>
                      <m:t> 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92088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 lângă bariera de potenţial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ro-RO" sz="2200" i="0">
                        <a:latin typeface="Cambria Math"/>
                      </a:rPr>
                      <m:t> 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534988"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Apare şi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poten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ţia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lul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la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borna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diodei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r>
                              <a:rPr lang="ro-RO" sz="22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106488" lvl="2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sSub>
                          <m:sSubPr>
                            <m:ctrlPr>
                              <a:rPr lang="ro-RO" sz="22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b="1" i="0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𝐝</m:t>
                            </m:r>
                          </m:e>
                          <m:sub>
                            <m:r>
                              <a:rPr lang="ro-RO" sz="2200" b="1" i="0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sub>
                    </m:sSub>
                    <m:r>
                      <a:rPr lang="ro-RO" sz="2200" b="1" i="0" dirty="0">
                        <a:solidFill>
                          <a:srgbClr val="002060"/>
                        </a:solidFill>
                        <a:latin typeface="Cambria Math"/>
                      </a:rPr>
                      <m:t>&lt;</m:t>
                    </m:r>
                  </m:oMath>
                </a14:m>
                <a:r>
                  <a:rPr lang="ro-RO" sz="2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2200" b="1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𝐝</m:t>
                        </m:r>
                      </m:sub>
                    </m:sSub>
                  </m:oMath>
                </a14:m>
                <a:endParaRPr lang="ro-RO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92088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Permite trecerea cu </a:t>
                </a:r>
                <a:r>
                  <a:rPr lang="ro-RO" sz="2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ușurinţă</a:t>
                </a: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sarcinilor electrice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8CBF60A-9028-4BA5-94B4-B9E90DC38F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938597" y="684647"/>
                <a:ext cx="7241310" cy="3674918"/>
              </a:xfrm>
              <a:blipFill>
                <a:blip r:embed="rId2"/>
                <a:stretch>
                  <a:fillRect l="-926" b="-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220E8-09AC-4F60-B3BD-25A1C2CAB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0FD11-19FC-4CD7-9F32-89D65FF08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7</a:t>
            </a:fld>
            <a:endParaRPr lang="ro-R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6E7E95-746D-49BF-89EB-525062E9EDA6}"/>
                  </a:ext>
                </a:extLst>
              </p:cNvPr>
              <p:cNvSpPr txBox="1"/>
              <p:nvPr/>
            </p:nvSpPr>
            <p:spPr>
              <a:xfrm>
                <a:off x="404111" y="6062106"/>
                <a:ext cx="4534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/>
                  <a:t>Fig.</a:t>
                </a:r>
                <a:r>
                  <a:rPr lang="en-US" sz="1400" b="1" dirty="0"/>
                  <a:t>4</a:t>
                </a:r>
                <a:r>
                  <a:rPr lang="ro-RO" sz="1400" b="1" dirty="0"/>
                  <a:t> </a:t>
                </a:r>
                <a:r>
                  <a:rPr lang="pt-BR" sz="1400" b="1" dirty="0"/>
                  <a:t> Reprezentare câmp </a:t>
                </a:r>
                <a:r>
                  <a:rPr lang="ro-RO" sz="1400" b="1" dirty="0"/>
                  <a:t> </a:t>
                </a:r>
                <a:r>
                  <a:rPr lang="pt-BR" sz="1400" b="1" dirty="0"/>
                  <a:t>electric pentru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b="1" i="0" smtClean="0">
                            <a:latin typeface="Cambria Math"/>
                          </a:rPr>
                          <m:t> </m:t>
                        </m:r>
                        <m:r>
                          <a:rPr lang="ro-RO" sz="1400" b="1" i="0" smtClean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1400" b="1" i="0" smtClean="0">
                            <a:latin typeface="Cambria Math"/>
                          </a:rPr>
                          <m:t>𝐏</m:t>
                        </m:r>
                        <m:r>
                          <a:rPr lang="ro-RO" sz="1400" b="1" i="0" smtClean="0">
                            <a:latin typeface="Cambria Math"/>
                          </a:rPr>
                          <m:t> </m:t>
                        </m:r>
                      </m:sub>
                    </m:sSub>
                  </m:oMath>
                </a14:m>
                <a:r>
                  <a:rPr lang="pt-BR" sz="1400" b="1" dirty="0"/>
                  <a:t>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1400" b="1" i="0" smtClean="0">
                            <a:latin typeface="Cambria Math"/>
                          </a:rPr>
                          <m:t>𝐍</m:t>
                        </m:r>
                      </m:sub>
                    </m:sSub>
                  </m:oMath>
                </a14:m>
                <a:endParaRPr lang="ro-RO" sz="1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6E7E95-746D-49BF-89EB-525062E9E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11" y="6062106"/>
                <a:ext cx="4534486" cy="307777"/>
              </a:xfrm>
              <a:prstGeom prst="rect">
                <a:avLst/>
              </a:prstGeom>
              <a:blipFill>
                <a:blip r:embed="rId3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4776" y="84850"/>
            <a:ext cx="7524206" cy="653778"/>
          </a:xfrm>
        </p:spPr>
        <p:txBody>
          <a:bodyPr>
            <a:normAutofit/>
          </a:bodyPr>
          <a:lstStyle/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49705" y="859894"/>
                <a:ext cx="1472583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o-RO" sz="2200" b="1" dirty="0">
                    <a:solidFill>
                      <a:srgbClr val="00B050"/>
                    </a:solidFill>
                  </a:rPr>
                  <a:t>2</a:t>
                </a: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2200" b="1" i="0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𝐏</m:t>
                        </m:r>
                      </m:sub>
                    </m:sSub>
                    <m:r>
                      <a:rPr lang="ro-RO" sz="2200" b="1" i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ro-RO" sz="2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2200" b="1" i="0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𝐍</m:t>
                        </m:r>
                      </m:sub>
                    </m:sSub>
                  </m:oMath>
                </a14:m>
                <a:endParaRPr lang="ro-RO" sz="22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05" y="859894"/>
                <a:ext cx="1472583" cy="430887"/>
              </a:xfrm>
              <a:prstGeom prst="rect">
                <a:avLst/>
              </a:prstGeom>
              <a:blipFill>
                <a:blip r:embed="rId4"/>
                <a:stretch>
                  <a:fillRect l="-5372" t="-11268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3">
            <a:extLst>
              <a:ext uri="{FF2B5EF4-FFF2-40B4-BE49-F238E27FC236}">
                <a16:creationId xmlns:a16="http://schemas.microsoft.com/office/drawing/2014/main" id="{1267091A-A789-17CA-066B-ECC39D28D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087" y="1431607"/>
            <a:ext cx="4368330" cy="4489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9D2B0D2-1360-1451-0A6C-A4F859E2BB95}"/>
                  </a:ext>
                </a:extLst>
              </p:cNvPr>
              <p:cNvSpPr txBox="1"/>
              <p:nvPr/>
            </p:nvSpPr>
            <p:spPr>
              <a:xfrm>
                <a:off x="4581235" y="4464989"/>
                <a:ext cx="7435273" cy="1047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168400" lvl="1" indent="-404813">
                  <a:lnSpc>
                    <a:spcPct val="150000"/>
                  </a:lnSpc>
                  <a:buFont typeface="Symbol"/>
                  <a:buChar char="Þ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Prin diodă va trece:</a:t>
                </a:r>
              </a:p>
              <a:p>
                <a:pPr marL="1625600" lvl="2" indent="-404813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 direct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datorat sarcinilor majoritare.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9D2B0D2-1360-1451-0A6C-A4F859E2B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235" y="4464989"/>
                <a:ext cx="7435273" cy="1047210"/>
              </a:xfrm>
              <a:prstGeom prst="rect">
                <a:avLst/>
              </a:prstGeom>
              <a:blipFill>
                <a:blip r:embed="rId6"/>
                <a:stretch>
                  <a:fillRect b="-110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7F79E9E1-DEDE-BBB5-0165-64BC35CD7B07}"/>
              </a:ext>
            </a:extLst>
          </p:cNvPr>
          <p:cNvSpPr/>
          <p:nvPr/>
        </p:nvSpPr>
        <p:spPr>
          <a:xfrm>
            <a:off x="6495593" y="5536754"/>
            <a:ext cx="3818738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20688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→ polarizată </a:t>
            </a:r>
            <a:r>
              <a:rPr lang="ro-RO" sz="2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</a:t>
            </a: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ro-RO" sz="2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28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9BF010-4CD8-49A9-BBEC-91C286CB4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74A057-5A3B-4BD9-80A6-6FE1374FF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8</a:t>
            </a:fld>
            <a:endParaRPr lang="ro-RO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7980C1-41A5-4464-817C-19F49F541AA9}"/>
              </a:ext>
            </a:extLst>
          </p:cNvPr>
          <p:cNvSpPr txBox="1">
            <a:spLocks/>
          </p:cNvSpPr>
          <p:nvPr/>
        </p:nvSpPr>
        <p:spPr>
          <a:xfrm>
            <a:off x="445476" y="2666400"/>
            <a:ext cx="10908323" cy="676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Dispozitivul prezentat poartă numele de →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Diodă semiconductoare bipolară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13332"/>
            <a:ext cx="10515600" cy="549275"/>
          </a:xfrm>
        </p:spPr>
        <p:txBody>
          <a:bodyPr>
            <a:normAutofit/>
          </a:bodyPr>
          <a:lstStyle/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3918528" y="4559536"/>
            <a:ext cx="5486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502" y="3775621"/>
            <a:ext cx="2285995" cy="110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428020" y="3596757"/>
                <a:ext cx="4450193" cy="21698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Anod – borna pozitivă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Catod – borna negativă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4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400">
                            <a:solidFill>
                              <a:srgbClr val="002060"/>
                            </a:solidFill>
                            <a:latin typeface="Cambria Math"/>
                          </a:rPr>
                          <m:t>d</m:t>
                        </m:r>
                      </m:sub>
                    </m:sSub>
                  </m:oMath>
                </a14:m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Diferenţa de tensiune între: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şi C</a:t>
                </a: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8020" y="3596757"/>
                <a:ext cx="4450193" cy="2169825"/>
              </a:xfrm>
              <a:prstGeom prst="rect">
                <a:avLst/>
              </a:prstGeom>
              <a:blipFill>
                <a:blip r:embed="rId3"/>
                <a:stretch>
                  <a:fillRect l="-1918" b="-2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623579" y="4260289"/>
            <a:ext cx="3199915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Reprezentare simbolică: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7E8453C-E66B-BFB5-C0B3-F992441B3AAD}"/>
                  </a:ext>
                </a:extLst>
              </p:cNvPr>
              <p:cNvSpPr/>
              <p:nvPr/>
            </p:nvSpPr>
            <p:spPr>
              <a:xfrm>
                <a:off x="319202" y="836079"/>
                <a:ext cx="11034597" cy="16012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20688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Într-un material semiconductor există:</a:t>
                </a:r>
              </a:p>
              <a:p>
                <a:pPr marL="877888" lvl="1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 electric generat de sarcini electrice minoritare </a:t>
                </a: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000">
                            <a:solidFill>
                              <a:srgbClr val="002060"/>
                            </a:solidFill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a:rPr lang="ro-RO" sz="2000">
                            <a:solidFill>
                              <a:srgbClr val="00206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 rezidual (saturaţie)</a:t>
                </a:r>
              </a:p>
              <a:p>
                <a:pPr marL="877888" lvl="1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Curent electric generat de sarcini electrice majoritare </a:t>
                </a: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000">
                            <a:solidFill>
                              <a:srgbClr val="002060"/>
                            </a:solidFill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0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d</m:t>
                        </m:r>
                      </m:sub>
                    </m:sSub>
                  </m:oMath>
                </a14:m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curent direct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7E8453C-E66B-BFB5-C0B3-F992441B3A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02" y="836079"/>
                <a:ext cx="11034597" cy="1601208"/>
              </a:xfrm>
              <a:prstGeom prst="rect">
                <a:avLst/>
              </a:prstGeom>
              <a:blipFill>
                <a:blip r:embed="rId4"/>
                <a:stretch>
                  <a:fillRect b="-6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8929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D8D77-9A40-42A9-BE56-6FEB5A23A8F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24073" y="3155632"/>
                <a:ext cx="5181600" cy="338328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6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– </a:t>
                </a:r>
                <a:r>
                  <a:rPr lang="it-IT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ul ce trece prin diodă</a:t>
                </a:r>
              </a:p>
              <a:p>
                <a:pPr>
                  <a:lnSpc>
                    <a:spcPct val="16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rezidual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saturație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limitat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6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tensiune termică</a:t>
                </a:r>
              </a:p>
              <a:p>
                <a:pPr lvl="1">
                  <a:lnSpc>
                    <a:spcPct val="16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26 mV →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25°C :</a:t>
                </a:r>
              </a:p>
              <a:p>
                <a:pPr lvl="2">
                  <a:lnSpc>
                    <a:spcPct val="160000"/>
                  </a:lnSpc>
                  <a:buFont typeface="Courier New" panose="02070309020205020404" pitchFamily="49" charset="0"/>
                  <a:buChar char="o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modifică cu → -2mV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°C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D8D77-9A40-42A9-BE56-6FEB5A23A8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24073" y="3155632"/>
                <a:ext cx="5181600" cy="3383280"/>
              </a:xfrm>
              <a:blipFill>
                <a:blip r:embed="rId2"/>
                <a:stretch>
                  <a:fillRect l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78E32C84-2E31-4F0D-9283-4B537A75B70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096000" y="3125045"/>
                <a:ext cx="5941423" cy="3116127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  <a:tabLst>
                    <a:tab pos="42195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0" smtClean="0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pt-B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factorul de recombinare a sarcinilor electrice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pt-BR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tabLst>
                    <a:tab pos="4219575" algn="l"/>
                  </a:tabLst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pt-B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alori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2">
                  <a:lnSpc>
                    <a:spcPct val="150000"/>
                  </a:lnSpc>
                  <a:buFont typeface="Courier New" panose="02070309020205020404" pitchFamily="49" charset="0"/>
                  <a:buChar char="o"/>
                  <a:tabLst>
                    <a:tab pos="42195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0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 (Si);</a:t>
                </a:r>
              </a:p>
              <a:p>
                <a:pPr lvl="2">
                  <a:lnSpc>
                    <a:spcPct val="150000"/>
                  </a:lnSpc>
                  <a:buFont typeface="Courier New" panose="02070309020205020404" pitchFamily="49" charset="0"/>
                  <a:buChar char="o"/>
                  <a:tabLst>
                    <a:tab pos="42195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0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(Ge)</a:t>
                </a:r>
                <a:endParaRPr lang="ro-RO" sz="2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diferența de </a:t>
                </a:r>
                <a:r>
                  <a:rPr lang="it-IT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tensiune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între borna (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și (-) a </a:t>
                </a:r>
                <a:r>
                  <a:rPr lang="it-IT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diod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ei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78E32C84-2E31-4F0D-9283-4B537A75B7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096000" y="3125045"/>
                <a:ext cx="5941423" cy="3116127"/>
              </a:xfrm>
              <a:blipFill>
                <a:blip r:embed="rId3"/>
                <a:stretch>
                  <a:fillRect l="-1128" b="-1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9BF010-4CD8-49A9-BBEC-91C286CB4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4073" y="6395027"/>
            <a:ext cx="4114800" cy="365125"/>
          </a:xfrm>
        </p:spPr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74A057-5A3B-4BD9-80A6-6FE1374FF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9</a:t>
            </a:fld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645EFC-772E-4579-8C91-A721334F8771}"/>
              </a:ext>
            </a:extLst>
          </p:cNvPr>
          <p:cNvSpPr txBox="1"/>
          <p:nvPr/>
        </p:nvSpPr>
        <p:spPr>
          <a:xfrm>
            <a:off x="8583470" y="2142230"/>
            <a:ext cx="31230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rgbClr val="0070C0"/>
                </a:solidFill>
              </a:rPr>
              <a:t>Ecuaţia</a:t>
            </a:r>
            <a:r>
              <a:rPr lang="en-US" sz="2000" b="1" dirty="0">
                <a:solidFill>
                  <a:srgbClr val="0070C0"/>
                </a:solidFill>
              </a:rPr>
              <a:t> </a:t>
            </a:r>
            <a:r>
              <a:rPr lang="en-US" sz="2000" b="1" dirty="0" err="1">
                <a:solidFill>
                  <a:srgbClr val="0070C0"/>
                </a:solidFill>
              </a:rPr>
              <a:t>fundamentală</a:t>
            </a:r>
            <a:r>
              <a:rPr lang="en-US" sz="2000" b="1" dirty="0">
                <a:solidFill>
                  <a:srgbClr val="0070C0"/>
                </a:solidFill>
              </a:rPr>
              <a:t> a </a:t>
            </a:r>
            <a:r>
              <a:rPr lang="en-US" sz="2000" b="1" dirty="0" err="1">
                <a:solidFill>
                  <a:srgbClr val="0070C0"/>
                </a:solidFill>
              </a:rPr>
              <a:t>diodelor</a:t>
            </a:r>
            <a:r>
              <a:rPr lang="en-US" sz="2000" b="1" dirty="0">
                <a:solidFill>
                  <a:srgbClr val="0070C0"/>
                </a:solidFill>
              </a:rPr>
              <a:t> </a:t>
            </a:r>
            <a:r>
              <a:rPr lang="en-US" sz="2000" b="1" dirty="0" err="1">
                <a:solidFill>
                  <a:srgbClr val="0070C0"/>
                </a:solidFill>
              </a:rPr>
              <a:t>semiconductoare</a:t>
            </a:r>
            <a:r>
              <a:rPr lang="en-US" sz="2000" b="1" dirty="0">
                <a:solidFill>
                  <a:srgbClr val="0070C0"/>
                </a:solidFill>
              </a:rPr>
              <a:t> </a:t>
            </a:r>
            <a:endParaRPr lang="ro-RO" sz="2000" dirty="0">
              <a:solidFill>
                <a:srgbClr val="0070C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D17980C1-41A5-4464-817C-19F49F541A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476" y="1011680"/>
                <a:ext cx="10908323" cy="178276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 ce s-a prezentat poate fi exprimat matematic printr-o 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Ecuaţie idealizată specifică diodelor:</a:t>
                </a:r>
              </a:p>
              <a:p>
                <a:pPr algn="ctr">
                  <a:buFont typeface="Wingdings" panose="05000000000000000000" pitchFamily="2" charset="2"/>
                  <a:buChar char="Ø"/>
                </a:pPr>
                <a:r>
                  <a:rPr lang="ro-RO" sz="22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𝐈</m:t>
                    </m:r>
                    <m:r>
                      <a:rPr lang="en-US" sz="2200" b="1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en-US" sz="2200" b="1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200" b="1" i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200" b="1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ro-RO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p>
                        <m:f>
                          <m:fPr>
                            <m:ctrlPr>
                              <a:rPr lang="ro-RO" sz="22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𝐔</m:t>
                                </m:r>
                              </m:e>
                              <m:sub>
                                <m:r>
                                  <a:rPr lang="ro-RO" sz="2200" b="1" i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200" b="1" i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𝛈</m:t>
                            </m:r>
                            <m:r>
                              <a:rPr lang="en-US" sz="2200" b="1" i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ro-RO" sz="22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o-RO" sz="2200" b="1" i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𝐕</m:t>
                                </m:r>
                              </m:e>
                              <m:sub>
                                <m:r>
                                  <a:rPr lang="en-US" sz="2200" b="1" i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𝐓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sz="2200" b="1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1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200" b="1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o-RO" sz="22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D17980C1-41A5-4464-817C-19F49F541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76" y="1011680"/>
                <a:ext cx="10908323" cy="1782761"/>
              </a:xfrm>
              <a:prstGeom prst="rect">
                <a:avLst/>
              </a:prstGeom>
              <a:blipFill>
                <a:blip r:embed="rId4"/>
                <a:stretch>
                  <a:fillRect l="-615" b="-4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>
            <a:off x="7720149" y="2496173"/>
            <a:ext cx="5878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5066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7685C-7121-4060-97AC-BD5DFD49E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6833C-319E-4E4A-B600-858D8E5A6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10</a:t>
            </a:fld>
            <a:endParaRPr lang="ro-RO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25D129-7A66-47B0-BE78-D3F072076FB6}"/>
              </a:ext>
            </a:extLst>
          </p:cNvPr>
          <p:cNvSpPr txBox="1"/>
          <p:nvPr/>
        </p:nvSpPr>
        <p:spPr>
          <a:xfrm>
            <a:off x="552993" y="5992383"/>
            <a:ext cx="4858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Fig.5 Caracteristica V/A pentru o diodă semiconductoare</a:t>
            </a:r>
            <a:endParaRPr lang="ro-RO" sz="14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411" y="1092258"/>
            <a:ext cx="1143653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Caracteristica V/A </a:t>
            </a:r>
            <a:r>
              <a:rPr lang="ro-RO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diodei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semiconductoare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aproape de caracteristica  ideală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5455146" y="5227354"/>
                <a:ext cx="6477951" cy="11079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649287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Practic  interesează în funcţie de cum:</a:t>
                </a:r>
              </a:p>
              <a:p>
                <a:pPr marL="1106487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răspunde circuitul la tensiunea de prag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ro-RO" sz="2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146" y="5227354"/>
                <a:ext cx="6477951" cy="1107996"/>
              </a:xfrm>
              <a:prstGeom prst="rect">
                <a:avLst/>
              </a:prstGeom>
              <a:blipFill rotWithShape="1">
                <a:blip r:embed="rId2"/>
                <a:stretch>
                  <a:fillRect b="-497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529943" y="1563383"/>
                <a:ext cx="2856411" cy="5459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/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Dacă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ro-RO" sz="2200" b="0" i="0" smtClean="0">
                        <a:solidFill>
                          <a:srgbClr val="002060"/>
                        </a:solidFill>
                        <a:latin typeface="Cambria Math"/>
                      </a:rPr>
                      <m:t>:</m:t>
                    </m:r>
                  </m:oMath>
                </a14:m>
                <a:endParaRPr lang="ro-RO" sz="2200" b="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943" y="1563383"/>
                <a:ext cx="2856411" cy="545919"/>
              </a:xfrm>
              <a:prstGeom prst="rect">
                <a:avLst/>
              </a:prstGeom>
              <a:blipFill rotWithShape="1">
                <a:blip r:embed="rId3"/>
                <a:stretch>
                  <a:fillRect l="-2132" b="-2000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5687438" y="2109302"/>
                <a:ext cx="6244045" cy="5393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711200" lvl="1" indent="-404813">
                  <a:lnSpc>
                    <a:spcPct val="150000"/>
                  </a:lnSpc>
                  <a:buFont typeface="Symbol"/>
                  <a:buChar char="Þ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(neglijabil, nu poate influenţa logica)</a:t>
                </a:r>
                <a:endParaRPr lang="ro-RO" sz="2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438" y="2109302"/>
                <a:ext cx="6244045" cy="539378"/>
              </a:xfrm>
              <a:prstGeom prst="rect">
                <a:avLst/>
              </a:prstGeom>
              <a:blipFill rotWithShape="1">
                <a:blip r:embed="rId4"/>
                <a:stretch>
                  <a:fillRect b="-2272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687438" y="3478713"/>
                <a:ext cx="2196307" cy="5393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Dacă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o-RO" sz="2200" dirty="0">
                  <a:solidFill>
                    <a:srgbClr val="00206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438" y="3478713"/>
                <a:ext cx="2196307" cy="539378"/>
              </a:xfrm>
              <a:prstGeom prst="rect">
                <a:avLst/>
              </a:prstGeom>
              <a:blipFill rotWithShape="1">
                <a:blip r:embed="rId5"/>
                <a:stretch>
                  <a:fillRect l="-3056" b="-2272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6154220" y="4100917"/>
                <a:ext cx="2125980" cy="6001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54000" indent="-404813">
                  <a:lnSpc>
                    <a:spcPct val="150000"/>
                  </a:lnSpc>
                  <a:buFont typeface="Symbol"/>
                  <a:buChar char="Þ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220" y="4100917"/>
                <a:ext cx="2125980" cy="600164"/>
              </a:xfrm>
              <a:prstGeom prst="rect">
                <a:avLst/>
              </a:prstGeom>
              <a:blipFill rotWithShape="1">
                <a:blip r:embed="rId6"/>
                <a:stretch>
                  <a:fillRect l="-4023" b="-1020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37" y="1836342"/>
            <a:ext cx="4108821" cy="345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/>
          <p:cNvSpPr/>
          <p:nvPr/>
        </p:nvSpPr>
        <p:spPr>
          <a:xfrm>
            <a:off x="6683480" y="2669646"/>
            <a:ext cx="2800154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0" indent="-4048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→ blocată</a:t>
            </a:r>
            <a:endParaRPr lang="ro-RO" sz="2200" dirty="0">
              <a:solidFill>
                <a:srgbClr val="00B050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880123" y="4701081"/>
            <a:ext cx="2800154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0" indent="-4048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→ conducţie</a:t>
            </a:r>
            <a:endParaRPr lang="ro-RO" sz="2200" dirty="0">
              <a:solidFill>
                <a:srgbClr val="00B050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58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2D3E3-E0DA-4993-A096-E2A86A9579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6094" y="4682833"/>
                <a:ext cx="5179469" cy="1799511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Rezistenţa directă prin care trece un curent direct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ro-RO" sz="2200" b="0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Tensiunea de prag.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2D3E3-E0DA-4993-A096-E2A86A9579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6094" y="4682833"/>
                <a:ext cx="5179469" cy="1799511"/>
              </a:xfrm>
              <a:blipFill>
                <a:blip r:embed="rId2"/>
                <a:stretch>
                  <a:fillRect l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11</a:t>
            </a:fld>
            <a:endParaRPr lang="ro-RO" dirty="0"/>
          </a:p>
        </p:txBody>
      </p:sp>
      <p:sp>
        <p:nvSpPr>
          <p:cNvPr id="11" name="Rectangle 10"/>
          <p:cNvSpPr/>
          <p:nvPr/>
        </p:nvSpPr>
        <p:spPr>
          <a:xfrm>
            <a:off x="76200" y="649556"/>
            <a:ext cx="99060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iod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regim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comutaţie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simplificată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următor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731" y="2349275"/>
            <a:ext cx="2791894" cy="2059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B5260F-39AD-F0B0-31A1-FB4C1E0D7F1B}"/>
              </a:ext>
            </a:extLst>
          </p:cNvPr>
          <p:cNvSpPr txBox="1">
            <a:spLocks/>
          </p:cNvSpPr>
          <p:nvPr/>
        </p:nvSpPr>
        <p:spPr>
          <a:xfrm>
            <a:off x="349318" y="1198831"/>
            <a:ext cx="3982536" cy="6361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deschisă (în </a:t>
            </a:r>
            <a:r>
              <a:rPr lang="ro-RO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conducţie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o-RO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9CC2C1-8EA2-F5A0-A557-754E573F1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13332"/>
            <a:ext cx="10515600" cy="549275"/>
          </a:xfrm>
        </p:spPr>
        <p:txBody>
          <a:bodyPr>
            <a:normAutofit/>
          </a:bodyPr>
          <a:lstStyle/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9848D0-46BD-DC40-6E81-342317721307}"/>
                  </a:ext>
                </a:extLst>
              </p:cNvPr>
              <p:cNvSpPr txBox="1"/>
              <p:nvPr/>
            </p:nvSpPr>
            <p:spPr>
              <a:xfrm>
                <a:off x="1547515" y="1834987"/>
                <a:ext cx="1810327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𝐔</m:t>
                        </m:r>
                      </m:e>
                      <m:sub>
                        <m:r>
                          <a:rPr lang="en-US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sub>
                    </m:sSub>
                  </m:oMath>
                </a14:m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en-US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𝐓</m:t>
                        </m:r>
                      </m:sub>
                    </m:sSub>
                  </m:oMath>
                </a14:m>
                <a:endParaRPr lang="en-US" sz="22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9848D0-46BD-DC40-6E81-342317721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515" y="1834987"/>
                <a:ext cx="1810327" cy="430887"/>
              </a:xfrm>
              <a:prstGeom prst="rect">
                <a:avLst/>
              </a:prstGeom>
              <a:blipFill>
                <a:blip r:embed="rId4"/>
                <a:stretch>
                  <a:fillRect l="-4040" t="-11268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F07E789-BCD2-5F74-A493-5471BC6C5EC0}"/>
              </a:ext>
            </a:extLst>
          </p:cNvPr>
          <p:cNvSpPr txBox="1">
            <a:spLocks/>
          </p:cNvSpPr>
          <p:nvPr/>
        </p:nvSpPr>
        <p:spPr>
          <a:xfrm>
            <a:off x="6441905" y="1219195"/>
            <a:ext cx="4716827" cy="549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blocată (polarizată invers):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5C0F837-E387-1142-B3BC-9E37BDACA0B9}"/>
                  </a:ext>
                </a:extLst>
              </p:cNvPr>
              <p:cNvSpPr txBox="1"/>
              <p:nvPr/>
            </p:nvSpPr>
            <p:spPr>
              <a:xfrm>
                <a:off x="7705436" y="1766107"/>
                <a:ext cx="1810327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𝐔</m:t>
                        </m:r>
                      </m:e>
                      <m:sub>
                        <m:r>
                          <a:rPr lang="en-US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sub>
                    </m:sSub>
                  </m:oMath>
                </a14:m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</a:t>
                </a: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en-US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𝐓</m:t>
                        </m:r>
                      </m:sub>
                    </m:sSub>
                  </m:oMath>
                </a14:m>
                <a:endParaRPr lang="en-US" sz="22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5C0F837-E387-1142-B3BC-9E37BDACA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436" y="1766107"/>
                <a:ext cx="1810327" cy="430887"/>
              </a:xfrm>
              <a:prstGeom prst="rect">
                <a:avLst/>
              </a:prstGeom>
              <a:blipFill>
                <a:blip r:embed="rId5"/>
                <a:stretch>
                  <a:fillRect l="-3704" t="-11429" b="-2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3">
            <a:extLst>
              <a:ext uri="{FF2B5EF4-FFF2-40B4-BE49-F238E27FC236}">
                <a16:creationId xmlns:a16="http://schemas.microsoft.com/office/drawing/2014/main" id="{9775426B-8C9D-56E2-993A-695AB9686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652" y="2275405"/>
            <a:ext cx="3005332" cy="1990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70C57EF-3A3D-3FE5-DEBC-FA6D29F624A6}"/>
                  </a:ext>
                </a:extLst>
              </p:cNvPr>
              <p:cNvSpPr txBox="1"/>
              <p:nvPr/>
            </p:nvSpPr>
            <p:spPr>
              <a:xfrm>
                <a:off x="5899906" y="4607369"/>
                <a:ext cx="6096000" cy="20628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</a:rPr>
                          <m:t>i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Rezistenţa inversă prin care trece un curent invers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sz="22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;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Dacă rezistenţa este foarte mare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curentul este neglijabil.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70C57EF-3A3D-3FE5-DEBC-FA6D29F62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906" y="4607369"/>
                <a:ext cx="6096000" cy="2062872"/>
              </a:xfrm>
              <a:prstGeom prst="rect">
                <a:avLst/>
              </a:prstGeom>
              <a:blipFill>
                <a:blip r:embed="rId7"/>
                <a:stretch>
                  <a:fillRect l="-1200" b="-5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01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676" y="1440106"/>
            <a:ext cx="7232647" cy="417524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Diode semiconductoare :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D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D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1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intrarea diodelor → se aplică trei variabile A, B, C:</a:t>
            </a: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D.p.d.v. electric reprezintă 3 tensiuni :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Rezistenţa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limitare curent</a:t>
            </a:r>
          </a:p>
          <a:p>
            <a:pPr lvl="0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ieşire rezultă funcţia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o-RO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Circuitul de ieşire este conectat la o sursă de alimentare pozitivă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12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8541838" y="5738613"/>
            <a:ext cx="33101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Fig.7 </a:t>
            </a:r>
            <a:r>
              <a:rPr lang="en-US" sz="1400" b="1" dirty="0" err="1"/>
              <a:t>Poarta</a:t>
            </a:r>
            <a:r>
              <a:rPr lang="en-US" sz="1400" b="1" dirty="0"/>
              <a:t> ŞI cu diode </a:t>
            </a:r>
            <a:r>
              <a:rPr lang="en-US" sz="1400" b="1" dirty="0" err="1"/>
              <a:t>semiconductoare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cu diode semiconductoare</a:t>
            </a:r>
            <a:endParaRPr lang="ro-RO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3227" y="1088377"/>
            <a:ext cx="3801574" cy="4155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633334" y="788295"/>
            <a:ext cx="2496727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Structură: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5064370" y="1934308"/>
            <a:ext cx="4157407" cy="7268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064370" y="1934308"/>
            <a:ext cx="4103076" cy="16881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064370" y="1969478"/>
            <a:ext cx="4376426" cy="25673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5717442" y="2942492"/>
            <a:ext cx="2394927" cy="1055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Arrow Connector 1024"/>
          <p:cNvCxnSpPr/>
          <p:nvPr/>
        </p:nvCxnSpPr>
        <p:spPr>
          <a:xfrm>
            <a:off x="5717442" y="3048000"/>
            <a:ext cx="2394927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Arrow Connector 1027"/>
          <p:cNvCxnSpPr/>
          <p:nvPr/>
        </p:nvCxnSpPr>
        <p:spPr>
          <a:xfrm>
            <a:off x="5717442" y="3048000"/>
            <a:ext cx="2476989" cy="14888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Arrow Connector 1029"/>
          <p:cNvCxnSpPr/>
          <p:nvPr/>
        </p:nvCxnSpPr>
        <p:spPr>
          <a:xfrm flipV="1">
            <a:off x="2180492" y="2297723"/>
            <a:ext cx="7831016" cy="13247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Arrow Connector 1031"/>
          <p:cNvCxnSpPr/>
          <p:nvPr/>
        </p:nvCxnSpPr>
        <p:spPr>
          <a:xfrm flipV="1">
            <a:off x="3962400" y="3048000"/>
            <a:ext cx="7326923" cy="11723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Arrow Connector 1033"/>
          <p:cNvCxnSpPr/>
          <p:nvPr/>
        </p:nvCxnSpPr>
        <p:spPr>
          <a:xfrm flipV="1">
            <a:off x="2403231" y="1688123"/>
            <a:ext cx="7608277" cy="35554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5" name="Rectangle 1034"/>
          <p:cNvSpPr/>
          <p:nvPr/>
        </p:nvSpPr>
        <p:spPr>
          <a:xfrm>
            <a:off x="179142" y="5527597"/>
            <a:ext cx="7933227" cy="1234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lnSpc>
                <a:spcPct val="16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Toate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tensiunile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→se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verifică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un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punct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comun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numit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2" indent="-342900">
              <a:lnSpc>
                <a:spcPct val="16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punct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referinţă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mas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 (notat - GND)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47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13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394300" y="5366450"/>
            <a:ext cx="33101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Fig.7 </a:t>
            </a:r>
            <a:r>
              <a:rPr lang="en-US" sz="1400" b="1" dirty="0" err="1"/>
              <a:t>Poarta</a:t>
            </a:r>
            <a:r>
              <a:rPr lang="en-US" sz="1400" b="1" dirty="0"/>
              <a:t> ŞI cu diode </a:t>
            </a:r>
            <a:r>
              <a:rPr lang="en-US" sz="1400" b="1" dirty="0" err="1"/>
              <a:t>semiconductoare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01690" y="153253"/>
            <a:ext cx="6588368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cu diode semiconductoare</a:t>
            </a:r>
            <a:endParaRPr lang="ro-RO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00" y="1057353"/>
            <a:ext cx="3801574" cy="4155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865077" y="1898647"/>
            <a:ext cx="6096000" cy="364715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Condiţie preliminară: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 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nivel logic superior: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3÷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5V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nivel logic inferior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0V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10÷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15V</a:t>
            </a:r>
          </a:p>
        </p:txBody>
      </p:sp>
      <p:sp>
        <p:nvSpPr>
          <p:cNvPr id="9" name="Rectangle 8"/>
          <p:cNvSpPr/>
          <p:nvPr/>
        </p:nvSpPr>
        <p:spPr>
          <a:xfrm>
            <a:off x="5095816" y="1084642"/>
            <a:ext cx="3590983" cy="5305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Funcţionare logică</a:t>
            </a:r>
            <a:endParaRPr lang="ro-RO" sz="2800" dirty="0"/>
          </a:p>
        </p:txBody>
      </p:sp>
    </p:spTree>
    <p:extLst>
      <p:ext uri="{BB962C8B-B14F-4D97-AF65-F5344CB8AC3E}">
        <p14:creationId xmlns:p14="http://schemas.microsoft.com/office/powerpoint/2010/main" val="1159650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14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394300" y="5683231"/>
            <a:ext cx="33101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Fig.7 </a:t>
            </a:r>
            <a:r>
              <a:rPr lang="en-US" sz="1400" b="1" dirty="0" err="1"/>
              <a:t>Poarta</a:t>
            </a:r>
            <a:r>
              <a:rPr lang="en-US" sz="1400" b="1" dirty="0"/>
              <a:t> ŞI cu diode </a:t>
            </a:r>
            <a:r>
              <a:rPr lang="en-US" sz="1400" b="1" dirty="0" err="1"/>
              <a:t>semiconductoare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cu diode semiconductoare. Funcţionare logică.</a:t>
            </a:r>
            <a:endParaRPr lang="ro-RO" sz="2800" dirty="0"/>
          </a:p>
        </p:txBody>
      </p:sp>
      <p:sp>
        <p:nvSpPr>
          <p:cNvPr id="13" name="Rectangle 12"/>
          <p:cNvSpPr/>
          <p:nvPr/>
        </p:nvSpPr>
        <p:spPr>
          <a:xfrm>
            <a:off x="4865077" y="1007691"/>
            <a:ext cx="3512421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Scenarii:</a:t>
            </a:r>
          </a:p>
        </p:txBody>
      </p:sp>
      <p:sp>
        <p:nvSpPr>
          <p:cNvPr id="3" name="Rectangle 2"/>
          <p:cNvSpPr/>
          <p:nvPr/>
        </p:nvSpPr>
        <p:spPr>
          <a:xfrm>
            <a:off x="4607169" y="1696558"/>
            <a:ext cx="742070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presupune că la toate intrările se aplică nivel logic inferior:</a:t>
            </a:r>
            <a:endParaRPr lang="en-US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Între tensiunea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şi oricare dintre intrări → (V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există o cădere de tensiune maximă → 15V.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7442" y="3822872"/>
            <a:ext cx="4418197" cy="666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fontAlgn="base">
              <a:lnSpc>
                <a:spcPct val="200000"/>
              </a:lnSpc>
              <a:buFont typeface="Symbol"/>
              <a:buChar char="Þ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polarizate direct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9876" y="4729123"/>
            <a:ext cx="589670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 D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 trece un curent direct (I):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depinde de dimensionarea rezistenţei R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22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528" y="1696558"/>
            <a:ext cx="3190435" cy="358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 flipH="1" flipV="1">
            <a:off x="2625969" y="2157046"/>
            <a:ext cx="5111262" cy="9964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137138" y="3153508"/>
            <a:ext cx="6600093" cy="937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691BD8-8A7C-C092-CC03-F7E26ACB8D3C}"/>
              </a:ext>
            </a:extLst>
          </p:cNvPr>
          <p:cNvCxnSpPr/>
          <p:nvPr/>
        </p:nvCxnSpPr>
        <p:spPr>
          <a:xfrm flipH="1" flipV="1">
            <a:off x="3306618" y="2955636"/>
            <a:ext cx="6829021" cy="2142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248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15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394300" y="5683231"/>
            <a:ext cx="33101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Fig.7 </a:t>
            </a:r>
            <a:r>
              <a:rPr lang="en-US" sz="1400" b="1" dirty="0" err="1"/>
              <a:t>Poarta</a:t>
            </a:r>
            <a:r>
              <a:rPr lang="en-US" sz="1400" b="1" dirty="0"/>
              <a:t> ŞI cu diode </a:t>
            </a:r>
            <a:r>
              <a:rPr lang="en-US" sz="1400" b="1" dirty="0" err="1"/>
              <a:t>semiconductoare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cu diode semiconductoare. Funcţionare logică.</a:t>
            </a:r>
            <a:endParaRPr lang="ro-RO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" y="820615"/>
            <a:ext cx="3801574" cy="4155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4607170" y="1696558"/>
            <a:ext cx="134815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Dacă:</a:t>
            </a:r>
            <a:endParaRPr lang="en-US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19565" y="2296722"/>
            <a:ext cx="368883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fontAlgn="base">
              <a:lnSpc>
                <a:spcPct val="200000"/>
              </a:lnSpc>
              <a:buFont typeface="Symbol"/>
              <a:buChar char="Þ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conducţie</a:t>
            </a:r>
          </a:p>
        </p:txBody>
      </p:sp>
      <p:sp>
        <p:nvSpPr>
          <p:cNvPr id="2" name="Rectangle 1"/>
          <p:cNvSpPr/>
          <p:nvPr/>
        </p:nvSpPr>
        <p:spPr>
          <a:xfrm>
            <a:off x="5717442" y="1754056"/>
            <a:ext cx="2312364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194" y="3541833"/>
            <a:ext cx="808918" cy="1433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4454769" y="3159463"/>
            <a:ext cx="6096000" cy="1615827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  </a:t>
            </a:r>
            <a:endParaRPr lang="en-US" sz="22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căderea ce apare pe diode (V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Dacă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se poate neglija 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589613" y="4661689"/>
                <a:ext cx="3826311" cy="14465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00100" lvl="1" indent="-342900" fontAlgn="base">
                  <a:lnSpc>
                    <a:spcPct val="200000"/>
                  </a:lnSpc>
                  <a:buFont typeface="Symbol"/>
                  <a:buChar char="Þ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 fontAlgn="base">
                  <a:lnSpc>
                    <a:spcPct val="200000"/>
                  </a:lnSpc>
                  <a:buFont typeface="Symbol"/>
                  <a:buChar char="Þ"/>
                </a:pP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o-RO" sz="2200" b="1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en-US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200" b="1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endParaRPr lang="en-US" sz="2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9613" y="4661689"/>
                <a:ext cx="3826311" cy="1446550"/>
              </a:xfrm>
              <a:prstGeom prst="rect">
                <a:avLst/>
              </a:prstGeom>
              <a:blipFill rotWithShape="1">
                <a:blip r:embed="rId4"/>
                <a:stretch>
                  <a:fillRect b="-8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flipH="1" flipV="1">
            <a:off x="3704494" y="2790092"/>
            <a:ext cx="2012948" cy="7517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890954" y="2790092"/>
            <a:ext cx="5486400" cy="7517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1805354" y="2681442"/>
            <a:ext cx="5068270" cy="8603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</p:cNvCxnSpPr>
          <p:nvPr/>
        </p:nvCxnSpPr>
        <p:spPr>
          <a:xfrm flipH="1">
            <a:off x="3892061" y="4114800"/>
            <a:ext cx="5849816" cy="4202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3704494" y="2681442"/>
            <a:ext cx="2672860" cy="24415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762000" y="2681442"/>
            <a:ext cx="5615354" cy="24415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20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16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394300" y="5683231"/>
            <a:ext cx="33101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Fig.7 </a:t>
            </a:r>
            <a:r>
              <a:rPr lang="en-US" sz="1400" b="1" dirty="0" err="1"/>
              <a:t>Poarta</a:t>
            </a:r>
            <a:r>
              <a:rPr lang="en-US" sz="1400" b="1" dirty="0"/>
              <a:t> ŞI cu diode </a:t>
            </a:r>
            <a:r>
              <a:rPr lang="en-US" sz="1400" b="1" dirty="0" err="1"/>
              <a:t>semiconductoare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cu diode semiconductoare. Funcţionare logică.</a:t>
            </a:r>
            <a:endParaRPr lang="ro-RO" sz="2800" dirty="0"/>
          </a:p>
        </p:txBody>
      </p:sp>
      <p:sp>
        <p:nvSpPr>
          <p:cNvPr id="3" name="Rectangle 2"/>
          <p:cNvSpPr/>
          <p:nvPr/>
        </p:nvSpPr>
        <p:spPr>
          <a:xfrm>
            <a:off x="4079630" y="1007690"/>
            <a:ext cx="756138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presupune că la toate intrările se aplică nivel logic superior:</a:t>
            </a:r>
            <a:endParaRPr lang="en-US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0579" y="2738644"/>
            <a:ext cx="4418197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fontAlgn="base">
              <a:lnSpc>
                <a:spcPct val="150000"/>
              </a:lnSpc>
              <a:buFont typeface="Symbol"/>
              <a:buChar char="Þ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polarizate direct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528" y="1696558"/>
            <a:ext cx="3190435" cy="358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812322" y="2156387"/>
            <a:ext cx="6096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Deoarece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 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16207" y="3278022"/>
            <a:ext cx="7575791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Nivelul de tensiune de la ieşire → dat de diodele în conducţie: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3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Dacă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neglijează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222775" y="4943798"/>
                <a:ext cx="3826311" cy="1047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00100" lvl="1" indent="-342900" fontAlgn="base">
                  <a:lnSpc>
                    <a:spcPct val="150000"/>
                  </a:lnSpc>
                  <a:buFont typeface="Symbol"/>
                  <a:buChar char="Þ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 fontAlgn="base">
                  <a:lnSpc>
                    <a:spcPct val="150000"/>
                  </a:lnSpc>
                  <a:buFont typeface="Symbol"/>
                  <a:buChar char="Þ"/>
                </a:pP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o-RO" sz="2200" b="1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en-US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o-RO" sz="2200" b="1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endParaRPr lang="en-US" sz="2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2775" y="4943798"/>
                <a:ext cx="3826311" cy="1047210"/>
              </a:xfrm>
              <a:prstGeom prst="rect">
                <a:avLst/>
              </a:prstGeom>
              <a:blipFill rotWithShape="1">
                <a:blip r:embed="rId3"/>
                <a:stretch>
                  <a:fillRect b="-1046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2" idx="1"/>
          </p:cNvCxnSpPr>
          <p:nvPr/>
        </p:nvCxnSpPr>
        <p:spPr>
          <a:xfrm flipH="1" flipV="1">
            <a:off x="2590800" y="2156387"/>
            <a:ext cx="2221522" cy="3000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2" idx="1"/>
          </p:cNvCxnSpPr>
          <p:nvPr/>
        </p:nvCxnSpPr>
        <p:spPr>
          <a:xfrm flipH="1">
            <a:off x="1113692" y="2456469"/>
            <a:ext cx="3698630" cy="8215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1113692" y="3278022"/>
            <a:ext cx="4888523" cy="8836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2049397" y="3188677"/>
            <a:ext cx="4550695" cy="9730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3341077" y="3278022"/>
            <a:ext cx="2766646" cy="20050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1113692" y="3489839"/>
            <a:ext cx="4994031" cy="17932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870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5545" y="5923890"/>
            <a:ext cx="1899140" cy="365125"/>
          </a:xfrm>
        </p:spPr>
        <p:txBody>
          <a:bodyPr/>
          <a:lstStyle/>
          <a:p>
            <a:pPr marL="0" lvl="1" fontAlgn="base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394300" y="5683231"/>
            <a:ext cx="33101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Fig.7 </a:t>
            </a:r>
            <a:r>
              <a:rPr lang="en-US" sz="1400" b="1" dirty="0" err="1"/>
              <a:t>Poarta</a:t>
            </a:r>
            <a:r>
              <a:rPr lang="en-US" sz="1400" b="1" dirty="0"/>
              <a:t> ŞI cu diode </a:t>
            </a:r>
            <a:r>
              <a:rPr lang="en-US" sz="1400" b="1" dirty="0" err="1"/>
              <a:t>semiconductoare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cu diode semiconductoare. Funcţionare logică.</a:t>
            </a:r>
            <a:endParaRPr lang="ro-RO" sz="2800" dirty="0"/>
          </a:p>
        </p:txBody>
      </p:sp>
      <p:sp>
        <p:nvSpPr>
          <p:cNvPr id="3" name="Rectangle 2"/>
          <p:cNvSpPr/>
          <p:nvPr/>
        </p:nvSpPr>
        <p:spPr>
          <a:xfrm>
            <a:off x="3962400" y="973014"/>
            <a:ext cx="822959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presupune că la o singură intrare se aplică nivel logic inferior  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iar la toate celelalte intrări nivel logic superior 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133741" y="3000924"/>
            <a:ext cx="7835519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Diferenţa de potenţial cea mai mare → între intrarea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şi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186" y="1865503"/>
            <a:ext cx="3015620" cy="3570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4388439" y="4108920"/>
            <a:ext cx="5077544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fontAlgn="base">
              <a:lnSpc>
                <a:spcPct val="150000"/>
              </a:lnSpc>
              <a:buFont typeface="Symbol"/>
              <a:buChar char="Þ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va fi dată de dioda în conducţie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9115" y="4701993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Dacă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’’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se consideră neglijabil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9539021" y="5036930"/>
                <a:ext cx="2172189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00100" lvl="1" indent="-342900" fontAlgn="base">
                  <a:lnSpc>
                    <a:spcPct val="200000"/>
                  </a:lnSpc>
                  <a:buFont typeface="Symbol"/>
                  <a:buChar char="Þ"/>
                </a:pP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o-RO" sz="2200" b="1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en-US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200" b="1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endParaRPr lang="en-US" sz="2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9021" y="5036930"/>
                <a:ext cx="2172189" cy="769441"/>
              </a:xfrm>
              <a:prstGeom prst="rect">
                <a:avLst/>
              </a:prstGeom>
              <a:blipFill rotWithShape="1">
                <a:blip r:embed="rId3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4917531" y="5806371"/>
            <a:ext cx="488296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fontAlgn="base">
              <a:lnSpc>
                <a:spcPct val="150000"/>
              </a:lnSpc>
              <a:buFont typeface="Symbol"/>
              <a:buChar char="Þ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polarizate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invers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blocate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902388" y="3540302"/>
            <a:ext cx="4527201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fontAlgn="base">
              <a:lnSpc>
                <a:spcPct val="150000"/>
              </a:lnSpc>
              <a:buFont typeface="Symbol"/>
              <a:buChar char="Þ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polari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zată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 → conducţie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2239108" y="3650669"/>
            <a:ext cx="8162250" cy="17024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10011508" y="5683231"/>
            <a:ext cx="442057" cy="3077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691662" y="2356338"/>
            <a:ext cx="4056184" cy="10199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867508" y="3000924"/>
            <a:ext cx="4149969" cy="11079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981319" y="3000924"/>
            <a:ext cx="4423019" cy="17010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867509" y="3376246"/>
            <a:ext cx="3266232" cy="16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9" name="Straight Arrow Connector 4098"/>
          <p:cNvCxnSpPr>
            <a:stCxn id="2" idx="1"/>
          </p:cNvCxnSpPr>
          <p:nvPr/>
        </p:nvCxnSpPr>
        <p:spPr>
          <a:xfrm flipH="1" flipV="1">
            <a:off x="2049397" y="2356338"/>
            <a:ext cx="2084344" cy="914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1" name="Straight Arrow Connector 4100"/>
          <p:cNvCxnSpPr/>
          <p:nvPr/>
        </p:nvCxnSpPr>
        <p:spPr>
          <a:xfrm flipH="1" flipV="1">
            <a:off x="1676400" y="3540302"/>
            <a:ext cx="3575538" cy="3111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3" name="Straight Arrow Connector 4102"/>
          <p:cNvCxnSpPr/>
          <p:nvPr/>
        </p:nvCxnSpPr>
        <p:spPr>
          <a:xfrm flipH="1" flipV="1">
            <a:off x="3091569" y="3458274"/>
            <a:ext cx="2160369" cy="10436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5" name="Straight Arrow Connector 4104"/>
          <p:cNvCxnSpPr>
            <a:stCxn id="17" idx="1"/>
          </p:cNvCxnSpPr>
          <p:nvPr/>
        </p:nvCxnSpPr>
        <p:spPr>
          <a:xfrm flipH="1" flipV="1">
            <a:off x="1676401" y="4243755"/>
            <a:ext cx="3241130" cy="18626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7" name="Straight Arrow Connector 4106"/>
          <p:cNvCxnSpPr>
            <a:stCxn id="17" idx="1"/>
          </p:cNvCxnSpPr>
          <p:nvPr/>
        </p:nvCxnSpPr>
        <p:spPr>
          <a:xfrm flipH="1" flipV="1">
            <a:off x="1676401" y="4865079"/>
            <a:ext cx="3241130" cy="12413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3" name="Straight Arrow Connector 4112"/>
          <p:cNvCxnSpPr/>
          <p:nvPr/>
        </p:nvCxnSpPr>
        <p:spPr>
          <a:xfrm flipH="1" flipV="1">
            <a:off x="867508" y="3554922"/>
            <a:ext cx="4724400" cy="148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5" name="Straight Arrow Connector 4114"/>
          <p:cNvCxnSpPr/>
          <p:nvPr/>
        </p:nvCxnSpPr>
        <p:spPr>
          <a:xfrm flipH="1" flipV="1">
            <a:off x="1676400" y="3376246"/>
            <a:ext cx="4349262" cy="16606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3633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394300" y="5683231"/>
            <a:ext cx="33101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Fig.7 </a:t>
            </a:r>
            <a:r>
              <a:rPr lang="en-US" sz="1400" b="1" dirty="0" err="1"/>
              <a:t>Poarta</a:t>
            </a:r>
            <a:r>
              <a:rPr lang="en-US" sz="1400" b="1" dirty="0"/>
              <a:t> ŞI cu diode </a:t>
            </a:r>
            <a:r>
              <a:rPr lang="en-US" sz="1400" b="1" dirty="0" err="1"/>
              <a:t>semiconductoare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cu diode semiconductoare. Funcţionare logică.</a:t>
            </a:r>
            <a:endParaRPr lang="ro-RO" sz="2800" dirty="0"/>
          </a:p>
        </p:txBody>
      </p:sp>
      <p:sp>
        <p:nvSpPr>
          <p:cNvPr id="3" name="Rectangle 2"/>
          <p:cNvSpPr/>
          <p:nvPr/>
        </p:nvSpPr>
        <p:spPr>
          <a:xfrm>
            <a:off x="3962400" y="973014"/>
            <a:ext cx="8229599" cy="2357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</a:t>
            </a: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Dacă se iau în considerare oricare alte variante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>
              <a:lnSpc>
                <a:spcPct val="150000"/>
              </a:lnSpc>
            </a:pPr>
            <a:endParaRPr 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V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		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V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ro-RO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V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		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V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ro-RO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V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V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V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186" y="1865503"/>
            <a:ext cx="3015620" cy="3570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4200282" y="3560106"/>
            <a:ext cx="7792426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Întreg sistemul se comportă la fel ca şi în cazul anterior (c).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discută doar despre comportamentul altor Diode: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 ar fi în conducţie sau blocate, conform cazului analizat.</a:t>
            </a:r>
          </a:p>
          <a:p>
            <a:pPr lvl="0"/>
            <a:endParaRPr lang="en-US" dirty="0"/>
          </a:p>
        </p:txBody>
      </p:sp>
      <p:sp>
        <p:nvSpPr>
          <p:cNvPr id="9" name="Left Brace 8"/>
          <p:cNvSpPr/>
          <p:nvPr/>
        </p:nvSpPr>
        <p:spPr>
          <a:xfrm>
            <a:off x="4409050" y="1959288"/>
            <a:ext cx="45719" cy="121766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2" name="Left Brace 31"/>
          <p:cNvSpPr/>
          <p:nvPr/>
        </p:nvSpPr>
        <p:spPr>
          <a:xfrm>
            <a:off x="6016865" y="1959288"/>
            <a:ext cx="45719" cy="121766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3DE8D6-EDD0-00AE-ECA0-B1ACD9082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4026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394300" y="5683231"/>
            <a:ext cx="33101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Fig.7  </a:t>
            </a:r>
            <a:r>
              <a:rPr lang="en-US" sz="1400" b="1" dirty="0" err="1"/>
              <a:t>Poarta</a:t>
            </a:r>
            <a:r>
              <a:rPr lang="en-US" sz="1400" b="1" dirty="0"/>
              <a:t> ŞI cu diode </a:t>
            </a:r>
            <a:r>
              <a:rPr lang="en-US" sz="1400" b="1" dirty="0" err="1"/>
              <a:t>semiconductoare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cu diode semiconductoare. Funcţionare logică.</a:t>
            </a:r>
            <a:endParaRPr lang="ro-RO" sz="2800" dirty="0"/>
          </a:p>
        </p:txBody>
      </p:sp>
      <p:sp>
        <p:nvSpPr>
          <p:cNvPr id="3" name="Rectangle 2"/>
          <p:cNvSpPr/>
          <p:nvPr/>
        </p:nvSpPr>
        <p:spPr>
          <a:xfrm>
            <a:off x="3962400" y="973014"/>
            <a:ext cx="8229599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e)</a:t>
            </a:r>
            <a:endParaRPr lang="en-US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186" y="1865503"/>
            <a:ext cx="3015620" cy="3570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357565" y="973014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Dacă se iau în considerare oricare situaţii în care: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la două intrări se aplică nivel logic inferior 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79630" y="2521059"/>
            <a:ext cx="6740769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Situaţia este ca şi în cazul a) cu singura deosebire că: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 sunt de astă dată 3 diode în conducţie: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 două →la care se aplică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</a:t>
            </a:r>
            <a:endParaRPr lang="en-US" sz="22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79629" y="4743338"/>
            <a:ext cx="731520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Dacă la oricare intrare se aplică nivel logic inferior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7564" y="4180820"/>
            <a:ext cx="206668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Concluzie: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95749" y="5283121"/>
            <a:ext cx="4882961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fontAlgn="base">
              <a:lnSpc>
                <a:spcPct val="150000"/>
              </a:lnSpc>
              <a:buFont typeface="Symbol"/>
              <a:buChar char="Þ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AA3A28-1074-ECCC-6F92-F665ACAF5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36577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547" y="978413"/>
            <a:ext cx="9169253" cy="498696"/>
          </a:xfrm>
        </p:spPr>
        <p:txBody>
          <a:bodyPr>
            <a:no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urma analizei făcute →se pot concretiza rezultatele obţinute într-un tabel.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20</a:t>
            </a:fld>
            <a:endParaRPr lang="ro-RO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DC1BD0-4B4F-4F50-BC76-A83668CEB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29863"/>
              </p:ext>
            </p:extLst>
          </p:nvPr>
        </p:nvGraphicFramePr>
        <p:xfrm>
          <a:off x="2412232" y="1594339"/>
          <a:ext cx="5295819" cy="3865889"/>
        </p:xfrm>
        <a:graphic>
          <a:graphicData uri="http://schemas.openxmlformats.org/drawingml/2006/table">
            <a:tbl>
              <a:tblPr firstRow="1" firstCol="1" bandRow="1">
                <a:tableStyleId>{0660B408-B3CF-4A94-85FC-2B1E0A45F4A2}</a:tableStyleId>
              </a:tblPr>
              <a:tblGrid>
                <a:gridCol w="1165941">
                  <a:extLst>
                    <a:ext uri="{9D8B030D-6E8A-4147-A177-3AD203B41FA5}">
                      <a16:colId xmlns:a16="http://schemas.microsoft.com/office/drawing/2014/main" val="2393725595"/>
                    </a:ext>
                  </a:extLst>
                </a:gridCol>
                <a:gridCol w="1472894">
                  <a:extLst>
                    <a:ext uri="{9D8B030D-6E8A-4147-A177-3AD203B41FA5}">
                      <a16:colId xmlns:a16="http://schemas.microsoft.com/office/drawing/2014/main" val="864867845"/>
                    </a:ext>
                  </a:extLst>
                </a:gridCol>
                <a:gridCol w="1227412">
                  <a:extLst>
                    <a:ext uri="{9D8B030D-6E8A-4147-A177-3AD203B41FA5}">
                      <a16:colId xmlns:a16="http://schemas.microsoft.com/office/drawing/2014/main" val="668167017"/>
                    </a:ext>
                  </a:extLst>
                </a:gridCol>
                <a:gridCol w="1429572">
                  <a:extLst>
                    <a:ext uri="{9D8B030D-6E8A-4147-A177-3AD203B41FA5}">
                      <a16:colId xmlns:a16="http://schemas.microsoft.com/office/drawing/2014/main" val="372497266"/>
                    </a:ext>
                  </a:extLst>
                </a:gridCol>
              </a:tblGrid>
              <a:tr h="424359"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solidFill>
                            <a:schemeClr val="bg1"/>
                          </a:solidFill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solidFill>
                            <a:schemeClr val="bg1"/>
                          </a:solidFill>
                          <a:effectLst/>
                        </a:rPr>
                        <a:t>A</a:t>
                      </a:r>
                      <a:endParaRPr lang="ro-RO" sz="2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effectLst/>
                        </a:rPr>
                        <a:t>B</a:t>
                      </a:r>
                      <a:endParaRPr lang="ro-RO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effectLst/>
                        </a:rPr>
                        <a:t>C</a:t>
                      </a:r>
                      <a:endParaRPr lang="ro-RO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effectLst/>
                        </a:rPr>
                        <a:t>o</a:t>
                      </a:r>
                      <a:endParaRPr lang="ro-RO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5117921"/>
                  </a:ext>
                </a:extLst>
              </a:tr>
              <a:tr h="42960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b="0" dirty="0">
                          <a:solidFill>
                            <a:schemeClr val="tx1"/>
                          </a:solidFill>
                          <a:effectLst/>
                        </a:rPr>
                        <a:t>V</a:t>
                      </a:r>
                      <a:r>
                        <a:rPr lang="ro-RO" sz="2400" b="0" baseline="-25000" dirty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ro-RO" sz="2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effectLst/>
                        </a:rPr>
                        <a:t>L</a:t>
                      </a:r>
                      <a:endParaRPr lang="ro-RO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effectLst/>
                        </a:rPr>
                        <a:t>L</a:t>
                      </a:r>
                      <a:endParaRPr lang="ro-RO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solidFill>
                            <a:srgbClr val="002060"/>
                          </a:solidFill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solidFill>
                            <a:srgbClr val="002060"/>
                          </a:solidFill>
                          <a:effectLst/>
                        </a:rPr>
                        <a:t>L</a:t>
                      </a:r>
                      <a:endParaRPr lang="ro-RO" sz="2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4214615"/>
                  </a:ext>
                </a:extLst>
              </a:tr>
              <a:tr h="42960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b="0" dirty="0">
                          <a:solidFill>
                            <a:schemeClr val="tx1"/>
                          </a:solidFill>
                          <a:effectLst/>
                        </a:rPr>
                        <a:t>V</a:t>
                      </a:r>
                      <a:r>
                        <a:rPr lang="ro-RO" sz="2400" b="0" baseline="-25000" dirty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ro-RO" sz="2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effectLst/>
                        </a:rPr>
                        <a:t>L</a:t>
                      </a:r>
                      <a:endParaRPr lang="ro-RO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>
                          <a:effectLst/>
                        </a:rPr>
                        <a:t>V</a:t>
                      </a:r>
                      <a:r>
                        <a:rPr lang="ro-RO" sz="2400" baseline="-25000">
                          <a:effectLst/>
                        </a:rPr>
                        <a:t>H</a:t>
                      </a:r>
                      <a:endParaRPr lang="ro-RO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solidFill>
                            <a:srgbClr val="002060"/>
                          </a:solidFill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solidFill>
                            <a:srgbClr val="002060"/>
                          </a:solidFill>
                          <a:effectLst/>
                        </a:rPr>
                        <a:t>L</a:t>
                      </a:r>
                      <a:endParaRPr lang="ro-RO" sz="2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4796533"/>
                  </a:ext>
                </a:extLst>
              </a:tr>
              <a:tr h="42960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b="0" dirty="0">
                          <a:solidFill>
                            <a:schemeClr val="tx1"/>
                          </a:solidFill>
                          <a:effectLst/>
                        </a:rPr>
                        <a:t>V</a:t>
                      </a:r>
                      <a:r>
                        <a:rPr lang="ro-RO" sz="2400" b="0" baseline="-25000" dirty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ro-RO" sz="2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effectLst/>
                        </a:rPr>
                        <a:t>H</a:t>
                      </a:r>
                      <a:endParaRPr lang="ro-RO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effectLst/>
                        </a:rPr>
                        <a:t>L</a:t>
                      </a:r>
                      <a:endParaRPr lang="ro-RO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solidFill>
                            <a:srgbClr val="002060"/>
                          </a:solidFill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solidFill>
                            <a:srgbClr val="002060"/>
                          </a:solidFill>
                          <a:effectLst/>
                        </a:rPr>
                        <a:t>L</a:t>
                      </a:r>
                      <a:endParaRPr lang="ro-RO" sz="2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6003822"/>
                  </a:ext>
                </a:extLst>
              </a:tr>
              <a:tr h="42960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b="0" dirty="0">
                          <a:solidFill>
                            <a:schemeClr val="tx1"/>
                          </a:solidFill>
                          <a:effectLst/>
                        </a:rPr>
                        <a:t>V</a:t>
                      </a:r>
                      <a:r>
                        <a:rPr lang="ro-RO" sz="2400" b="0" baseline="-25000" dirty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ro-RO" sz="2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effectLst/>
                        </a:rPr>
                        <a:t>H</a:t>
                      </a:r>
                      <a:endParaRPr lang="ro-RO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effectLst/>
                        </a:rPr>
                        <a:t>H</a:t>
                      </a:r>
                      <a:endParaRPr lang="ro-RO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solidFill>
                            <a:srgbClr val="002060"/>
                          </a:solidFill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solidFill>
                            <a:srgbClr val="002060"/>
                          </a:solidFill>
                          <a:effectLst/>
                        </a:rPr>
                        <a:t>L</a:t>
                      </a:r>
                      <a:endParaRPr lang="ro-RO" sz="2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7174200"/>
                  </a:ext>
                </a:extLst>
              </a:tr>
              <a:tr h="42960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b="0" dirty="0">
                          <a:solidFill>
                            <a:schemeClr val="tx1"/>
                          </a:solidFill>
                          <a:effectLst/>
                        </a:rPr>
                        <a:t>V</a:t>
                      </a:r>
                      <a:r>
                        <a:rPr lang="ro-RO" sz="2400" b="0" baseline="-25000" dirty="0">
                          <a:solidFill>
                            <a:schemeClr val="tx1"/>
                          </a:solidFill>
                          <a:effectLst/>
                        </a:rPr>
                        <a:t>H</a:t>
                      </a:r>
                      <a:endParaRPr lang="ro-RO" sz="2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effectLst/>
                        </a:rPr>
                        <a:t>L</a:t>
                      </a:r>
                      <a:endParaRPr lang="ro-RO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effectLst/>
                        </a:rPr>
                        <a:t>L</a:t>
                      </a:r>
                      <a:endParaRPr lang="ro-RO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solidFill>
                            <a:srgbClr val="002060"/>
                          </a:solidFill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solidFill>
                            <a:srgbClr val="002060"/>
                          </a:solidFill>
                          <a:effectLst/>
                        </a:rPr>
                        <a:t>L</a:t>
                      </a:r>
                      <a:endParaRPr lang="ro-RO" sz="2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0608562"/>
                  </a:ext>
                </a:extLst>
              </a:tr>
              <a:tr h="42960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b="0" dirty="0">
                          <a:solidFill>
                            <a:schemeClr val="tx1"/>
                          </a:solidFill>
                          <a:effectLst/>
                        </a:rPr>
                        <a:t>V</a:t>
                      </a:r>
                      <a:r>
                        <a:rPr lang="ro-RO" sz="2400" b="0" baseline="-25000" dirty="0">
                          <a:solidFill>
                            <a:schemeClr val="tx1"/>
                          </a:solidFill>
                          <a:effectLst/>
                        </a:rPr>
                        <a:t>H</a:t>
                      </a:r>
                      <a:endParaRPr lang="ro-RO" sz="2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effectLst/>
                        </a:rPr>
                        <a:t>L</a:t>
                      </a:r>
                      <a:endParaRPr lang="ro-RO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>
                          <a:effectLst/>
                        </a:rPr>
                        <a:t>V</a:t>
                      </a:r>
                      <a:r>
                        <a:rPr lang="ro-RO" sz="2400" baseline="-25000">
                          <a:effectLst/>
                        </a:rPr>
                        <a:t>H</a:t>
                      </a:r>
                      <a:endParaRPr lang="ro-RO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solidFill>
                            <a:srgbClr val="002060"/>
                          </a:solidFill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solidFill>
                            <a:srgbClr val="002060"/>
                          </a:solidFill>
                          <a:effectLst/>
                        </a:rPr>
                        <a:t>L</a:t>
                      </a:r>
                      <a:endParaRPr lang="ro-RO" sz="2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543713"/>
                  </a:ext>
                </a:extLst>
              </a:tr>
              <a:tr h="43430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b="0" dirty="0">
                          <a:solidFill>
                            <a:schemeClr val="tx1"/>
                          </a:solidFill>
                          <a:effectLst/>
                        </a:rPr>
                        <a:t>V</a:t>
                      </a:r>
                      <a:r>
                        <a:rPr lang="ro-RO" sz="2400" b="0" baseline="-25000" dirty="0">
                          <a:solidFill>
                            <a:schemeClr val="tx1"/>
                          </a:solidFill>
                          <a:effectLst/>
                        </a:rPr>
                        <a:t>H</a:t>
                      </a:r>
                      <a:endParaRPr lang="ro-RO" sz="2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effectLst/>
                        </a:rPr>
                        <a:t>H</a:t>
                      </a:r>
                      <a:endParaRPr lang="ro-RO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effectLst/>
                        </a:rPr>
                        <a:t>L</a:t>
                      </a:r>
                      <a:endParaRPr lang="ro-RO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dirty="0">
                          <a:solidFill>
                            <a:srgbClr val="002060"/>
                          </a:solidFill>
                          <a:effectLst/>
                        </a:rPr>
                        <a:t>V</a:t>
                      </a:r>
                      <a:r>
                        <a:rPr lang="ro-RO" sz="2400" baseline="-25000" dirty="0">
                          <a:solidFill>
                            <a:srgbClr val="002060"/>
                          </a:solidFill>
                          <a:effectLst/>
                        </a:rPr>
                        <a:t>L</a:t>
                      </a:r>
                      <a:endParaRPr lang="ro-RO" sz="2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2186559"/>
                  </a:ext>
                </a:extLst>
              </a:tr>
              <a:tr h="42960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b="1" dirty="0">
                          <a:solidFill>
                            <a:srgbClr val="002060"/>
                          </a:solidFill>
                          <a:effectLst/>
                        </a:rPr>
                        <a:t>V</a:t>
                      </a:r>
                      <a:r>
                        <a:rPr lang="ro-RO" sz="2400" b="1" baseline="-25000" dirty="0">
                          <a:solidFill>
                            <a:srgbClr val="002060"/>
                          </a:solidFill>
                          <a:effectLst/>
                        </a:rPr>
                        <a:t>H</a:t>
                      </a:r>
                      <a:endParaRPr lang="ro-RO" sz="2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b="1" dirty="0">
                          <a:solidFill>
                            <a:srgbClr val="002060"/>
                          </a:solidFill>
                          <a:effectLst/>
                        </a:rPr>
                        <a:t>V</a:t>
                      </a:r>
                      <a:r>
                        <a:rPr lang="ro-RO" sz="2400" b="1" baseline="-25000" dirty="0">
                          <a:solidFill>
                            <a:srgbClr val="002060"/>
                          </a:solidFill>
                          <a:effectLst/>
                        </a:rPr>
                        <a:t>H</a:t>
                      </a:r>
                      <a:endParaRPr lang="ro-RO" sz="2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b="1" dirty="0">
                          <a:solidFill>
                            <a:srgbClr val="002060"/>
                          </a:solidFill>
                          <a:effectLst/>
                        </a:rPr>
                        <a:t>V</a:t>
                      </a:r>
                      <a:r>
                        <a:rPr lang="ro-RO" sz="2400" b="1" baseline="-25000" dirty="0">
                          <a:solidFill>
                            <a:srgbClr val="002060"/>
                          </a:solidFill>
                          <a:effectLst/>
                        </a:rPr>
                        <a:t>H</a:t>
                      </a:r>
                      <a:endParaRPr lang="ro-RO" sz="2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o-RO" sz="2400" b="1" dirty="0">
                          <a:solidFill>
                            <a:srgbClr val="002060"/>
                          </a:solidFill>
                          <a:effectLst/>
                        </a:rPr>
                        <a:t>V</a:t>
                      </a:r>
                      <a:r>
                        <a:rPr lang="ro-RO" sz="2400" b="1" baseline="-25000" dirty="0">
                          <a:solidFill>
                            <a:srgbClr val="002060"/>
                          </a:solidFill>
                          <a:effectLst/>
                        </a:rPr>
                        <a:t>H</a:t>
                      </a:r>
                      <a:endParaRPr lang="ro-RO" sz="2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0754837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cu diode semiconductoare. Funcţionare logică.</a:t>
            </a:r>
            <a:endParaRPr lang="ro-RO" sz="28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F8D7FC-120C-4327-A73D-370DFCEA5B53}"/>
              </a:ext>
            </a:extLst>
          </p:cNvPr>
          <p:cNvSpPr/>
          <p:nvPr/>
        </p:nvSpPr>
        <p:spPr>
          <a:xfrm>
            <a:off x="820615" y="5743623"/>
            <a:ext cx="857084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0">
              <a:lnSpc>
                <a:spcPct val="150000"/>
              </a:lnSpc>
              <a:spcAft>
                <a:spcPts val="0"/>
              </a:spcAft>
            </a:pPr>
            <a:r>
              <a:rPr lang="ro-RO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Tabel 1. </a:t>
            </a:r>
            <a:r>
              <a:rPr lang="ro-RO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Poata</a:t>
            </a:r>
            <a:r>
              <a:rPr lang="ro-RO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ŞI – Tabelul de tensiuni</a:t>
            </a:r>
            <a:endParaRPr lang="ro-RO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575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21</a:t>
            </a:fld>
            <a:endParaRPr lang="ro-RO" dirty="0"/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42165AC7-1645-4113-B757-B005D31AD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496132"/>
              </p:ext>
            </p:extLst>
          </p:nvPr>
        </p:nvGraphicFramePr>
        <p:xfrm>
          <a:off x="1296734" y="2277425"/>
          <a:ext cx="5442056" cy="3833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514">
                  <a:extLst>
                    <a:ext uri="{9D8B030D-6E8A-4147-A177-3AD203B41FA5}">
                      <a16:colId xmlns:a16="http://schemas.microsoft.com/office/drawing/2014/main" val="19265504"/>
                    </a:ext>
                  </a:extLst>
                </a:gridCol>
                <a:gridCol w="1360514">
                  <a:extLst>
                    <a:ext uri="{9D8B030D-6E8A-4147-A177-3AD203B41FA5}">
                      <a16:colId xmlns:a16="http://schemas.microsoft.com/office/drawing/2014/main" val="2066304664"/>
                    </a:ext>
                  </a:extLst>
                </a:gridCol>
                <a:gridCol w="1360514">
                  <a:extLst>
                    <a:ext uri="{9D8B030D-6E8A-4147-A177-3AD203B41FA5}">
                      <a16:colId xmlns:a16="http://schemas.microsoft.com/office/drawing/2014/main" val="3415407056"/>
                    </a:ext>
                  </a:extLst>
                </a:gridCol>
                <a:gridCol w="1360514">
                  <a:extLst>
                    <a:ext uri="{9D8B030D-6E8A-4147-A177-3AD203B41FA5}">
                      <a16:colId xmlns:a16="http://schemas.microsoft.com/office/drawing/2014/main" val="2068101319"/>
                    </a:ext>
                  </a:extLst>
                </a:gridCol>
              </a:tblGrid>
              <a:tr h="425973"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o-RO" sz="2000" i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ro-RO" sz="2000" i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ro-RO" sz="2000" i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ro-RO" sz="2000" i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779725"/>
                  </a:ext>
                </a:extLst>
              </a:tr>
              <a:tr h="42597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373279"/>
                  </a:ext>
                </a:extLst>
              </a:tr>
              <a:tr h="42597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533629"/>
                  </a:ext>
                </a:extLst>
              </a:tr>
              <a:tr h="42597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176796"/>
                  </a:ext>
                </a:extLst>
              </a:tr>
              <a:tr h="42597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401875"/>
                  </a:ext>
                </a:extLst>
              </a:tr>
              <a:tr h="42597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078636"/>
                  </a:ext>
                </a:extLst>
              </a:tr>
              <a:tr h="42597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182782"/>
                  </a:ext>
                </a:extLst>
              </a:tr>
              <a:tr h="42597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41529"/>
                  </a:ext>
                </a:extLst>
              </a:tr>
              <a:tr h="42597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9545886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9BF8D7FC-120C-4327-A73D-370DFCEA5B53}"/>
              </a:ext>
            </a:extLst>
          </p:cNvPr>
          <p:cNvSpPr/>
          <p:nvPr/>
        </p:nvSpPr>
        <p:spPr>
          <a:xfrm>
            <a:off x="480291" y="6251455"/>
            <a:ext cx="6382328" cy="463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ro-RO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Tabel 2. </a:t>
            </a:r>
            <a:r>
              <a:rPr lang="ro-RO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Poata</a:t>
            </a:r>
            <a:r>
              <a:rPr lang="ro-RO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ŞI – Tabelul de adevăr pentru logica pozitivă</a:t>
            </a:r>
            <a:endParaRPr lang="ro-RO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cu diode semiconductoare. Tabelul de adevăr.</a:t>
            </a:r>
            <a:endParaRPr lang="ro-RO" sz="2800" dirty="0"/>
          </a:p>
        </p:txBody>
      </p:sp>
      <p:sp>
        <p:nvSpPr>
          <p:cNvPr id="8" name="Rectangle 7"/>
          <p:cNvSpPr/>
          <p:nvPr/>
        </p:nvSpPr>
        <p:spPr>
          <a:xfrm>
            <a:off x="386144" y="942056"/>
            <a:ext cx="7093930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Tabelul de tensiuni se converteşte într-un tabel de adevăr: 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23503" y="3489814"/>
            <a:ext cx="4868497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Funcţia de la ieşire se înlocuieşte cu logica corespunzătoare porţii ŞI: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 = A ∙ B ∙ C → 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o-RO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o-RO" sz="2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00325" y="1524723"/>
            <a:ext cx="5761514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Nivelele de la ieşire se înlocuiesc cu variabile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B76210-38A7-DAF8-D892-6E9F8E57DC1B}"/>
              </a:ext>
            </a:extLst>
          </p:cNvPr>
          <p:cNvSpPr txBox="1"/>
          <p:nvPr/>
        </p:nvSpPr>
        <p:spPr>
          <a:xfrm>
            <a:off x="7640709" y="1484131"/>
            <a:ext cx="2551545" cy="104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“0” logic</a:t>
            </a:r>
          </a:p>
          <a:p>
            <a:pPr marL="285750" lvl="1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“1” logic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54C010C-D230-E005-BEB0-D9A128A264F3}"/>
              </a:ext>
            </a:extLst>
          </p:cNvPr>
          <p:cNvCxnSpPr/>
          <p:nvPr/>
        </p:nvCxnSpPr>
        <p:spPr>
          <a:xfrm>
            <a:off x="6738790" y="1831357"/>
            <a:ext cx="4525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274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cu diode semiconductoare. Funcţionare logică.</a:t>
            </a:r>
            <a:endParaRPr lang="ro-RO" sz="2800" dirty="0"/>
          </a:p>
        </p:txBody>
      </p:sp>
      <p:sp>
        <p:nvSpPr>
          <p:cNvPr id="13" name="Rectangle 12"/>
          <p:cNvSpPr/>
          <p:nvPr/>
        </p:nvSpPr>
        <p:spPr>
          <a:xfrm>
            <a:off x="293186" y="973014"/>
            <a:ext cx="35124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ţi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" name="Rectangle 4"/>
          <p:cNvSpPr/>
          <p:nvPr/>
        </p:nvSpPr>
        <p:spPr>
          <a:xfrm>
            <a:off x="334609" y="1569991"/>
            <a:ext cx="1131344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şa cum s-a precizat la începutul cursului →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Circuitele numerice au o dublă natură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Logică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 Funcţionare logică → Demonstrată anterior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Electronică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Circuitele → formate din componente electronice  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Trebuie să asigure şi funcţionarea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d.p.d.v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electronic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723" y="3724505"/>
            <a:ext cx="11175609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Funcţionare electronică =&gt; Dimensionarea corectă a circuitului.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Întotdeauna un circuit numeric se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proiectează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cazul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defavorabil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!</a:t>
            </a:r>
            <a:endParaRPr lang="ro-RO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D.p.d.v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tehnic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posibil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preţul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atât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mare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încât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calculatoare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foarte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scumpe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Cazul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defavorabil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implică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componentelor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din care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alcătuit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o-RO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BB16C7-CAFA-4D0A-7A6B-AFC3AF7FE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62599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72" y="638480"/>
            <a:ext cx="11788302" cy="576231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Sistemele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numerice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repartizate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tot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pământesc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Nord /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Deşertul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Sahara)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realizate cu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funcţii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DA, NU, ŞI, ŞI-NU, SAU, SAU-NU.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Condiţiile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funcţionare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diferă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semnificativ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numeric  la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Nord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lucrează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o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temperatură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temperatură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Temperaturi diferite, mediu diferit, umiditate diferită, etc.</a:t>
            </a:r>
          </a:p>
          <a:p>
            <a:pPr lvl="1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Toate materialele semiconductoare → influenţate de temperatură :</a:t>
            </a: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temperatură mai mare electronii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influenţaţi şi echilibrează mai multe sarcini: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creşte curentul.</a:t>
            </a: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Componentele → fabricate în medii diferite (ţări diferite);</a:t>
            </a: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23</a:t>
            </a:fld>
            <a:endParaRPr lang="ro-RO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0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</p:spTree>
    <p:extLst>
      <p:ext uri="{BB962C8B-B14F-4D97-AF65-F5344CB8AC3E}">
        <p14:creationId xmlns:p14="http://schemas.microsoft.com/office/powerpoint/2010/main" val="274413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348" y="638481"/>
            <a:ext cx="11788302" cy="5488426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Sistemele numerice care lucrează într-o zonă → diferă de altele situate în altă zonă:</a:t>
            </a:r>
          </a:p>
          <a:p>
            <a:pPr lvl="1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Condiţie →  trebuie să comunice.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analizează şi se ia în calcul situaţia cea mai defavorabilă.</a:t>
            </a:r>
          </a:p>
          <a:p>
            <a:r>
              <a:rPr lang="ro-RO" sz="24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Exemplu</a:t>
            </a:r>
            <a:r>
              <a:rPr lang="ro-RO" sz="2400" dirty="0">
                <a:solidFill>
                  <a:srgbClr val="00B050"/>
                </a:solidFill>
              </a:rPr>
              <a:t>:</a:t>
            </a:r>
          </a:p>
          <a:p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24</a:t>
            </a:fld>
            <a:endParaRPr lang="ro-RO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sp>
        <p:nvSpPr>
          <p:cNvPr id="2" name="Rectangle 1"/>
          <p:cNvSpPr/>
          <p:nvPr/>
        </p:nvSpPr>
        <p:spPr>
          <a:xfrm>
            <a:off x="273132" y="2944275"/>
            <a:ext cx="11210307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Toate calculatoarele utilizate în Romania lucrează în principiu la valori normale.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acest motiv → circuitele au fost proiectate pentru o situaţie normală 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Tehnologia de fabricaţie → destul de ieftină.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Însă calculatoarele aflate pe un satelit lucrează în condiţii mai vitrege 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Ex.: la Polul Nord → temperaturi foarte joase.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Circuitele trebuie să lucreze în condiţii extreme.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Tehnologia de fabricaţie → mult mai scumpă → implicit calculatoarele au alt preţ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71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24" y="1083615"/>
            <a:ext cx="11688827" cy="5346700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funcţie de situaţia concretă 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circuitele numerice → dimensionate conform cu condiţiile de funcţionare: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 cât condiţiile de funcţionare → mai restrânse:</a:t>
            </a: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calculatoarele → mai scumpe.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 cât condiţiile de funcţionare → mai permisive:</a:t>
            </a: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calculatoarele → mai ieftine.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Calculatorul → format din porţi logice → semnalul se propagă din poartă în poartă: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construite astfel încât → una să poată comanda pe alta.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Proiectarea circuitelor logice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calculatorul să funcţioneze în cazul cel mai defavorabil!</a:t>
            </a:r>
          </a:p>
          <a:p>
            <a:pPr marL="0" indent="0">
              <a:buNone/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25</a:t>
            </a:fld>
            <a:endParaRPr lang="ro-RO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sp>
        <p:nvSpPr>
          <p:cNvPr id="5" name="Rectangle 4"/>
          <p:cNvSpPr/>
          <p:nvPr/>
        </p:nvSpPr>
        <p:spPr>
          <a:xfrm>
            <a:off x="191682" y="652727"/>
            <a:ext cx="210703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Observație</a:t>
            </a:r>
            <a:r>
              <a:rPr lang="ro-RO" sz="2200" dirty="0">
                <a:solidFill>
                  <a:srgbClr val="00B05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557449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26</a:t>
            </a:fld>
            <a:endParaRPr lang="ro-RO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sp>
        <p:nvSpPr>
          <p:cNvPr id="2" name="Rectangle 1"/>
          <p:cNvSpPr/>
          <p:nvPr/>
        </p:nvSpPr>
        <p:spPr>
          <a:xfrm>
            <a:off x="463049" y="745359"/>
            <a:ext cx="170097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Scenariu:</a:t>
            </a:r>
            <a:endParaRPr lang="ro-RO" sz="2200" dirty="0">
              <a:solidFill>
                <a:srgbClr val="00B05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3049" y="1428221"/>
            <a:ext cx="267893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Poarta ŞI cu diode 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8967" y="1407650"/>
            <a:ext cx="319831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Reprezentare simbolică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336" y="2734912"/>
            <a:ext cx="4296091" cy="1397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70" y="1838539"/>
            <a:ext cx="3301429" cy="3578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Straight Arrow Connector 13"/>
          <p:cNvCxnSpPr>
            <a:stCxn id="1027" idx="3"/>
          </p:cNvCxnSpPr>
          <p:nvPr/>
        </p:nvCxnSpPr>
        <p:spPr>
          <a:xfrm flipV="1">
            <a:off x="3657599" y="3627913"/>
            <a:ext cx="403762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657599" y="4590398"/>
            <a:ext cx="678147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poartă P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 3 intrări A, B, C → realizează funcţia ŞI: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trebuie să comande o Sarcină 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85413" y="5001892"/>
            <a:ext cx="359630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poartă identică sau nu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dispozitiv electronic</a:t>
            </a:r>
          </a:p>
        </p:txBody>
      </p:sp>
      <p:sp>
        <p:nvSpPr>
          <p:cNvPr id="16" name="Left Brace 15"/>
          <p:cNvSpPr/>
          <p:nvPr/>
        </p:nvSpPr>
        <p:spPr>
          <a:xfrm>
            <a:off x="7985413" y="5289765"/>
            <a:ext cx="45719" cy="53225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7617278" y="3627914"/>
            <a:ext cx="232312" cy="15948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6378381" y="3627914"/>
            <a:ext cx="3644393" cy="11459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18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27</a:t>
            </a:fld>
            <a:endParaRPr lang="ro-RO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52" y="1238674"/>
            <a:ext cx="3764478" cy="1224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4435390" y="1242400"/>
            <a:ext cx="7641815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 ca poarta P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să comande la rândul ei: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Circuitul trebuie să furnizeze un curent de sarcină I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dat: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funcţie de câte circuite se comandă.</a:t>
            </a:r>
            <a:r>
              <a:rPr lang="ro-RO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044" y="2775100"/>
            <a:ext cx="3054060" cy="328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 flipH="1">
            <a:off x="3289465" y="2315688"/>
            <a:ext cx="7683335" cy="16862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435390" y="3034599"/>
            <a:ext cx="8767948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Condiţia de funcţionare 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Necesar să se genereze curent de sarcină I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suficient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a.î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poartă  să poată comanda alte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porţi.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518517" y="4855919"/>
                <a:ext cx="7451809" cy="11238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Curentul de sarcină I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(de ieşire) → furnizat de: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curentul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trece prin rezistenţa R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A.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8517" y="4855919"/>
                <a:ext cx="7451809" cy="1123897"/>
              </a:xfrm>
              <a:prstGeom prst="rect">
                <a:avLst/>
              </a:prstGeom>
              <a:blipFill rotWithShape="1">
                <a:blip r:embed="rId4"/>
                <a:stretch>
                  <a:fillRect l="-818" b="-5978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92" y="2521707"/>
            <a:ext cx="3242535" cy="380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" name="Straight Arrow Connector 17"/>
          <p:cNvCxnSpPr>
            <a:cxnSpLocks/>
          </p:cNvCxnSpPr>
          <p:nvPr/>
        </p:nvCxnSpPr>
        <p:spPr>
          <a:xfrm flipH="1" flipV="1">
            <a:off x="3467595" y="4001984"/>
            <a:ext cx="3681350" cy="12627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2606635" y="3558632"/>
            <a:ext cx="3936669" cy="21058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12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28</a:t>
            </a:fld>
            <a:endParaRPr lang="ro-RO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52" y="1238674"/>
            <a:ext cx="3764478" cy="1224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4628361" y="948207"/>
            <a:ext cx="71964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Cazul cel mai defavorabil →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îndeplinirea condiţiei :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044" y="2775100"/>
            <a:ext cx="3054060" cy="328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92" y="2521707"/>
            <a:ext cx="3242535" cy="380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258251" y="1594538"/>
                <a:ext cx="2191040" cy="6437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  <m:r>
                      <a:rPr lang="ro-RO" sz="2200" dirty="0">
                        <a:solidFill>
                          <a:srgbClr val="002060"/>
                        </a:solidFill>
                        <a:latin typeface="Cambria Math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200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251" y="1594538"/>
                <a:ext cx="2191040" cy="643766"/>
              </a:xfrm>
              <a:prstGeom prst="rect">
                <a:avLst/>
              </a:prstGeom>
              <a:blipFill rotWithShape="1">
                <a:blip r:embed="rId5"/>
                <a:stretch>
                  <a:fillRect l="-3343" b="-666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628360" y="2246453"/>
                <a:ext cx="6846171" cy="18773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Pentru analiza funcţionării electronice: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interesează  situaţia în care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minim.</a:t>
                </a:r>
              </a:p>
              <a:p>
                <a:pPr marL="1257300" lvl="2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AA</m:t>
                            </m:r>
                          </m:sub>
                        </m:s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360" y="2246453"/>
                <a:ext cx="6846171" cy="1877373"/>
              </a:xfrm>
              <a:prstGeom prst="rect">
                <a:avLst/>
              </a:prstGeom>
              <a:blipFill>
                <a:blip r:embed="rId6"/>
                <a:stretch>
                  <a:fillRect l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737229" y="4235321"/>
                <a:ext cx="1635928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</a:rPr>
                          <m:t>H</m:t>
                        </m:r>
                        <m:r>
                          <a:rPr lang="ro-RO" sz="2200" b="0" i="0" smtClean="0">
                            <a:latin typeface="Cambria Math"/>
                          </a:rPr>
                          <m:t>   </m:t>
                        </m:r>
                      </m:sub>
                    </m:sSub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7229" y="4235321"/>
                <a:ext cx="1635928" cy="430887"/>
              </a:xfrm>
              <a:prstGeom prst="rect">
                <a:avLst/>
              </a:prstGeom>
              <a:blipFill rotWithShape="1">
                <a:blip r:embed="rId7"/>
                <a:stretch>
                  <a:fillRect l="-4089" t="-5714" b="-2571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4628361" y="4509689"/>
            <a:ext cx="27703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Funcţionarea logică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o-R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737229" y="4852234"/>
                <a:ext cx="1635928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</a:rPr>
                          <m:t>L</m:t>
                        </m:r>
                        <m:r>
                          <a:rPr lang="ro-RO" sz="2200" b="0" i="0" smtClean="0">
                            <a:latin typeface="Cambria Math"/>
                          </a:rPr>
                          <m:t>   </m:t>
                        </m:r>
                      </m:sub>
                    </m:sSub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7229" y="4852234"/>
                <a:ext cx="1635928" cy="430887"/>
              </a:xfrm>
              <a:prstGeom prst="rect">
                <a:avLst/>
              </a:prstGeom>
              <a:blipFill rotWithShape="1">
                <a:blip r:embed="rId8"/>
                <a:stretch>
                  <a:fillRect l="-4089" t="-5634" b="-239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eft Brace 14"/>
          <p:cNvSpPr/>
          <p:nvPr/>
        </p:nvSpPr>
        <p:spPr>
          <a:xfrm>
            <a:off x="7555188" y="4450765"/>
            <a:ext cx="45719" cy="73581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5295749" y="5283121"/>
                <a:ext cx="5926433" cy="10908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1" indent="-342900" fontAlgn="base">
                  <a:lnSpc>
                    <a:spcPct val="150000"/>
                  </a:lnSpc>
                  <a:buFont typeface="Symbol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minim dacă: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AA</m:t>
                        </m:r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→ minim.</a:t>
                </a:r>
              </a:p>
              <a:p>
                <a:pPr marL="2628900" lvl="6" indent="-342900" fontAlgn="base">
                  <a:lnSpc>
                    <a:spcPct val="150000"/>
                  </a:lnSpc>
                  <a:buFont typeface="Symbol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/>
                          </a:rPr>
                          <m:t>H</m:t>
                        </m:r>
                        <m:r>
                          <a:rPr lang="ro-RO" sz="2200">
                            <a:latin typeface="Cambria Math"/>
                          </a:rPr>
                          <m:t>   </m:t>
                        </m:r>
                      </m:sub>
                    </m:sSub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749" y="5283121"/>
                <a:ext cx="5926433" cy="1090811"/>
              </a:xfrm>
              <a:prstGeom prst="rect">
                <a:avLst/>
              </a:prstGeom>
              <a:blipFill>
                <a:blip r:embed="rId9"/>
                <a:stretch>
                  <a:fillRect l="-1440" b="-10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H="1" flipV="1">
            <a:off x="2660073" y="3099460"/>
            <a:ext cx="4037610" cy="5700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3526971" y="3669475"/>
            <a:ext cx="3826800" cy="4543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2743200" y="3669475"/>
            <a:ext cx="4168239" cy="227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7398671" y="3783062"/>
            <a:ext cx="1543448" cy="17152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7555188" y="3801534"/>
            <a:ext cx="615207" cy="20758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2861953" y="2018805"/>
            <a:ext cx="3835730" cy="17642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Rectangle 2047"/>
          <p:cNvSpPr/>
          <p:nvPr/>
        </p:nvSpPr>
        <p:spPr>
          <a:xfrm>
            <a:off x="8389914" y="1779771"/>
            <a:ext cx="373692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Circuitul să poată furniza →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200" dirty="0"/>
          </a:p>
        </p:txBody>
      </p:sp>
      <p:cxnSp>
        <p:nvCxnSpPr>
          <p:cNvPr id="2052" name="Straight Arrow Connector 2051"/>
          <p:cNvCxnSpPr/>
          <p:nvPr/>
        </p:nvCxnSpPr>
        <p:spPr>
          <a:xfrm>
            <a:off x="8051445" y="1995214"/>
            <a:ext cx="2075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02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29</a:t>
            </a:fld>
            <a:endParaRPr lang="ro-RO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52" y="1238674"/>
            <a:ext cx="3764478" cy="1224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4628361" y="948207"/>
            <a:ext cx="7196494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Cazul cel mai defavorabil → </a:t>
            </a:r>
            <a:r>
              <a:rPr lang="ro-RO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funcţionare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o-RO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ctronică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044" y="2775100"/>
            <a:ext cx="3054060" cy="328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92" y="2521707"/>
            <a:ext cx="3242535" cy="380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008503" y="1621533"/>
                <a:ext cx="2191040" cy="6437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  <m:r>
                      <a:rPr lang="ro-RO" sz="2200" dirty="0">
                        <a:solidFill>
                          <a:srgbClr val="002060"/>
                        </a:solidFill>
                        <a:latin typeface="Cambria Math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200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503" y="1621533"/>
                <a:ext cx="2191040" cy="643766"/>
              </a:xfrm>
              <a:prstGeom prst="rect">
                <a:avLst/>
              </a:prstGeom>
              <a:blipFill rotWithShape="1">
                <a:blip r:embed="rId5"/>
                <a:stretch>
                  <a:fillRect l="-3343" b="-566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628360" y="2246453"/>
                <a:ext cx="6846171" cy="8181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171700" lvl="4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AA</m:t>
                            </m:r>
                          </m:sub>
                        </m:s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den>
                    </m:f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200" dirty="0" smtClean="0">
                        <a:solidFill>
                          <a:schemeClr val="tx1"/>
                        </a:solidFill>
                        <a:latin typeface="Cambria Math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ro-RO" sz="22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360" y="2246453"/>
                <a:ext cx="6846171" cy="8181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4556698" y="4730683"/>
            <a:ext cx="7484881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Dacă circuitul → astfel dimensionat încât: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Să fie îndeplinită condiţia (1) 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Funcţionare corectă </a:t>
            </a:r>
            <a:r>
              <a:rPr lang="ro-RO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d.p.d.v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electronic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5717442" y="3294030"/>
                <a:ext cx="2963216" cy="8873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-457200" fontAlgn="base">
                  <a:lnSpc>
                    <a:spcPct val="150000"/>
                  </a:lnSpc>
                  <a:buFont typeface="Symbol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ro-RO" sz="22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AA</m:t>
                            </m:r>
                          </m:sub>
                        </m:sSub>
                        <m:r>
                          <a:rPr lang="ro-RO" sz="22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442" y="3294030"/>
                <a:ext cx="2963216" cy="88735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0793576" y="3616165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ro-RO" dirty="0"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50645" y="4229874"/>
            <a:ext cx="18838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Observaţie:</a:t>
            </a:r>
          </a:p>
        </p:txBody>
      </p:sp>
    </p:spTree>
    <p:extLst>
      <p:ext uri="{BB962C8B-B14F-4D97-AF65-F5344CB8AC3E}">
        <p14:creationId xmlns:p14="http://schemas.microsoft.com/office/powerpoint/2010/main" val="225140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30</a:t>
            </a:fld>
            <a:endParaRPr lang="ro-RO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26" y="2907843"/>
            <a:ext cx="3242535" cy="380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5248892" y="2551583"/>
                <a:ext cx="6709560" cy="42438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curent de sarcină – cunoscut 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sarcina → o altă poartă sau alte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porţi.</a:t>
                </a:r>
              </a:p>
              <a:p>
                <a:pPr marL="342900" lvl="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Elemente variabile: 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N</m:t>
                            </m:r>
                          </m:sub>
                        </m:sSub>
                      </m:sub>
                    </m:sSub>
                    <m:r>
                      <a:rPr lang="ro-RO" sz="2200" i="1">
                        <a:solidFill>
                          <a:srgbClr val="00206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rezistență nominală;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Toate rezistenţele  faţă de valoarea nominală: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au o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toleranţă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specifică →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ro-RO" sz="2200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±10%</a:t>
                </a:r>
                <a:r>
                  <a:rPr lang="ro-RO" sz="2200" dirty="0">
                    <a:solidFill>
                      <a:srgbClr val="00206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N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; 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Ex:</a:t>
                </a:r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 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1K</a:t>
                </a:r>
                <a:r>
                  <a:rPr lang="el-GR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±10%;</a:t>
                </a:r>
                <a:endParaRPr lang="en-US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14:m>
                  <m:oMath xmlns:m="http://schemas.openxmlformats.org/officeDocument/2006/math">
                    <m:r>
                      <a:rPr lang="ro-RO" sz="22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∈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[900</a:t>
                </a:r>
                <a:r>
                  <a:rPr lang="el-GR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Ω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÷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1,1K</a:t>
                </a:r>
                <a:r>
                  <a:rPr lang="el-GR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Ω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892" y="2551583"/>
                <a:ext cx="6709560" cy="4243854"/>
              </a:xfrm>
              <a:prstGeom prst="rect">
                <a:avLst/>
              </a:prstGeom>
              <a:blipFill>
                <a:blip r:embed="rId3"/>
                <a:stretch>
                  <a:fillRect l="-999" b="-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306657" y="745359"/>
            <a:ext cx="11770548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 condiţii de funcţionare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severe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analiza tuturor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 pot influenţa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funcţionarea circuitului în cazul cel mai defavorabil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Rezistenţa </a:t>
            </a:r>
            <a:r>
              <a:rPr lang="ro-RO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Toleran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ţa </a:t>
            </a:r>
            <a:endParaRPr lang="ro-RO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Tensiunea de alimentare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 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574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31</a:t>
            </a:fld>
            <a:endParaRPr lang="ro-RO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5290" y="930595"/>
            <a:ext cx="2297130" cy="2693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14695" y="3837452"/>
                <a:ext cx="9898083" cy="27203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N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± t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 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poate constata la ora de laborator → notaţie rezistenţă.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Cazul cel mai defavorabil: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zistenţa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trebuie să aibă valori maxime în câmpul de toleranţă:</a:t>
                </a:r>
              </a:p>
              <a:p>
                <a:pPr marL="1257300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ro-RO" sz="2200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ro-RO" sz="2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B05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B05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B05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N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(1±t</a:t>
                </a:r>
                <a:r>
                  <a:rPr lang="ro-RO" sz="2200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ro-RO" sz="2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95" y="3837452"/>
                <a:ext cx="9898083" cy="2720360"/>
              </a:xfrm>
              <a:prstGeom prst="rect">
                <a:avLst/>
              </a:prstGeom>
              <a:blipFill>
                <a:blip r:embed="rId3"/>
                <a:stretch>
                  <a:fillRect l="-678" b="-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314696" y="1173460"/>
            <a:ext cx="7540831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 cât toleranţa → mai mică: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 atât preţul rezistenţei → mai mare.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 a obţine o rezistenţă fixă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preţul ar fi foarte mare: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ircuitele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numerice au preţul foarte mic: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proiectate în cazul cel mai defavorabil.</a:t>
            </a:r>
          </a:p>
        </p:txBody>
      </p:sp>
      <p:sp>
        <p:nvSpPr>
          <p:cNvPr id="3" name="Rectangle 2"/>
          <p:cNvSpPr/>
          <p:nvPr/>
        </p:nvSpPr>
        <p:spPr>
          <a:xfrm>
            <a:off x="4085111" y="5734769"/>
            <a:ext cx="524889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=0,1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10% R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(din valoarea întreagă);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=0,2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20% R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4696" y="742573"/>
            <a:ext cx="18838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Observaţie:</a:t>
            </a:r>
          </a:p>
        </p:txBody>
      </p:sp>
    </p:spTree>
    <p:extLst>
      <p:ext uri="{BB962C8B-B14F-4D97-AF65-F5344CB8AC3E}">
        <p14:creationId xmlns:p14="http://schemas.microsoft.com/office/powerpoint/2010/main" val="3043023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32</a:t>
            </a:fld>
            <a:endParaRPr lang="ro-RO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27" y="3489596"/>
            <a:ext cx="2665001" cy="3124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37505" y="745359"/>
            <a:ext cx="1147156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Curentul de ieşire → influenţat şi de tensiunea de alimentare 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puţin probabil ca toate circuitele să aibă aceeaşi tensiune de alimentare: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acceptate anumite toleranţe de lucru: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085112" y="3631163"/>
                <a:ext cx="7980218" cy="22476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2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Toate tensiunile de alimentare faţă de valoarea nominală</a:t>
                </a: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AA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N</m:t>
                            </m:r>
                          </m:sub>
                        </m:sSub>
                      </m:sub>
                    </m:sSub>
                    <m:r>
                      <a:rPr lang="ro-RO" sz="2200" i="1">
                        <a:solidFill>
                          <a:srgbClr val="00206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800100" lvl="3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 o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toleranţă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specifică →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ro-RO" sz="2200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±10%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AA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N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Ex: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</a:t>
                </a:r>
                <a:r>
                  <a:rPr lang="ro-RO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AA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0V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±10%;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m:rPr>
                        <m:nor/>
                      </m:rPr>
                      <a:rPr lang="ro-RO" sz="24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AA</m:t>
                    </m:r>
                    <m:r>
                      <a:rPr lang="ro-RO" sz="2800" i="1">
                        <a:latin typeface="Cambria Math"/>
                        <a:ea typeface="Cambria Math"/>
                      </a:rPr>
                      <m:t>∈</m:t>
                    </m:r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[9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÷11V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112" y="3631163"/>
                <a:ext cx="7980218" cy="2247667"/>
              </a:xfrm>
              <a:prstGeom prst="rect">
                <a:avLst/>
              </a:prstGeom>
              <a:blipFill rotWithShape="1">
                <a:blip r:embed="rId3"/>
                <a:stretch>
                  <a:fillRect l="-840" b="-190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449288" y="2394649"/>
                <a:ext cx="6096000" cy="120263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342900" lvl="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Elemente variabile: 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40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sSub>
                          <m:sSubPr>
                            <m:ctrlPr>
                              <a:rPr lang="ro-RO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40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AA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40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N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Tensiunea de alimentare nominală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288" y="2394649"/>
                <a:ext cx="6096000" cy="1202637"/>
              </a:xfrm>
              <a:prstGeom prst="rect">
                <a:avLst/>
              </a:prstGeom>
              <a:blipFill rotWithShape="1">
                <a:blip r:embed="rId4"/>
                <a:stretch>
                  <a:fillRect l="-1100" b="-203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7865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33</a:t>
            </a:fld>
            <a:endParaRPr lang="ro-RO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05" y="2845023"/>
            <a:ext cx="3052486" cy="3579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37505" y="745359"/>
            <a:ext cx="1147156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Toate aceste aspecte legate de toleranţe: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trebuie integrate în relaţia de dimensionare a rezistenţei  → cazul cel mai defavorabil: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698920" y="1924637"/>
                <a:ext cx="2963216" cy="8873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-457200" fontAlgn="base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ro-RO" sz="22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AA</m:t>
                            </m:r>
                          </m:sub>
                        </m:sSub>
                        <m:r>
                          <a:rPr lang="ro-RO" sz="22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920" y="1924637"/>
                <a:ext cx="2963216" cy="88735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4277686" y="3944045"/>
            <a:ext cx="788917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Într –o relaţie matematică nu poate fi şi „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şi „-”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Trebuie analizat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găsi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defavorabilă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condiţie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F2EBA8-E3B2-4456-95A5-52CD74D1C3E8}"/>
              </a:ext>
            </a:extLst>
          </p:cNvPr>
          <p:cNvSpPr txBox="1"/>
          <p:nvPr/>
        </p:nvSpPr>
        <p:spPr>
          <a:xfrm>
            <a:off x="7554787" y="5377970"/>
            <a:ext cx="456906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Termenul trebuie să fie cel mai mic!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378430" y="5406245"/>
                <a:ext cx="2983317" cy="6670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sSub>
                          <m:sSubPr>
                            <m:ctrlPr>
                              <a:rPr lang="ro-RO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N</m:t>
                            </m:r>
                          </m:sub>
                        </m:sSub>
                      </m:sub>
                    </m:sSub>
                    <m:r>
                      <a:rPr lang="ro-RO" sz="2200" i="0">
                        <a:solidFill>
                          <a:srgbClr val="00206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≤</a:t>
                </a:r>
                <a14:m>
                  <m:oMath xmlns:m="http://schemas.openxmlformats.org/officeDocument/2006/math">
                    <m:r>
                      <a:rPr lang="ro-RO" sz="2200" i="0">
                        <a:solidFill>
                          <a:srgbClr val="002060"/>
                        </a:solidFill>
                        <a:latin typeface="Cambria Math"/>
                      </a:rPr>
                      <m:t>  </m:t>
                    </m:r>
                    <m:f>
                      <m:f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V</m:t>
                            </m:r>
                          </m:e>
                          <m:sub>
                            <m:sSub>
                              <m:sSubPr>
                                <m:ctrlPr>
                                  <a:rPr lang="ro-RO" sz="22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solidFill>
                                      <a:srgbClr val="00206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AA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solidFill>
                                      <a:srgbClr val="00206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N</m:t>
                                </m:r>
                              </m:sub>
                            </m:sSub>
                          </m:sub>
                        </m:sSub>
                        <m:r>
                          <a:rPr lang="ro-RO" sz="2200" i="0">
                            <a:solidFill>
                              <a:srgbClr val="002060"/>
                            </a:solidFill>
                            <a:latin typeface="Cambria Math"/>
                          </a:rPr>
                          <m:t>(1−</m:t>
                        </m:r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u</m:t>
                            </m:r>
                          </m:sub>
                        </m:sSub>
                        <m:r>
                          <a:rPr lang="ro-RO" sz="2200" i="0">
                            <a:solidFill>
                              <a:srgbClr val="002060"/>
                            </a:solidFill>
                            <a:latin typeface="Cambria Math"/>
                          </a:rPr>
                          <m:t>)−</m:t>
                        </m:r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H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S</m:t>
                            </m:r>
                          </m:sub>
                        </m:sSub>
                        <m:r>
                          <a:rPr lang="ro-RO" sz="2200" i="0">
                            <a:solidFill>
                              <a:srgbClr val="002060"/>
                            </a:solidFill>
                            <a:latin typeface="Cambria Math"/>
                          </a:rPr>
                          <m:t>(1+</m:t>
                        </m:r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r</m:t>
                            </m:r>
                          </m:sub>
                        </m:sSub>
                        <m:r>
                          <a:rPr lang="ro-RO" sz="2200" i="0">
                            <a:solidFill>
                              <a:srgbClr val="002060"/>
                            </a:solidFill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endParaRPr lang="ro-RO" sz="2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430" y="5406245"/>
                <a:ext cx="2983317" cy="66704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Elbow Connector 15"/>
          <p:cNvCxnSpPr/>
          <p:nvPr/>
        </p:nvCxnSpPr>
        <p:spPr>
          <a:xfrm>
            <a:off x="6613134" y="5167692"/>
            <a:ext cx="1108952" cy="286163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6595923" y="5167692"/>
            <a:ext cx="2661" cy="2385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 flipV="1">
            <a:off x="6613134" y="5887071"/>
            <a:ext cx="1047595" cy="28504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50" name="Straight Arrow Connector 2049"/>
          <p:cNvCxnSpPr/>
          <p:nvPr/>
        </p:nvCxnSpPr>
        <p:spPr>
          <a:xfrm flipV="1">
            <a:off x="6598584" y="5978134"/>
            <a:ext cx="0" cy="2183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4351925" y="2556973"/>
                <a:ext cx="4522418" cy="8808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-457200" fontAlgn="base">
                  <a:lnSpc>
                    <a:spcPct val="150000"/>
                  </a:lnSpc>
                  <a:buFont typeface="Symbol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N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(1±t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≤</a:t>
                </a:r>
                <a14:m>
                  <m:oMath xmlns:m="http://schemas.openxmlformats.org/officeDocument/2006/math">
                    <m:r>
                      <a:rPr lang="ro-RO" sz="2200" i="1">
                        <a:latin typeface="Cambria Math"/>
                      </a:rPr>
                      <m:t> </m:t>
                    </m:r>
                    <m:f>
                      <m:f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V</m:t>
                            </m:r>
                          </m:e>
                          <m:sub>
                            <m:sSub>
                              <m:sSubPr>
                                <m:ctrlPr>
                                  <a:rPr lang="ro-RO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AA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N</m:t>
                                </m:r>
                              </m:sub>
                            </m:sSub>
                          </m:sub>
                        </m:sSub>
                        <m:r>
                          <a:rPr lang="ro-RO" sz="2200">
                            <a:solidFill>
                              <a:schemeClr val="tx1"/>
                            </a:solidFill>
                            <a:latin typeface="Cambria Math"/>
                          </a:rPr>
                          <m:t>(1±</m:t>
                        </m:r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u</m:t>
                            </m:r>
                          </m:sub>
                        </m:sSub>
                        <m:r>
                          <a:rPr lang="ro-RO" sz="2200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  <m:r>
                          <a:rPr lang="ro-RO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H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S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925" y="2556973"/>
                <a:ext cx="4522418" cy="8808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5" name="Rectangle 2054"/>
          <p:cNvSpPr/>
          <p:nvPr/>
        </p:nvSpPr>
        <p:spPr>
          <a:xfrm>
            <a:off x="6096000" y="3543935"/>
            <a:ext cx="51308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o-RO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valori maxime în câmpul de toleranţă (+)</a:t>
            </a:r>
            <a:endParaRPr lang="ro-RO" sz="2000" dirty="0">
              <a:solidFill>
                <a:srgbClr val="002060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065576" y="2125148"/>
            <a:ext cx="51264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 </a:t>
            </a:r>
            <a:r>
              <a:rPr lang="ro-RO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valori minime în câmpul de toleranţă (-)</a:t>
            </a:r>
            <a:endParaRPr lang="ro-RO" sz="2000" dirty="0">
              <a:solidFill>
                <a:srgbClr val="002060"/>
              </a:solidFill>
            </a:endParaRPr>
          </a:p>
        </p:txBody>
      </p:sp>
      <p:cxnSp>
        <p:nvCxnSpPr>
          <p:cNvPr id="2066" name="Elbow Connector 2065"/>
          <p:cNvCxnSpPr/>
          <p:nvPr/>
        </p:nvCxnSpPr>
        <p:spPr>
          <a:xfrm rot="16200000" flipH="1">
            <a:off x="5646246" y="3359518"/>
            <a:ext cx="447687" cy="26015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71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987" y="2285106"/>
            <a:ext cx="3429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5313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/>
      <p:bldP spid="40" grpId="0"/>
      <p:bldP spid="2055" grpId="0"/>
      <p:bldP spid="4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34</a:t>
            </a:fld>
            <a:endParaRPr lang="ro-RO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696" y="3586347"/>
            <a:ext cx="2979780" cy="3075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86794" y="3405918"/>
            <a:ext cx="6927274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După ce s-a terminat cu dimensionarea rezistenţei R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 situaţia în care poarta  P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comandă o sarcină oarecare: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trece la etapa următoare şi anume: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73" y="1282260"/>
            <a:ext cx="1207720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Circuitul analizat este simplu: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există o singură rezistenţă R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care trebuie dimensionată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Dacă există mai multe rezistenţe → absolut necesar ca toate să fie dimensionate: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ţinând cont de situaţia cea mai defavorabilă → funcţionare circuit.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4696" y="742573"/>
            <a:ext cx="18838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Observaţie:</a:t>
            </a: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363" y="5123974"/>
            <a:ext cx="3416135" cy="1111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Arrow Connector 11"/>
          <p:cNvCxnSpPr/>
          <p:nvPr/>
        </p:nvCxnSpPr>
        <p:spPr>
          <a:xfrm flipH="1">
            <a:off x="2315688" y="2149434"/>
            <a:ext cx="1805050" cy="23631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779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35</a:t>
            </a:fld>
            <a:endParaRPr lang="ro-RO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397" y="585974"/>
            <a:ext cx="12077205" cy="1047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AutoNum type="alphaLcParenR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consideră în continuare că poarta P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comandată la rândul ei de o altă poarta P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la una din intrări: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Celelalte intrări se presupune că sunt comandate de alte porţi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4171" y="4346974"/>
            <a:ext cx="18838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Observaţie:</a:t>
            </a:r>
          </a:p>
        </p:txBody>
      </p:sp>
      <p:sp>
        <p:nvSpPr>
          <p:cNvPr id="5" name="Rectangle 4"/>
          <p:cNvSpPr/>
          <p:nvPr/>
        </p:nvSpPr>
        <p:spPr>
          <a:xfrm>
            <a:off x="174170" y="4777861"/>
            <a:ext cx="1103613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proiectare se dimensionează din aproape în aproape toate circuitele de la ieşire spre intrare: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circuitul de la ieşire comandă întotdeauna alt circuit (ex. mufă,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553" y="3654469"/>
            <a:ext cx="697477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Poarta P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trebuie dimensionată la rândul ei.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606" y="1842203"/>
            <a:ext cx="4651746" cy="1304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>
          <a:xfrm>
            <a:off x="4372483" y="3244334"/>
            <a:ext cx="28536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Fig.8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Poarta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o-RO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comandă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poarta</a:t>
            </a:r>
            <a:r>
              <a:rPr lang="ro-RO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o-RO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o-RO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o-RO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81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36</a:t>
            </a:fld>
            <a:endParaRPr lang="ro-RO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3726" y="1017254"/>
            <a:ext cx="1054924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 ca P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să funcţioneze trebuie determinat curentul de intrare (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o-RO" sz="2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acestei porţi 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curent ce generează curent de sarcină (I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pentru P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497" y="2018450"/>
            <a:ext cx="3503255" cy="3944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3725" y="3990869"/>
                <a:ext cx="7164601" cy="16663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Curentul de intrare (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ro-RO" sz="22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dat tot de rezistenţa R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  <a:cs typeface="Times New Roman" panose="02020603050405020304" pitchFamily="18" charset="0"/>
                              </a:rPr>
                              <m:t>I</m:t>
                            </m:r>
                          </m:e>
                          <m:sub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</m:sub>
                            </m:sSub>
                          </m:sub>
                        </m:sSub>
                      </m:e>
                      <m:sup>
                        <m:r>
                          <a:rPr lang="en-US" sz="2200"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Cazul cel mai defavorabil pentru funcţionare circuit:</a:t>
                </a:r>
              </a:p>
              <a:p>
                <a:pPr marL="1257300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Curentul de intrare (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ro-RO" sz="22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maxim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int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max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25" y="3990869"/>
                <a:ext cx="7164601" cy="1666354"/>
              </a:xfrm>
              <a:prstGeom prst="rect">
                <a:avLst/>
              </a:prstGeom>
              <a:blipFill>
                <a:blip r:embed="rId3"/>
                <a:stretch>
                  <a:fillRect l="-935" r="-425" b="-4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319" y="2226507"/>
            <a:ext cx="5120351" cy="176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Straight Arrow Connector 13"/>
          <p:cNvCxnSpPr/>
          <p:nvPr/>
        </p:nvCxnSpPr>
        <p:spPr>
          <a:xfrm>
            <a:off x="1854544" y="1433015"/>
            <a:ext cx="2703808" cy="15012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4435522" y="1571252"/>
            <a:ext cx="3766782" cy="15374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2429301" y="2125250"/>
            <a:ext cx="3288141" cy="983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3281377" y="3357349"/>
            <a:ext cx="5712498" cy="928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939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37</a:t>
            </a:fld>
            <a:endParaRPr lang="ro-RO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33726" y="1017254"/>
                <a:ext cx="7641032" cy="16581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Cazul cel mai defavorabil →</a:t>
                </a:r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 de intrare maxim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int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max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o-RO" sz="2200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 curentul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  <m:sup>
                        <m: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ro-RO" sz="22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închide printr-o diodă:</a:t>
                </a:r>
              </a:p>
              <a:p>
                <a:pPr marL="1257300" lvl="2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 diodă conduce, iar celelalte două sunt blocate: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26" y="1017254"/>
                <a:ext cx="7641032" cy="1658146"/>
              </a:xfrm>
              <a:prstGeom prst="rect">
                <a:avLst/>
              </a:prstGeom>
              <a:blipFill>
                <a:blip r:embed="rId2"/>
                <a:stretch>
                  <a:fillRect l="-877" r="-877" b="-6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758" y="1017254"/>
            <a:ext cx="4216721" cy="1452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4544" y="2668988"/>
            <a:ext cx="7750214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Situaţia particulară din descrierea funcţionării logice a porţii ŞI: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  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conduce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D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blocate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060" y="2443049"/>
            <a:ext cx="3945083" cy="4285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33724" y="4284815"/>
                <a:ext cx="7641034" cy="11541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int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max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 poate fi şi mai mare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atunci când: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adaugă şi curenţii reziduali (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din cele 2 diode blocate: 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24" y="4284815"/>
                <a:ext cx="7641034" cy="1154162"/>
              </a:xfrm>
              <a:prstGeom prst="rect">
                <a:avLst/>
              </a:prstGeom>
              <a:blipFill rotWithShape="1">
                <a:blip r:embed="rId5"/>
                <a:stretch>
                  <a:fillRect l="-797" r="-1356" b="-476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>
            <a:off x="2866030" y="2047164"/>
            <a:ext cx="7001301" cy="1429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866030" y="3671248"/>
            <a:ext cx="6127845" cy="6135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261815" y="4162567"/>
            <a:ext cx="5950424" cy="84616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261815" y="4162567"/>
            <a:ext cx="6168788" cy="16650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6750" y="2470245"/>
            <a:ext cx="3686265" cy="408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" name="Straight Arrow Connector 23"/>
          <p:cNvCxnSpPr/>
          <p:nvPr/>
        </p:nvCxnSpPr>
        <p:spPr>
          <a:xfrm>
            <a:off x="4872251" y="5199797"/>
            <a:ext cx="4995080" cy="1376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872251" y="5199797"/>
            <a:ext cx="5110867" cy="8052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2077719" y="5438977"/>
                <a:ext cx="5352826" cy="6100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int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sub>
                    </m:sSub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ro-RO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  <m:sup>
                        <m: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sz="2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                 </m:t>
                    </m:r>
                    <m:r>
                      <m:rPr>
                        <m:nor/>
                      </m:rPr>
                      <a:rPr lang="en-US" sz="2200" dirty="0">
                        <a:solidFill>
                          <a:srgbClr val="00206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sz="2200" b="0" i="0" dirty="0" smtClean="0">
                        <a:solidFill>
                          <a:srgbClr val="002060"/>
                        </a:solidFill>
                      </a:rPr>
                      <m:t>2</m:t>
                    </m:r>
                    <m:r>
                      <m:rPr>
                        <m:nor/>
                      </m:rPr>
                      <a:rPr lang="en-US" sz="2200" dirty="0">
                        <a:solidFill>
                          <a:srgbClr val="002060"/>
                        </a:solidFill>
                      </a:rPr>
                      <m:t>)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719" y="5438977"/>
                <a:ext cx="5352826" cy="610039"/>
              </a:xfrm>
              <a:prstGeom prst="rect">
                <a:avLst/>
              </a:prstGeom>
              <a:blipFill>
                <a:blip r:embed="rId7"/>
                <a:stretch>
                  <a:fillRect l="-1253" b="-1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814513" y="6077274"/>
            <a:ext cx="405773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numărul de intrări</a:t>
            </a:r>
            <a:endParaRPr lang="ro-RO" sz="2200" dirty="0"/>
          </a:p>
        </p:txBody>
      </p:sp>
    </p:spTree>
    <p:extLst>
      <p:ext uri="{BB962C8B-B14F-4D97-AF65-F5344CB8AC3E}">
        <p14:creationId xmlns:p14="http://schemas.microsoft.com/office/powerpoint/2010/main" val="1464151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38</a:t>
            </a:fld>
            <a:endParaRPr lang="ro-RO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33726" y="1017254"/>
                <a:ext cx="7641032" cy="21746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  <m:sup>
                        <m: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ro-RO" sz="22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AA</m:t>
                            </m:r>
                          </m:sub>
                        </m:s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den>
                    </m:f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endParaRPr lang="ro-RO" sz="2200" dirty="0">
                  <a:latin typeface="Cambria Math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  <m:sup>
                        <m:r>
                          <a:rPr lang="ro-RO" sz="2200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ro-RO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maxim când diferența de potențial e maximă (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o-RO" sz="22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=V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); </a:t>
                </a:r>
                <a:endParaRPr lang="ro-RO" sz="2200" dirty="0">
                  <a:latin typeface="Cambria Math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  <m:sup>
                        <m:r>
                          <a:rPr lang="ro-RO" sz="2200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ro-RO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AA</m:t>
                            </m:r>
                          </m:sub>
                        </m:s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L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26" y="1017254"/>
                <a:ext cx="7641032" cy="2174634"/>
              </a:xfrm>
              <a:prstGeom prst="rect">
                <a:avLst/>
              </a:prstGeom>
              <a:blipFill>
                <a:blip r:embed="rId2"/>
                <a:stretch>
                  <a:fillRect l="-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758" y="1017254"/>
            <a:ext cx="4216721" cy="1452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985" y="2668988"/>
            <a:ext cx="3686265" cy="408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50409" y="4912020"/>
                <a:ext cx="7124349" cy="10427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Din (2) 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int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sub>
                    </m:sSub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f>
                              <m:fPr>
                                <m:ctrlPr>
                                  <a:rPr lang="ro-RO" sz="22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o-RO" sz="22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AA</m:t>
                                    </m:r>
                                  </m:sub>
                                </m:sSub>
                                <m:r>
                                  <a:rPr lang="ro-RO" sz="22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o-RO" sz="22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ro-RO" sz="22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sub>
                                </m:sSub>
                              </m:den>
                            </m:f>
                          </m:e>
                        </m:groupChr>
                      </m:e>
                      <m:lim>
                        <m:sSubSup>
                          <m:sSubSup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sSub>
                              <m:sSubPr>
                                <m:ctrlPr>
                                  <a:rPr lang="ro-RO" sz="22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sub>
                            </m:sSub>
                          </m:sub>
                          <m:sup>
                            <m: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</m:lim>
                    </m:limLow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 (</m:t>
                    </m:r>
                    <m:r>
                      <m:rPr>
                        <m:sty m:val="p"/>
                      </m:rP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−1)</m:t>
                    </m:r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002060"/>
                    </a:solidFill>
                  </a:rPr>
                  <a:t>                       (3)</a:t>
                </a:r>
                <a:endParaRPr lang="ro-RO" sz="2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09" y="4912020"/>
                <a:ext cx="7124349" cy="1042786"/>
              </a:xfrm>
              <a:prstGeom prst="rect">
                <a:avLst/>
              </a:prstGeom>
              <a:blipFill>
                <a:blip r:embed="rId5"/>
                <a:stretch>
                  <a:fillRect l="-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233726" y="3469822"/>
            <a:ext cx="777809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Cazul cel mai defavorabil → 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</a:t>
            </a:r>
            <a:r>
              <a:rPr lang="ro-RO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ţia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funcţionare corectă: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atât </a:t>
            </a:r>
            <a:r>
              <a:rPr lang="ro-RO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d.p.d.v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logic cât si electronic </a:t>
            </a:r>
            <a:endParaRPr lang="ro-RO" sz="2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277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537" y="1176246"/>
            <a:ext cx="11851151" cy="720793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Curentul rezidual I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depinde de temperatură la care lucrează dioda → creşte liniar odată cu ea: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39</a:t>
            </a:fld>
            <a:endParaRPr lang="ro-R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5D549F-D055-421C-A88A-316C5DB72EC3}"/>
              </a:ext>
            </a:extLst>
          </p:cNvPr>
          <p:cNvSpPr/>
          <p:nvPr/>
        </p:nvSpPr>
        <p:spPr>
          <a:xfrm>
            <a:off x="8221807" y="5890984"/>
            <a:ext cx="3784882" cy="311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Fig.9 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Curentul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</a:t>
            </a:r>
            <a:r>
              <a:rPr lang="ro-RO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idual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funcţie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temperatur</a:t>
            </a:r>
            <a:r>
              <a:rPr lang="ro-RO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ă</a:t>
            </a:r>
            <a:endParaRPr lang="ro-RO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sp>
        <p:nvSpPr>
          <p:cNvPr id="11" name="Rectangle 10"/>
          <p:cNvSpPr/>
          <p:nvPr/>
        </p:nvSpPr>
        <p:spPr>
          <a:xfrm>
            <a:off x="303325" y="2217717"/>
            <a:ext cx="7470549" cy="4138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foile de catalog se găseşte valoarea respectivă → I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Cum se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alege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maxim?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oarta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respectivă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lucrează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o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anumită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temperatură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maximă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cunoscută: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0max  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superioară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care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lucra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circuit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instalează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ventilatoare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răcire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funcţiona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condiţii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lucru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9E4B01-139D-B7CC-0D6A-9D63A3FEEA0E}"/>
              </a:ext>
            </a:extLst>
          </p:cNvPr>
          <p:cNvSpPr/>
          <p:nvPr/>
        </p:nvSpPr>
        <p:spPr>
          <a:xfrm>
            <a:off x="434659" y="4859917"/>
            <a:ext cx="145745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i="1" dirty="0"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Solu</a:t>
            </a:r>
            <a:r>
              <a:rPr lang="ro-RO" sz="2200" i="1" dirty="0"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ție</a:t>
            </a:r>
            <a:r>
              <a:rPr lang="en-US" sz="2200" i="1" dirty="0"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368376F-719A-BB21-1FD2-E4B024B17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691" y="1975695"/>
            <a:ext cx="3676650" cy="3228975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1913CE4-81FD-13E4-BB6B-175CEFDCB3CD}"/>
              </a:ext>
            </a:extLst>
          </p:cNvPr>
          <p:cNvCxnSpPr/>
          <p:nvPr/>
        </p:nvCxnSpPr>
        <p:spPr>
          <a:xfrm>
            <a:off x="2798618" y="1708727"/>
            <a:ext cx="7183582" cy="2105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29ADA595-E275-C893-E41C-E4D93569740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2130677"/>
            <a:ext cx="3529418" cy="30739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D1BDD64-ED60-1126-5BAE-6B335BBFAE39}"/>
              </a:ext>
            </a:extLst>
          </p:cNvPr>
          <p:cNvCxnSpPr/>
          <p:nvPr/>
        </p:nvCxnSpPr>
        <p:spPr>
          <a:xfrm flipV="1">
            <a:off x="2014112" y="3888509"/>
            <a:ext cx="7968088" cy="683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116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2D3E3-E0DA-4993-A096-E2A86A9579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2195" y="1176246"/>
                <a:ext cx="11496641" cy="5196265"/>
              </a:xfrm>
            </p:spPr>
            <p:txBody>
              <a:bodyPr>
                <a:noAutofit/>
              </a:bodyPr>
              <a:lstStyle/>
              <a:p>
                <a:pPr lvl="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 interes → C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um se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proiectează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un circuit numeric (calculator)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funcţie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condiţiile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funcţionare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Apare o p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roblemă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dacă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compară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curentul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ieşire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cu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cel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intrare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rezulta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subunitar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E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int</m:t>
                            </m:r>
                          </m:sub>
                        </m:sSub>
                      </m:den>
                    </m:f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;  E – notat 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eficienţa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AA</m:t>
                            </m:r>
                          </m:sub>
                        </m:s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den>
                    </m:f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lvl="0"/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002060"/>
                  </a:solidFill>
                  <a:effectLst>
                    <a:reflection blurRad="6350" stA="53000" endA="300" endPos="35500" dir="5400000" sy="-90000" algn="bl"/>
                  </a:effectLst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2D3E3-E0DA-4993-A096-E2A86A9579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2195" y="1176246"/>
                <a:ext cx="11496641" cy="5196265"/>
              </a:xfrm>
              <a:blipFill>
                <a:blip r:embed="rId2"/>
                <a:stretch>
                  <a:fillRect l="-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40</a:t>
            </a:fld>
            <a:endParaRPr lang="ro-RO"/>
          </a:p>
        </p:txBody>
      </p:sp>
      <p:sp>
        <p:nvSpPr>
          <p:cNvPr id="8" name="Rectangle 7"/>
          <p:cNvSpPr/>
          <p:nvPr/>
        </p:nvSpPr>
        <p:spPr>
          <a:xfrm>
            <a:off x="172195" y="643866"/>
            <a:ext cx="18838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Observație</a:t>
            </a:r>
            <a:r>
              <a:rPr lang="en-US" sz="22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4580" y="3420467"/>
            <a:ext cx="2877970" cy="3185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1924334" y="4722125"/>
            <a:ext cx="9430603" cy="1501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711397" y="5190192"/>
                <a:ext cx="3969100" cy="10427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int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sub>
                    </m:sSub>
                    <m:r>
                      <a:rPr lang="ro-RO" sz="22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f>
                              <m:fPr>
                                <m:ctrlPr>
                                  <a:rPr lang="ro-RO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o-RO" sz="2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AA</m:t>
                                    </m:r>
                                  </m:sub>
                                </m:sSub>
                                <m:r>
                                  <a:rPr lang="ro-RO" sz="2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o-RO" sz="2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ro-RO" sz="2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sub>
                                </m:sSub>
                              </m:den>
                            </m:f>
                          </m:e>
                        </m:groupChr>
                      </m:e>
                      <m:lim>
                        <m:sSubSup>
                          <m:sSubSup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sSub>
                              <m:sSubPr>
                                <m:ctrlPr>
                                  <a:rPr lang="ro-RO" sz="22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sub>
                            </m:sSub>
                          </m:sub>
                          <m:sup>
                            <m: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</m:lim>
                    </m:limLow>
                    <m:r>
                      <a:rPr lang="ro-RO" sz="22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(</m:t>
                    </m:r>
                    <m:r>
                      <m:rPr>
                        <m:sty m:val="p"/>
                      </m:rPr>
                      <a:rPr lang="ro-RO" sz="22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ro-RO" sz="22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−1)</m:t>
                    </m:r>
                    <m:sSub>
                      <m:sSub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o-RO" sz="2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97" y="5190192"/>
                <a:ext cx="3969100" cy="10427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71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41</a:t>
            </a:fld>
            <a:endParaRPr lang="ro-RO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368" y="745359"/>
            <a:ext cx="3603751" cy="398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09516" y="1358042"/>
                <a:ext cx="6096000" cy="222304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E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int</m:t>
                            </m:r>
                          </m:sub>
                        </m:sSub>
                      </m:den>
                    </m:f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AA</m:t>
                                </m:r>
                              </m:sub>
                            </m:sSub>
                            <m:r>
                              <a:rPr lang="ro-RO" sz="22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sub>
                            </m:sSub>
                          </m:den>
                        </m:f>
                      </m:num>
                      <m:den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AA</m:t>
                                </m:r>
                              </m:sub>
                            </m:sSub>
                            <m:r>
                              <a:rPr lang="ro-RO" sz="22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sub>
                            </m:sSub>
                          </m:den>
                        </m:f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−1)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ro-RO" sz="2200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Deoarece: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AA</m:t>
                            </m:r>
                          </m:sub>
                        </m:s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den>
                    </m:f>
                    <m:r>
                      <a:rPr lang="ro-RO" sz="2200" i="0">
                        <a:latin typeface="Cambria Math" panose="02040503050406030204" pitchFamily="18" charset="0"/>
                      </a:rPr>
                      <m:t> &lt;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AA</m:t>
                            </m:r>
                          </m:sub>
                        </m:s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L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16" y="1358042"/>
                <a:ext cx="6096000" cy="22230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359390" y="811792"/>
            <a:ext cx="4007894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inlocuiesc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termenii în relaţia: </a:t>
            </a:r>
          </a:p>
          <a:p>
            <a:endParaRPr lang="en-US" b="1" dirty="0">
              <a:solidFill>
                <a:srgbClr val="002060"/>
              </a:solidFill>
              <a:effectLst>
                <a:reflection blurRad="6350" stA="53000" endA="300" endPos="35500" dir="5400000" sy="-90000" algn="bl"/>
              </a:effectLs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522755" y="876811"/>
                <a:ext cx="1512081" cy="6240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E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int</m:t>
                            </m:r>
                          </m:sub>
                        </m:sSub>
                      </m:den>
                    </m:f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o-RO" sz="22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755" y="876811"/>
                <a:ext cx="1512081" cy="6240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676127" y="3684136"/>
                <a:ext cx="1965346" cy="8234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 fontAlgn="base">
                  <a:lnSpc>
                    <a:spcPct val="150000"/>
                  </a:lnSpc>
                  <a:buFont typeface="Symbol"/>
                  <a:buChar char="Þ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ro-RO" sz="220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int</m:t>
                            </m:r>
                          </m:sub>
                        </m:sSub>
                      </m:den>
                    </m:f>
                    <m:r>
                      <a:rPr lang="ro-RO" sz="220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ro-RO" sz="2200" i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ro-RO" sz="2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127" y="3684136"/>
                <a:ext cx="1965346" cy="8234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359390" y="4667548"/>
            <a:ext cx="194155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Observație</a:t>
            </a:r>
            <a:r>
              <a:rPr lang="en-US" sz="22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359389" y="5303151"/>
            <a:ext cx="1126850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 este în regulă ca un curent de intrare să fie mai mic decât un curent de ieşire (anomalie) 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obicei cel care comandă trebuie să fie mai puternic!</a:t>
            </a:r>
          </a:p>
        </p:txBody>
      </p:sp>
    </p:spTree>
    <p:extLst>
      <p:ext uri="{BB962C8B-B14F-4D97-AF65-F5344CB8AC3E}">
        <p14:creationId xmlns:p14="http://schemas.microsoft.com/office/powerpoint/2010/main" val="844628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42</a:t>
            </a:fld>
            <a:endParaRPr lang="ro-R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5D549F-D055-421C-A88A-316C5DB72EC3}"/>
              </a:ext>
            </a:extLst>
          </p:cNvPr>
          <p:cNvSpPr/>
          <p:nvPr/>
        </p:nvSpPr>
        <p:spPr>
          <a:xfrm>
            <a:off x="6312726" y="5547504"/>
            <a:ext cx="6969736" cy="677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b="1" dirty="0"/>
              <a:t>Fig.10 </a:t>
            </a:r>
            <a:r>
              <a:rPr lang="en-US" sz="1400" b="1" dirty="0" err="1"/>
              <a:t>Amplificator</a:t>
            </a:r>
            <a:r>
              <a:rPr lang="en-US" sz="1400" b="1" dirty="0"/>
              <a:t> </a:t>
            </a:r>
            <a:r>
              <a:rPr lang="en-US" sz="1400" b="1" dirty="0" err="1"/>
              <a:t>montat</a:t>
            </a:r>
            <a:r>
              <a:rPr lang="en-US" sz="1400" b="1" dirty="0"/>
              <a:t> pe </a:t>
            </a:r>
            <a:r>
              <a:rPr lang="en-US" sz="1400" b="1" dirty="0" err="1"/>
              <a:t>ieşirea</a:t>
            </a:r>
            <a:r>
              <a:rPr lang="en-US" sz="1400" b="1" dirty="0"/>
              <a:t> </a:t>
            </a:r>
            <a:r>
              <a:rPr lang="en-US" sz="1400" b="1" dirty="0" err="1"/>
              <a:t>porţii</a:t>
            </a:r>
            <a:r>
              <a:rPr lang="en-US" sz="1400" b="1" dirty="0"/>
              <a:t>  P</a:t>
            </a:r>
            <a:r>
              <a:rPr lang="en-US" sz="1400" b="1" baseline="-25000" dirty="0"/>
              <a:t>2</a:t>
            </a:r>
            <a:endParaRPr lang="ro-RO" sz="1400" dirty="0"/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ro-RO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E02D59-16E9-495D-B366-A8792484F6F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066" y="3590515"/>
            <a:ext cx="3295057" cy="174575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sp>
        <p:nvSpPr>
          <p:cNvPr id="11" name="Rectangle 10"/>
          <p:cNvSpPr/>
          <p:nvPr/>
        </p:nvSpPr>
        <p:spPr>
          <a:xfrm>
            <a:off x="548790" y="1241212"/>
            <a:ext cx="9390629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Practic, o poartă ȘI  nu poate comanda o altă poartă ȘI identică cu ea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 poate comanda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trebuie redimensionată!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506" y="3485434"/>
            <a:ext cx="6096000" cy="240065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 a înlătura acest dezavantaj: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mai trebui adăugat un Amplificator  </a:t>
            </a:r>
          </a:p>
          <a:p>
            <a:pPr lvl="1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pentru a creşte curentul de ieşire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Soluţie: se adaugă un Tranzistor 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10426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43</a:t>
            </a:fld>
            <a:endParaRPr lang="ro-RO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sp>
        <p:nvSpPr>
          <p:cNvPr id="5" name="Rectangle 4"/>
          <p:cNvSpPr/>
          <p:nvPr/>
        </p:nvSpPr>
        <p:spPr>
          <a:xfrm>
            <a:off x="385368" y="745359"/>
            <a:ext cx="222751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Oberva</a:t>
            </a:r>
            <a:r>
              <a:rPr lang="ro-RO" sz="22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ţii</a:t>
            </a:r>
            <a:r>
              <a:rPr lang="en-US" sz="22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o-RO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59392" y="1180219"/>
                <a:ext cx="9385109" cy="11079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lvl="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 situaţiile analizate s-a neglijat căderea de tensiune de pe diode (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</a:t>
                </a:r>
                <a14:m>
                  <m:oMath xmlns:m="http://schemas.openxmlformats.org/officeDocument/2006/math">
                    <m:r>
                      <a:rPr lang="ro-RO" sz="2200" i="1">
                        <a:latin typeface="Cambria Math"/>
                      </a:rPr>
                      <m:t>≅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0,6 V):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pentru a vedea cum funcţionează 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d.p.d.v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logic: 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92" y="1180219"/>
                <a:ext cx="9385109" cy="1107996"/>
              </a:xfrm>
              <a:prstGeom prst="rect">
                <a:avLst/>
              </a:prstGeom>
              <a:blipFill rotWithShape="1">
                <a:blip r:embed="rId2"/>
                <a:stretch>
                  <a:fillRect l="-714" b="-497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359392" y="2190292"/>
            <a:ext cx="1818083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Exemplu: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0697" y="2872680"/>
            <a:ext cx="2491810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0V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5V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10V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20</a:t>
            </a:r>
            <a:r>
              <a:rPr lang="el-G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→∞ I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0,6V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3,6 K</a:t>
            </a:r>
            <a:r>
              <a:rPr lang="el-G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Ω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749670" y="4480812"/>
            <a:ext cx="157295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?</a:t>
            </a:r>
            <a:endParaRPr lang="ro-RO" sz="2200" b="1" dirty="0">
              <a:solidFill>
                <a:srgbClr val="00B050"/>
              </a:solidFill>
            </a:endParaRPr>
          </a:p>
        </p:txBody>
      </p:sp>
      <p:sp>
        <p:nvSpPr>
          <p:cNvPr id="15" name="Right Brace 14"/>
          <p:cNvSpPr/>
          <p:nvPr/>
        </p:nvSpPr>
        <p:spPr>
          <a:xfrm>
            <a:off x="2770496" y="3084394"/>
            <a:ext cx="382137" cy="316628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5805" y="2190292"/>
            <a:ext cx="3394667" cy="4048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702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44</a:t>
            </a:fld>
            <a:endParaRPr lang="ro-RO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sp>
        <p:nvSpPr>
          <p:cNvPr id="16" name="Rectangle 15"/>
          <p:cNvSpPr/>
          <p:nvPr/>
        </p:nvSpPr>
        <p:spPr>
          <a:xfrm>
            <a:off x="212590" y="926442"/>
            <a:ext cx="1156542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presupune că la toate intrările se aplică nivel logic inferior:</a:t>
            </a:r>
            <a:endParaRPr lang="en-US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Între tensiunea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şi oricare dintre intrări → (V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există o cădere de tensiune maximă → 10V.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99245" y="3091873"/>
            <a:ext cx="3688830" cy="666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fontAlgn="base">
              <a:lnSpc>
                <a:spcPct val="200000"/>
              </a:lnSpc>
              <a:buFont typeface="Symbol"/>
              <a:buChar char="Þ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conducţie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374" y="1288412"/>
            <a:ext cx="3886657" cy="4634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 flipV="1">
            <a:off x="3766782" y="1988271"/>
            <a:ext cx="6496334" cy="2363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766782" y="2224586"/>
            <a:ext cx="4376592" cy="10645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4988075" y="3289110"/>
            <a:ext cx="4360641" cy="3166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4988075" y="3605770"/>
            <a:ext cx="4360641" cy="5431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988075" y="3605770"/>
            <a:ext cx="4456176" cy="12609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55718" y="4246038"/>
            <a:ext cx="544732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echivalentă → pentru cele 3 diode: </a:t>
            </a:r>
            <a:endParaRPr lang="ro-RO" sz="2200" dirty="0"/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7738" y="1508386"/>
            <a:ext cx="4702293" cy="473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6" name="Straight Arrow Connector 25"/>
          <p:cNvCxnSpPr/>
          <p:nvPr/>
        </p:nvCxnSpPr>
        <p:spPr>
          <a:xfrm flipV="1">
            <a:off x="5995304" y="3877344"/>
            <a:ext cx="3012218" cy="5841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5955078" y="4461481"/>
            <a:ext cx="2779489" cy="2154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955078" y="4461481"/>
            <a:ext cx="2547477" cy="9020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48" name="Rectangle 2047"/>
              <p:cNvSpPr/>
              <p:nvPr/>
            </p:nvSpPr>
            <p:spPr>
              <a:xfrm>
                <a:off x="1299245" y="4866677"/>
                <a:ext cx="4310157" cy="14355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AA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  <m:r>
                      <a:rPr lang="ro-RO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ro-RO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aseline="-25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48" name="Rectangle 20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245" y="4866677"/>
                <a:ext cx="4310157" cy="1435521"/>
              </a:xfrm>
              <a:prstGeom prst="rect">
                <a:avLst/>
              </a:prstGeom>
              <a:blipFill rotWithShape="1">
                <a:blip r:embed="rId4"/>
                <a:stretch>
                  <a:fillRect l="-1556" b="-296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52" name="Straight Arrow Connector 2051"/>
          <p:cNvCxnSpPr/>
          <p:nvPr/>
        </p:nvCxnSpPr>
        <p:spPr>
          <a:xfrm flipV="1">
            <a:off x="3589361" y="3447440"/>
            <a:ext cx="6864204" cy="25712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4" name="Straight Arrow Connector 2053"/>
          <p:cNvCxnSpPr/>
          <p:nvPr/>
        </p:nvCxnSpPr>
        <p:spPr>
          <a:xfrm flipV="1">
            <a:off x="3343701" y="2415654"/>
            <a:ext cx="6919415" cy="29479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391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45</a:t>
            </a:fld>
            <a:endParaRPr lang="ro-RO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sp>
        <p:nvSpPr>
          <p:cNvPr id="16" name="Rectangle 15"/>
          <p:cNvSpPr/>
          <p:nvPr/>
        </p:nvSpPr>
        <p:spPr>
          <a:xfrm>
            <a:off x="212590" y="926442"/>
            <a:ext cx="11565428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=0V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724" y="1007774"/>
            <a:ext cx="4702293" cy="473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48" name="Rectangle 2047"/>
              <p:cNvSpPr/>
              <p:nvPr/>
            </p:nvSpPr>
            <p:spPr>
              <a:xfrm>
                <a:off x="548618" y="1700651"/>
                <a:ext cx="4310157" cy="30190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b="0" i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ro-RO" sz="2200" b="0" i="0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T</m:t>
                            </m:r>
                          </m:sub>
                        </m:s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A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D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b="0" i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ro-RO" sz="220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T</m:t>
                            </m:r>
                          </m:sub>
                        </m:s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B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D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b="0" i="0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ro-RO" sz="220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T</m:t>
                            </m:r>
                          </m:sub>
                        </m:s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C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D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  <m:r>
                      <a:rPr lang="ro-RO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ro-RO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aseline="-25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48" name="Rectangle 20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18" y="1700651"/>
                <a:ext cx="4310157" cy="3019032"/>
              </a:xfrm>
              <a:prstGeom prst="rect">
                <a:avLst/>
              </a:prstGeom>
              <a:blipFill rotWithShape="1">
                <a:blip r:embed="rId3"/>
                <a:stretch>
                  <a:fillRect l="-1556" b="-60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2703696" y="1486600"/>
            <a:ext cx="598241" cy="458074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=0V</a:t>
            </a: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44127" y="2288756"/>
            <a:ext cx="598241" cy="458074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=0V</a:t>
            </a: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66666" y="3033177"/>
            <a:ext cx="598241" cy="458074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=0V</a:t>
            </a: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/>
          <p:cNvCxnSpPr>
            <a:endCxn id="3" idx="1"/>
          </p:cNvCxnSpPr>
          <p:nvPr/>
        </p:nvCxnSpPr>
        <p:spPr>
          <a:xfrm flipV="1">
            <a:off x="2524836" y="1715637"/>
            <a:ext cx="178860" cy="2290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2480899" y="2517793"/>
            <a:ext cx="178860" cy="2290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2494034" y="3262214"/>
            <a:ext cx="178860" cy="2290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02239" y="4912525"/>
                <a:ext cx="2034596" cy="6201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AA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39" y="4912525"/>
                <a:ext cx="2034596" cy="6201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Brace 14"/>
          <p:cNvSpPr/>
          <p:nvPr/>
        </p:nvSpPr>
        <p:spPr>
          <a:xfrm>
            <a:off x="2856096" y="4339988"/>
            <a:ext cx="146720" cy="102358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3" name="Rectangle 32"/>
          <p:cNvSpPr/>
          <p:nvPr/>
        </p:nvSpPr>
        <p:spPr>
          <a:xfrm>
            <a:off x="3301937" y="4579357"/>
            <a:ext cx="26531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fontAlgn="base">
              <a:lnSpc>
                <a:spcPct val="200000"/>
              </a:lnSpc>
              <a:buFont typeface="Symbol"/>
              <a:buChar char="Þ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0,618 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47" y="5544983"/>
            <a:ext cx="1151178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fontAlgn="base">
              <a:lnSpc>
                <a:spcPct val="200000"/>
              </a:lnSpc>
              <a:buFont typeface="Symbol"/>
              <a:buChar char="Þ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Faţă de intrare (V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→ La ieşire se obţine o tensiune 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≈ 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0,6 V (tensiunea de prag )</a:t>
            </a:r>
          </a:p>
        </p:txBody>
      </p:sp>
      <p:cxnSp>
        <p:nvCxnSpPr>
          <p:cNvPr id="2053" name="Straight Arrow Connector 2052"/>
          <p:cNvCxnSpPr/>
          <p:nvPr/>
        </p:nvCxnSpPr>
        <p:spPr>
          <a:xfrm>
            <a:off x="1228299" y="2288756"/>
            <a:ext cx="8198572" cy="10066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5" name="Straight Arrow Connector 2054"/>
          <p:cNvCxnSpPr/>
          <p:nvPr/>
        </p:nvCxnSpPr>
        <p:spPr>
          <a:xfrm>
            <a:off x="1228299" y="3033177"/>
            <a:ext cx="8311486" cy="13068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7" name="Straight Arrow Connector 2056"/>
          <p:cNvCxnSpPr/>
          <p:nvPr/>
        </p:nvCxnSpPr>
        <p:spPr>
          <a:xfrm>
            <a:off x="1078173" y="3862316"/>
            <a:ext cx="8461612" cy="13602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9" name="Straight Arrow Connector 2058"/>
          <p:cNvCxnSpPr/>
          <p:nvPr/>
        </p:nvCxnSpPr>
        <p:spPr>
          <a:xfrm flipH="1" flipV="1">
            <a:off x="2583464" y="1465820"/>
            <a:ext cx="1306148" cy="44448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2" name="Straight Arrow Connector 2061"/>
          <p:cNvCxnSpPr/>
          <p:nvPr/>
        </p:nvCxnSpPr>
        <p:spPr>
          <a:xfrm flipH="1" flipV="1">
            <a:off x="5238911" y="5181937"/>
            <a:ext cx="2533525" cy="6880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2353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2" grpId="0" animBg="1"/>
      <p:bldP spid="25" grpId="0" animBg="1"/>
      <p:bldP spid="1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46</a:t>
            </a:fld>
            <a:endParaRPr lang="ro-RO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sp>
        <p:nvSpPr>
          <p:cNvPr id="16" name="Rectangle 15"/>
          <p:cNvSpPr/>
          <p:nvPr/>
        </p:nvSpPr>
        <p:spPr>
          <a:xfrm>
            <a:off x="212590" y="926442"/>
            <a:ext cx="1156542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presupune că la toate intrările se aplică nivel logic superior:</a:t>
            </a:r>
            <a:endParaRPr lang="en-US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Între tensiunea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şi oricare dintre intrări → (V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există o cădere de tensiune maximă → 5V.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99245" y="3091873"/>
            <a:ext cx="3688830" cy="666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fontAlgn="base">
              <a:lnSpc>
                <a:spcPct val="200000"/>
              </a:lnSpc>
              <a:buFont typeface="Symbol"/>
              <a:buChar char="Þ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conducţie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374" y="1288412"/>
            <a:ext cx="3886657" cy="4634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 flipV="1">
            <a:off x="3766782" y="1988271"/>
            <a:ext cx="6496334" cy="2363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766782" y="2224586"/>
            <a:ext cx="4376592" cy="10645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4988075" y="3289110"/>
            <a:ext cx="4360641" cy="3166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4988075" y="3605770"/>
            <a:ext cx="4360641" cy="5431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988075" y="3605770"/>
            <a:ext cx="4456176" cy="12609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55718" y="4246038"/>
            <a:ext cx="544732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echivalentă → pentru cele 3 diode: </a:t>
            </a:r>
            <a:endParaRPr lang="ro-RO" sz="2200" dirty="0"/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7738" y="1508386"/>
            <a:ext cx="4702293" cy="473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6" name="Straight Arrow Connector 25"/>
          <p:cNvCxnSpPr/>
          <p:nvPr/>
        </p:nvCxnSpPr>
        <p:spPr>
          <a:xfrm flipV="1">
            <a:off x="5995304" y="3877344"/>
            <a:ext cx="3012218" cy="5841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5955078" y="4461481"/>
            <a:ext cx="2779489" cy="2154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955078" y="4461481"/>
            <a:ext cx="2547477" cy="9020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48" name="Rectangle 2047"/>
              <p:cNvSpPr/>
              <p:nvPr/>
            </p:nvSpPr>
            <p:spPr>
              <a:xfrm>
                <a:off x="1299245" y="4866677"/>
                <a:ext cx="4310157" cy="14355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AA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  <m:r>
                      <a:rPr lang="ro-RO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ro-RO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aseline="-25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48" name="Rectangle 20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245" y="4866677"/>
                <a:ext cx="4310157" cy="1435521"/>
              </a:xfrm>
              <a:prstGeom prst="rect">
                <a:avLst/>
              </a:prstGeom>
              <a:blipFill rotWithShape="1">
                <a:blip r:embed="rId4"/>
                <a:stretch>
                  <a:fillRect l="-1556" b="-296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7804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47</a:t>
            </a:fld>
            <a:endParaRPr lang="ro-RO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sp>
        <p:nvSpPr>
          <p:cNvPr id="16" name="Rectangle 15"/>
          <p:cNvSpPr/>
          <p:nvPr/>
        </p:nvSpPr>
        <p:spPr>
          <a:xfrm>
            <a:off x="212590" y="926442"/>
            <a:ext cx="11565428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=5V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724" y="1007774"/>
            <a:ext cx="4702293" cy="473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48" name="Rectangle 2047"/>
              <p:cNvSpPr/>
              <p:nvPr/>
            </p:nvSpPr>
            <p:spPr>
              <a:xfrm>
                <a:off x="548618" y="1700651"/>
                <a:ext cx="4310157" cy="30190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b="0" i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ro-RO" sz="2200" b="0" i="0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T</m:t>
                            </m:r>
                          </m:sub>
                        </m:s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A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D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b="0" i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ro-RO" sz="220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T</m:t>
                            </m:r>
                          </m:sub>
                        </m:s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B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D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b="0" i="0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ro-RO" sz="220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T</m:t>
                            </m:r>
                          </m:sub>
                        </m:s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C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D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  <m:r>
                      <a:rPr lang="ro-RO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ro-RO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aseline="-25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48" name="Rectangle 20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18" y="1700651"/>
                <a:ext cx="4310157" cy="3019032"/>
              </a:xfrm>
              <a:prstGeom prst="rect">
                <a:avLst/>
              </a:prstGeom>
              <a:blipFill rotWithShape="1">
                <a:blip r:embed="rId3"/>
                <a:stretch>
                  <a:fillRect l="-1556" b="-60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2703696" y="1486600"/>
            <a:ext cx="598241" cy="458074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=5V</a:t>
            </a: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44127" y="2288756"/>
            <a:ext cx="598241" cy="458074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=5V</a:t>
            </a: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66666" y="3033177"/>
            <a:ext cx="598241" cy="458074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=5V</a:t>
            </a: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/>
          <p:cNvCxnSpPr>
            <a:endCxn id="3" idx="1"/>
          </p:cNvCxnSpPr>
          <p:nvPr/>
        </p:nvCxnSpPr>
        <p:spPr>
          <a:xfrm flipV="1">
            <a:off x="2524836" y="1715637"/>
            <a:ext cx="178860" cy="2290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2480899" y="2517793"/>
            <a:ext cx="178860" cy="2290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2494034" y="3262214"/>
            <a:ext cx="178860" cy="2290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02239" y="4912525"/>
                <a:ext cx="2034596" cy="6201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AA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39" y="4912525"/>
                <a:ext cx="2034596" cy="6201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Brace 14"/>
          <p:cNvSpPr/>
          <p:nvPr/>
        </p:nvSpPr>
        <p:spPr>
          <a:xfrm>
            <a:off x="2856096" y="4339988"/>
            <a:ext cx="146720" cy="102358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3" name="Rectangle 32"/>
          <p:cNvSpPr/>
          <p:nvPr/>
        </p:nvSpPr>
        <p:spPr>
          <a:xfrm>
            <a:off x="3301937" y="4579357"/>
            <a:ext cx="26531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fontAlgn="base">
              <a:lnSpc>
                <a:spcPct val="200000"/>
              </a:lnSpc>
              <a:buFont typeface="Symbol"/>
              <a:buChar char="Þ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5,680 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2239" y="5551920"/>
            <a:ext cx="11339273" cy="666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fontAlgn="base">
              <a:lnSpc>
                <a:spcPct val="200000"/>
              </a:lnSpc>
              <a:buFont typeface="Symbol"/>
              <a:buChar char="Þ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Faţă de intrare (V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)→ La ieşire se obţine o tensiune (V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→ 0,6 V - tensiunea de prag </a:t>
            </a:r>
          </a:p>
        </p:txBody>
      </p:sp>
      <p:cxnSp>
        <p:nvCxnSpPr>
          <p:cNvPr id="2053" name="Straight Arrow Connector 2052"/>
          <p:cNvCxnSpPr/>
          <p:nvPr/>
        </p:nvCxnSpPr>
        <p:spPr>
          <a:xfrm>
            <a:off x="1228299" y="2288756"/>
            <a:ext cx="8198572" cy="10066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5" name="Straight Arrow Connector 2054"/>
          <p:cNvCxnSpPr/>
          <p:nvPr/>
        </p:nvCxnSpPr>
        <p:spPr>
          <a:xfrm>
            <a:off x="1228299" y="3033177"/>
            <a:ext cx="8311486" cy="13068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7" name="Straight Arrow Connector 2056"/>
          <p:cNvCxnSpPr/>
          <p:nvPr/>
        </p:nvCxnSpPr>
        <p:spPr>
          <a:xfrm>
            <a:off x="1078173" y="3862316"/>
            <a:ext cx="8461612" cy="13602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9" name="Straight Arrow Connector 2058"/>
          <p:cNvCxnSpPr/>
          <p:nvPr/>
        </p:nvCxnSpPr>
        <p:spPr>
          <a:xfrm flipH="1" flipV="1">
            <a:off x="2203022" y="1440288"/>
            <a:ext cx="1306148" cy="44448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2" name="Straight Arrow Connector 2061"/>
          <p:cNvCxnSpPr/>
          <p:nvPr/>
        </p:nvCxnSpPr>
        <p:spPr>
          <a:xfrm flipH="1" flipV="1">
            <a:off x="5238911" y="5181937"/>
            <a:ext cx="2533525" cy="6880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314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2" grpId="0" animBg="1"/>
      <p:bldP spid="25" grpId="0" animBg="1"/>
      <p:bldP spid="1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48</a:t>
            </a:fld>
            <a:endParaRPr lang="ro-RO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sp>
        <p:nvSpPr>
          <p:cNvPr id="16" name="Rectangle 15"/>
          <p:cNvSpPr/>
          <p:nvPr/>
        </p:nvSpPr>
        <p:spPr>
          <a:xfrm>
            <a:off x="212589" y="926442"/>
            <a:ext cx="1186568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presupune că o intrare se aplică nivel logic superior, iar la celelalte nivel logic inferior:</a:t>
            </a:r>
            <a:endParaRPr lang="en-US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03584" y="1844731"/>
            <a:ext cx="2528256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fontAlgn="base">
              <a:lnSpc>
                <a:spcPct val="150000"/>
              </a:lnSpc>
              <a:buFont typeface="Symbol"/>
              <a:buChar char="Þ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blocată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660" y="3386229"/>
            <a:ext cx="544732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echivalentă → pentru cele 3 diode: </a:t>
            </a:r>
            <a:endParaRPr lang="ro-RO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" name="Rectangle 2047"/>
              <p:cNvSpPr/>
              <p:nvPr/>
            </p:nvSpPr>
            <p:spPr>
              <a:xfrm>
                <a:off x="1299243" y="4061928"/>
                <a:ext cx="4310157" cy="14355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AA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  <m:r>
                      <a:rPr lang="ro-RO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ro-RO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48" name="Rectangle 20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243" y="4061928"/>
                <a:ext cx="4310157" cy="1435521"/>
              </a:xfrm>
              <a:prstGeom prst="rect">
                <a:avLst/>
              </a:prstGeom>
              <a:blipFill rotWithShape="1">
                <a:blip r:embed="rId2"/>
                <a:stretch>
                  <a:fillRect l="-1556" b="-296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3103584" y="2320255"/>
            <a:ext cx="3249608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fontAlgn="base">
              <a:lnSpc>
                <a:spcPct val="150000"/>
              </a:lnSpc>
              <a:buFont typeface="Symbol"/>
              <a:buChar char="Þ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conducţie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323" y="1808984"/>
            <a:ext cx="276856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906" y="1809899"/>
            <a:ext cx="3805670" cy="4228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>
            <a:off x="4217158" y="2320255"/>
            <a:ext cx="5104263" cy="10659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344081" y="2853242"/>
            <a:ext cx="4977340" cy="13912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4367712" y="2853242"/>
            <a:ext cx="4953709" cy="21418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837" y="1818005"/>
            <a:ext cx="4220417" cy="4220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/>
          <p:cNvSpPr/>
          <p:nvPr/>
        </p:nvSpPr>
        <p:spPr>
          <a:xfrm>
            <a:off x="2326997" y="5709127"/>
            <a:ext cx="489236" cy="458074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591099" y="5416575"/>
            <a:ext cx="0" cy="2167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92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49</a:t>
            </a:fld>
            <a:endParaRPr lang="ro-RO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sp>
        <p:nvSpPr>
          <p:cNvPr id="16" name="Rectangle 15"/>
          <p:cNvSpPr/>
          <p:nvPr/>
        </p:nvSpPr>
        <p:spPr>
          <a:xfrm>
            <a:off x="212590" y="926442"/>
            <a:ext cx="11565428" cy="1405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724" y="1007774"/>
            <a:ext cx="4702293" cy="473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48" name="Rectangle 2047"/>
              <p:cNvSpPr/>
              <p:nvPr/>
            </p:nvSpPr>
            <p:spPr>
              <a:xfrm>
                <a:off x="548618" y="2181762"/>
                <a:ext cx="4310157" cy="22272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b="0" i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ro-RO" sz="220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T</m:t>
                            </m:r>
                          </m:sub>
                        </m:s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B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D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b="0" i="0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ro-RO" sz="220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T</m:t>
                            </m:r>
                          </m:sub>
                        </m:s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C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D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  <m:r>
                      <a:rPr lang="ro-RO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48" name="Rectangle 20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18" y="2181762"/>
                <a:ext cx="4310157" cy="2227276"/>
              </a:xfrm>
              <a:prstGeom prst="rect">
                <a:avLst/>
              </a:prstGeom>
              <a:blipFill rotWithShape="1">
                <a:blip r:embed="rId3"/>
                <a:stretch>
                  <a:fillRect l="-1556" b="-109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2910108" y="1874330"/>
            <a:ext cx="598241" cy="458074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=0V</a:t>
            </a: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856096" y="2821162"/>
            <a:ext cx="598241" cy="458074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=0V</a:t>
            </a: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2640872" y="2288756"/>
            <a:ext cx="178860" cy="2290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2636835" y="3056489"/>
            <a:ext cx="178860" cy="2290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02239" y="4561767"/>
                <a:ext cx="2034596" cy="6201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AA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39" y="4561767"/>
                <a:ext cx="2034596" cy="6201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Brace 14"/>
          <p:cNvSpPr/>
          <p:nvPr/>
        </p:nvSpPr>
        <p:spPr>
          <a:xfrm>
            <a:off x="2759154" y="4067566"/>
            <a:ext cx="146720" cy="102358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3" name="Rectangle 32"/>
          <p:cNvSpPr/>
          <p:nvPr/>
        </p:nvSpPr>
        <p:spPr>
          <a:xfrm>
            <a:off x="3209228" y="4074923"/>
            <a:ext cx="26531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fontAlgn="base">
              <a:lnSpc>
                <a:spcPct val="200000"/>
              </a:lnSpc>
              <a:buFont typeface="Symbol"/>
              <a:buChar char="Þ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0,68 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5571842"/>
            <a:ext cx="11979564" cy="666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fontAlgn="base">
              <a:lnSpc>
                <a:spcPct val="200000"/>
              </a:lnSpc>
              <a:buFont typeface="Symbol"/>
              <a:buChar char="Þ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Faţă de intrare (V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→ La ieşire se obţine o tensiune 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≈ 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→ 0,6 V - tensiunea de prag </a:t>
            </a:r>
          </a:p>
        </p:txBody>
      </p:sp>
      <p:cxnSp>
        <p:nvCxnSpPr>
          <p:cNvPr id="2062" name="Straight Arrow Connector 2061"/>
          <p:cNvCxnSpPr/>
          <p:nvPr/>
        </p:nvCxnSpPr>
        <p:spPr>
          <a:xfrm flipH="1" flipV="1">
            <a:off x="5349922" y="4722125"/>
            <a:ext cx="2422514" cy="10235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466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5" grpId="0" animBg="1"/>
      <p:bldP spid="1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50</a:t>
            </a:fld>
            <a:endParaRPr lang="ro-RO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sp>
        <p:nvSpPr>
          <p:cNvPr id="16" name="Rectangle 15"/>
          <p:cNvSpPr/>
          <p:nvPr/>
        </p:nvSpPr>
        <p:spPr>
          <a:xfrm>
            <a:off x="212589" y="926442"/>
            <a:ext cx="11865680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 presupune că la două intrări se aplică nivel logic superior, iar la una nivel logic inferior:</a:t>
            </a:r>
            <a:endParaRPr lang="en-US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03584" y="1844731"/>
            <a:ext cx="3038011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fontAlgn="base">
              <a:lnSpc>
                <a:spcPct val="150000"/>
              </a:lnSpc>
              <a:buFont typeface="Symbol"/>
              <a:buChar char="Þ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blocată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660" y="3386229"/>
            <a:ext cx="544732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echivalentă → pentru cele 3 diode: </a:t>
            </a:r>
            <a:endParaRPr lang="ro-RO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" name="Rectangle 2047"/>
              <p:cNvSpPr/>
              <p:nvPr/>
            </p:nvSpPr>
            <p:spPr>
              <a:xfrm>
                <a:off x="1299243" y="4061928"/>
                <a:ext cx="4310157" cy="14355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AA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  <m:r>
                      <a:rPr lang="ro-RO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ro-RO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48" name="Rectangle 20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243" y="4061928"/>
                <a:ext cx="4310157" cy="1435521"/>
              </a:xfrm>
              <a:prstGeom prst="rect">
                <a:avLst/>
              </a:prstGeom>
              <a:blipFill rotWithShape="1">
                <a:blip r:embed="rId2"/>
                <a:stretch>
                  <a:fillRect l="-1556" b="-296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3103584" y="2320255"/>
            <a:ext cx="2810385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fontAlgn="base">
              <a:lnSpc>
                <a:spcPct val="150000"/>
              </a:lnSpc>
              <a:buFont typeface="Symbol"/>
              <a:buChar char="Þ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conducţie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323" y="1808984"/>
            <a:ext cx="276856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906" y="1809899"/>
            <a:ext cx="3805670" cy="4228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/>
          <p:cNvSpPr/>
          <p:nvPr/>
        </p:nvSpPr>
        <p:spPr>
          <a:xfrm>
            <a:off x="2571615" y="5699842"/>
            <a:ext cx="489236" cy="458074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591099" y="5416575"/>
            <a:ext cx="111158" cy="2167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4622589" y="2362982"/>
            <a:ext cx="4343990" cy="12386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4622589" y="2362982"/>
            <a:ext cx="4507763" cy="20861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22" idx="2"/>
          </p:cNvCxnSpPr>
          <p:nvPr/>
        </p:nvCxnSpPr>
        <p:spPr>
          <a:xfrm>
            <a:off x="4508777" y="2920419"/>
            <a:ext cx="4621575" cy="22753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338" y="1750097"/>
            <a:ext cx="4396981" cy="4348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Straight Arrow Connector 19"/>
          <p:cNvCxnSpPr/>
          <p:nvPr/>
        </p:nvCxnSpPr>
        <p:spPr>
          <a:xfrm flipH="1">
            <a:off x="2702257" y="5416575"/>
            <a:ext cx="232012" cy="2167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879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51</a:t>
            </a:fld>
            <a:endParaRPr lang="ro-RO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sp>
        <p:nvSpPr>
          <p:cNvPr id="16" name="Rectangle 15"/>
          <p:cNvSpPr/>
          <p:nvPr/>
        </p:nvSpPr>
        <p:spPr>
          <a:xfrm>
            <a:off x="212590" y="926442"/>
            <a:ext cx="1156542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=0V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257" y="617772"/>
            <a:ext cx="3544155" cy="3571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48" name="Rectangle 2047"/>
              <p:cNvSpPr/>
              <p:nvPr/>
            </p:nvSpPr>
            <p:spPr>
              <a:xfrm>
                <a:off x="548618" y="2181762"/>
                <a:ext cx="4310157" cy="14355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b="0" i="0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ro-RO" sz="220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T</m:t>
                            </m:r>
                          </m:sub>
                        </m:s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C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D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  <m:r>
                      <a:rPr lang="ro-RO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48" name="Rectangle 20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18" y="2181762"/>
                <a:ext cx="4310157" cy="1435521"/>
              </a:xfrm>
              <a:prstGeom prst="rect">
                <a:avLst/>
              </a:prstGeom>
              <a:blipFill rotWithShape="1">
                <a:blip r:embed="rId3"/>
                <a:stretch>
                  <a:fillRect l="-1556" b="-127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2910108" y="1874330"/>
            <a:ext cx="598241" cy="458074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=0V</a:t>
            </a: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2640872" y="2288756"/>
            <a:ext cx="178860" cy="2290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48618" y="3764838"/>
                <a:ext cx="2034596" cy="6201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AA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18" y="3764838"/>
                <a:ext cx="2034596" cy="6201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Brace 14"/>
          <p:cNvSpPr/>
          <p:nvPr/>
        </p:nvSpPr>
        <p:spPr>
          <a:xfrm>
            <a:off x="2703696" y="3105492"/>
            <a:ext cx="146720" cy="102358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3" name="Rectangle 32"/>
          <p:cNvSpPr/>
          <p:nvPr/>
        </p:nvSpPr>
        <p:spPr>
          <a:xfrm>
            <a:off x="3209227" y="3232562"/>
            <a:ext cx="26531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fontAlgn="base">
              <a:lnSpc>
                <a:spcPct val="200000"/>
              </a:lnSpc>
              <a:buFont typeface="Symbol"/>
              <a:buChar char="Þ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0,656 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-78491" y="4566140"/>
            <a:ext cx="11737754" cy="666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fontAlgn="base">
              <a:lnSpc>
                <a:spcPct val="200000"/>
              </a:lnSpc>
              <a:buFont typeface="Symbol"/>
              <a:buChar char="Þ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Faţă de intrare (V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→ La ieşire se obţine o tensiune (V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≈ 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→ 0,6 V - tensiunea de prag </a:t>
            </a:r>
          </a:p>
        </p:txBody>
      </p:sp>
      <p:cxnSp>
        <p:nvCxnSpPr>
          <p:cNvPr id="2062" name="Straight Arrow Connector 2061"/>
          <p:cNvCxnSpPr/>
          <p:nvPr/>
        </p:nvCxnSpPr>
        <p:spPr>
          <a:xfrm flipH="1" flipV="1">
            <a:off x="5262166" y="3838007"/>
            <a:ext cx="2422514" cy="10235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 flipH="1" flipV="1">
            <a:off x="2265529" y="1978926"/>
            <a:ext cx="943698" cy="27431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23501" y="5216427"/>
            <a:ext cx="249265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ţie:</a:t>
            </a:r>
            <a:endParaRPr lang="ro-RO" sz="2200" b="1" dirty="0">
              <a:solidFill>
                <a:srgbClr val="00B05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18" y="5800299"/>
            <a:ext cx="114614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Poarta ŞI introduce o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deplare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nivel spre valori pozitive aproximativ egală cu tensiunea de prag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.</a:t>
            </a:r>
            <a:endParaRPr lang="ro-RO" sz="2200" dirty="0"/>
          </a:p>
        </p:txBody>
      </p:sp>
    </p:spTree>
    <p:extLst>
      <p:ext uri="{BB962C8B-B14F-4D97-AF65-F5344CB8AC3E}">
        <p14:creationId xmlns:p14="http://schemas.microsoft.com/office/powerpoint/2010/main" val="1316035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52</a:t>
            </a:fld>
            <a:endParaRPr lang="ro-RO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sp>
        <p:nvSpPr>
          <p:cNvPr id="12" name="Rectangle 11"/>
          <p:cNvSpPr/>
          <p:nvPr/>
        </p:nvSpPr>
        <p:spPr>
          <a:xfrm>
            <a:off x="372506" y="1181205"/>
            <a:ext cx="199285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Dezavantaj: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9120" y="1872932"/>
            <a:ext cx="6626171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 asigurată funcţia logică, dar: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 → asigurate compatibilităţi de nivel logic: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Poarta ŞI introduce o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deplare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nivel spre valori pozitive ≈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 → asigurat un curent de ieşire mai mare: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365359" y="4509959"/>
                <a:ext cx="1965346" cy="8234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 fontAlgn="base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ro-RO" sz="22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int</m:t>
                            </m:r>
                          </m:sub>
                        </m:sSub>
                      </m:den>
                    </m:f>
                    <m:r>
                      <a:rPr lang="ro-RO" sz="22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ro-RO" sz="22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ro-RO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359" y="4509959"/>
                <a:ext cx="1965346" cy="8234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419" y="1752172"/>
            <a:ext cx="5100976" cy="3256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>
            <a:off x="3998794" y="3766782"/>
            <a:ext cx="3630305" cy="464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45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53</a:t>
            </a:fld>
            <a:endParaRPr lang="ro-R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5D549F-D055-421C-A88A-316C5DB72EC3}"/>
              </a:ext>
            </a:extLst>
          </p:cNvPr>
          <p:cNvSpPr/>
          <p:nvPr/>
        </p:nvSpPr>
        <p:spPr>
          <a:xfrm>
            <a:off x="7906327" y="5507725"/>
            <a:ext cx="3972023" cy="31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b="1" dirty="0"/>
              <a:t>Fig.10 </a:t>
            </a:r>
            <a:r>
              <a:rPr lang="en-US" sz="1400" b="1" dirty="0" err="1"/>
              <a:t>Amplificator</a:t>
            </a:r>
            <a:r>
              <a:rPr lang="en-US" sz="1400" b="1" dirty="0"/>
              <a:t> </a:t>
            </a:r>
            <a:r>
              <a:rPr lang="en-US" sz="1400" b="1" dirty="0" err="1"/>
              <a:t>montat</a:t>
            </a:r>
            <a:r>
              <a:rPr lang="en-US" sz="1400" b="1" dirty="0"/>
              <a:t> pe </a:t>
            </a:r>
            <a:r>
              <a:rPr lang="en-US" sz="1400" b="1" dirty="0" err="1"/>
              <a:t>ieşirea</a:t>
            </a:r>
            <a:r>
              <a:rPr lang="en-US" sz="1400" b="1" dirty="0"/>
              <a:t> </a:t>
            </a:r>
            <a:r>
              <a:rPr lang="en-US" sz="1400" b="1" dirty="0" err="1"/>
              <a:t>porţii</a:t>
            </a:r>
            <a:r>
              <a:rPr lang="en-US" sz="1400" b="1" dirty="0"/>
              <a:t>  P</a:t>
            </a:r>
            <a:r>
              <a:rPr lang="en-US" sz="1400" b="1" baseline="-25000" dirty="0"/>
              <a:t>2</a:t>
            </a:r>
            <a:endParaRPr lang="ro-RO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E02D59-16E9-495D-B366-A8792484F6F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066" y="3590515"/>
            <a:ext cx="3295057" cy="174575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sp>
        <p:nvSpPr>
          <p:cNvPr id="11" name="Rectangle 10"/>
          <p:cNvSpPr/>
          <p:nvPr/>
        </p:nvSpPr>
        <p:spPr>
          <a:xfrm>
            <a:off x="501709" y="758221"/>
            <a:ext cx="9390629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Practic, o poartă identică nu poate comanda o altă poartă identică cu ea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 poate comanda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trebuie redimensionată!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945" y="2404055"/>
            <a:ext cx="7329194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 a înlătura acest dezavantaj: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mai trebui adăugat un Amplificator   pentru :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menținere compatibilitate nivele de tensiune de la ieșire → față de cele de la intrare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mărire curent de ieșire față de cel de intrare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Soluţie: se adaugă un Tranzistor </a:t>
            </a:r>
          </a:p>
          <a:p>
            <a:endParaRPr lang="ro-R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A8BB7F6-E998-3E54-F8E8-672597C8C9AF}"/>
                  </a:ext>
                </a:extLst>
              </p:cNvPr>
              <p:cNvSpPr/>
              <p:nvPr/>
            </p:nvSpPr>
            <p:spPr>
              <a:xfrm>
                <a:off x="2356122" y="4996944"/>
                <a:ext cx="1965346" cy="8234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 fontAlgn="base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ro-RO" sz="22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int</m:t>
                            </m:r>
                          </m:sub>
                        </m:sSub>
                      </m:den>
                    </m:f>
                    <m:r>
                      <a:rPr lang="ro-RO" sz="22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ro-RO" sz="22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ro-RO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A8BB7F6-E998-3E54-F8E8-672597C8C9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6122" y="4996944"/>
                <a:ext cx="1965346" cy="8234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971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350846"/>
            <a:ext cx="11772900" cy="5346698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puţin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probabil ca un calculator ce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funcţionează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Polul Nord să aibă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aceeaşi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timpi de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funcţionare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şi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calculator ce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funcţioneazăla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Polul Sud.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puţin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probabil ca toate calculatoarele din lume care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conţin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diode să aibă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aceleaşi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caracteristici</a:t>
            </a:r>
          </a:p>
          <a:p>
            <a:pPr lvl="1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 trebuie să se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ţină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 de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variaţia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tensiunilor diodelor semiconductoare!</a:t>
            </a:r>
          </a:p>
          <a:p>
            <a:pPr lvl="1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Trebuie să se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ţină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 de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variaţia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tensiunilor de alimentare</a:t>
            </a:r>
          </a:p>
          <a:p>
            <a:pPr lvl="1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Toate acestea trebuie cuprinse în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relaţiile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calcul astfel încât un calculator să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funcţioneze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Aceste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variaţii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încadrează în anumite limite , numite limite de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toleranţă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 au fost di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utate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 acest curs .</a:t>
            </a:r>
          </a:p>
          <a:p>
            <a:pPr marL="0" lvl="0" indent="0">
              <a:buNone/>
            </a:pP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54</a:t>
            </a:fld>
            <a:endParaRPr lang="ro-RO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sp>
        <p:nvSpPr>
          <p:cNvPr id="5" name="Rectangle 4"/>
          <p:cNvSpPr/>
          <p:nvPr/>
        </p:nvSpPr>
        <p:spPr>
          <a:xfrm>
            <a:off x="382436" y="782469"/>
            <a:ext cx="24972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Concluzii</a:t>
            </a:r>
            <a:r>
              <a:rPr lang="en-US" sz="24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o-RO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561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70" y="1359842"/>
            <a:ext cx="6427797" cy="478847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o-RO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Poarta ŞI cu diode realizează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funcţia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d.p.d.v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logic, dar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d.p.d.v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electronic nu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îndeplineşte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condiţia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funcţionare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ro-RO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Poarta ŞI trebuie conectată cu un amplificator (cel </a:t>
            </a:r>
            <a:r>
              <a:rPr lang="ro-RO" sz="2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puţin</a:t>
            </a:r>
            <a:r>
              <a:rPr lang="ro-RO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tranzistor)!</a:t>
            </a:r>
            <a:endParaRPr lang="ro-RO" sz="2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55</a:t>
            </a:fld>
            <a:endParaRPr lang="ro-RO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0660BA-CA28-47B7-BAAC-B6A64E115C1F}"/>
              </a:ext>
            </a:extLst>
          </p:cNvPr>
          <p:cNvSpPr/>
          <p:nvPr/>
        </p:nvSpPr>
        <p:spPr>
          <a:xfrm>
            <a:off x="9657289" y="6009951"/>
            <a:ext cx="1592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Fig.7 </a:t>
            </a:r>
            <a:r>
              <a:rPr lang="en-US" b="1" dirty="0" err="1"/>
              <a:t>Poarta</a:t>
            </a:r>
            <a:r>
              <a:rPr lang="en-US" b="1" dirty="0"/>
              <a:t> ŞI </a:t>
            </a:r>
            <a:endParaRPr lang="ro-RO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ŞI . Funcţionare electronică.</a:t>
            </a:r>
            <a:endParaRPr lang="ro-RO" sz="2800" dirty="0"/>
          </a:p>
        </p:txBody>
      </p:sp>
      <p:sp>
        <p:nvSpPr>
          <p:cNvPr id="11" name="Rectangle 10"/>
          <p:cNvSpPr/>
          <p:nvPr/>
        </p:nvSpPr>
        <p:spPr>
          <a:xfrm>
            <a:off x="382436" y="782469"/>
            <a:ext cx="24972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Concluzii</a:t>
            </a:r>
            <a:r>
              <a:rPr lang="en-US" sz="24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o-RO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772" y="1843192"/>
            <a:ext cx="3603751" cy="398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E02D59-16E9-495D-B366-A8792484F6F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033" y="4463394"/>
            <a:ext cx="3295057" cy="17457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9758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334" y="850452"/>
            <a:ext cx="10811781" cy="120472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Parametrii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dinamici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influenţaţi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hotărâtor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aşa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numita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capacitate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parazită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capacitatea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ieşire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porţii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ŞI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construi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diode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8103" y="6397294"/>
            <a:ext cx="2743200" cy="365125"/>
          </a:xfrm>
        </p:spPr>
        <p:txBody>
          <a:bodyPr/>
          <a:lstStyle/>
          <a:p>
            <a:fld id="{75B4E24C-AC9D-47B5-A6ED-BCF2B4B120AE}" type="slidenum">
              <a:rPr lang="ro-RO" smtClean="0"/>
              <a:t>56</a:t>
            </a:fld>
            <a:endParaRPr lang="ro-RO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626454-B8A4-4334-B6F4-EE7573B14578}"/>
              </a:ext>
            </a:extLst>
          </p:cNvPr>
          <p:cNvSpPr/>
          <p:nvPr/>
        </p:nvSpPr>
        <p:spPr>
          <a:xfrm>
            <a:off x="6666966" y="5900308"/>
            <a:ext cx="5434185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457200">
              <a:lnSpc>
                <a:spcPct val="107000"/>
              </a:lnSpc>
              <a:spcAft>
                <a:spcPts val="800"/>
              </a:spcAft>
            </a:pP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Fig.11 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Poarta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ŞI  cu capacitate 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parazită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pe 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ieşire</a:t>
            </a:r>
            <a:endParaRPr lang="ro-RO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8103" y="1979475"/>
            <a:ext cx="3499432" cy="3788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561730" y="3154360"/>
            <a:ext cx="6644288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Capacitatea se comportă întotdeauna cel mai bine dacă: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plasată la ieşirea unui circuit.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Orice circuit are o capacitate de ieşire: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orice circuit are un comportament capacitiv.</a:t>
            </a:r>
          </a:p>
          <a:p>
            <a:pPr lvl="0"/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5207" y="2480060"/>
            <a:ext cx="24698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Observații</a:t>
            </a:r>
            <a:r>
              <a:rPr lang="en-US" sz="22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2825087" y="271931"/>
            <a:ext cx="51106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Poarta ȘI – Parametrii dinamici</a:t>
            </a:r>
            <a:endParaRPr lang="ro-RO" sz="2800" dirty="0"/>
          </a:p>
        </p:txBody>
      </p:sp>
    </p:spTree>
    <p:extLst>
      <p:ext uri="{BB962C8B-B14F-4D97-AF65-F5344CB8AC3E}">
        <p14:creationId xmlns:p14="http://schemas.microsoft.com/office/powerpoint/2010/main" val="637502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57</a:t>
            </a:fld>
            <a:endParaRPr lang="ro-RO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A77E87-CA99-4BBD-BBD4-3A229CFF72B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992" y="3340682"/>
            <a:ext cx="4544704" cy="20886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1E6612-D056-49CF-8C03-1B6E1D0CC319}"/>
              </a:ext>
            </a:extLst>
          </p:cNvPr>
          <p:cNvSpPr txBox="1"/>
          <p:nvPr/>
        </p:nvSpPr>
        <p:spPr>
          <a:xfrm>
            <a:off x="7465426" y="5827451"/>
            <a:ext cx="42521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/>
              <a:t>Fig.</a:t>
            </a:r>
            <a:r>
              <a:rPr lang="en-US" b="1" dirty="0"/>
              <a:t>12</a:t>
            </a:r>
            <a:r>
              <a:rPr lang="ro-RO" b="1" dirty="0"/>
              <a:t> </a:t>
            </a:r>
            <a:r>
              <a:rPr lang="en-US" b="1" dirty="0" err="1"/>
              <a:t>Conexiune</a:t>
            </a:r>
            <a:r>
              <a:rPr lang="en-US" b="1" dirty="0"/>
              <a:t> </a:t>
            </a:r>
            <a:r>
              <a:rPr lang="en-US" b="1" dirty="0" err="1"/>
              <a:t>porţi</a:t>
            </a:r>
            <a:r>
              <a:rPr lang="en-US" b="1" dirty="0"/>
              <a:t>/ </a:t>
            </a:r>
            <a:r>
              <a:rPr lang="en-US" b="1" dirty="0" err="1"/>
              <a:t>Capacităţi</a:t>
            </a:r>
            <a:r>
              <a:rPr lang="en-US" b="1" dirty="0"/>
              <a:t> </a:t>
            </a:r>
            <a:r>
              <a:rPr lang="en-US" b="1" dirty="0" err="1"/>
              <a:t>parazite</a:t>
            </a:r>
            <a:endParaRPr lang="ro-RO" dirty="0"/>
          </a:p>
          <a:p>
            <a:endParaRPr lang="ro-RO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697CCA-1FC4-4453-8913-6958EE7FFA57}"/>
              </a:ext>
            </a:extLst>
          </p:cNvPr>
          <p:cNvSpPr txBox="1"/>
          <p:nvPr/>
        </p:nvSpPr>
        <p:spPr>
          <a:xfrm>
            <a:off x="109181" y="1238266"/>
            <a:ext cx="11491416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Toate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capacit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ăţile distribuite 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plasate pe ieşirea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porţilo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deoarece au efectul cel mai defavorabil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capacitatea parazită sub forma: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Σ C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o-RO" dirty="0"/>
          </a:p>
        </p:txBody>
      </p:sp>
      <p:sp>
        <p:nvSpPr>
          <p:cNvPr id="11" name="Rectangle 10"/>
          <p:cNvSpPr/>
          <p:nvPr/>
        </p:nvSpPr>
        <p:spPr>
          <a:xfrm>
            <a:off x="2825087" y="351009"/>
            <a:ext cx="51106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Poarta ȘI – Parametrii dinamici</a:t>
            </a:r>
            <a:endParaRPr lang="ro-RO" sz="2800" dirty="0"/>
          </a:p>
        </p:txBody>
      </p:sp>
      <p:sp>
        <p:nvSpPr>
          <p:cNvPr id="12" name="Rectangle 11"/>
          <p:cNvSpPr/>
          <p:nvPr/>
        </p:nvSpPr>
        <p:spPr>
          <a:xfrm>
            <a:off x="109181" y="2872294"/>
            <a:ext cx="6469040" cy="297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Capacitatea de fir: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proporțională cu lungimea firului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invers proporțională cu distanța față de masă.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Capacitatea → determinată de suprafaţa joncţiunii: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dispozitive mai mici cu capacităţi mai mici.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91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58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507A19-FD17-437A-A8A7-335DE4007C38}"/>
              </a:ext>
            </a:extLst>
          </p:cNvPr>
          <p:cNvSpPr/>
          <p:nvPr/>
        </p:nvSpPr>
        <p:spPr>
          <a:xfrm>
            <a:off x="5837157" y="5805443"/>
            <a:ext cx="6573078" cy="374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457200"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Fig.6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Poarta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ŞI  - cu capacitate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parazită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pe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ieşire</a:t>
            </a:r>
            <a:endParaRPr lang="ro-RO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5781" y="1517289"/>
            <a:ext cx="3499432" cy="3788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>
          <a:xfrm>
            <a:off x="2825087" y="351009"/>
            <a:ext cx="51106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Poarta ȘI – Parametrii dinamici</a:t>
            </a:r>
            <a:endParaRPr lang="ro-RO" sz="2800" dirty="0"/>
          </a:p>
        </p:txBody>
      </p:sp>
      <p:sp>
        <p:nvSpPr>
          <p:cNvPr id="11" name="Rectangle 10"/>
          <p:cNvSpPr/>
          <p:nvPr/>
        </p:nvSpPr>
        <p:spPr>
          <a:xfrm>
            <a:off x="319389" y="902297"/>
            <a:ext cx="201803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Scenariu</a:t>
            </a:r>
            <a:r>
              <a:rPr lang="en-US" sz="22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o-RO" sz="2200" b="1" dirty="0">
              <a:solidFill>
                <a:srgbClr val="00B050"/>
              </a:solidFill>
              <a:effectLst>
                <a:reflection blurRad="6350" stA="53000" endA="300" endPos="35500" dir="5400000" sy="-90000" algn="bl"/>
              </a:effectLs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19389" y="1517289"/>
            <a:ext cx="7364301" cy="297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presupune ca la intrarea unui circuit Poartă ŞI cu diode: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aplică la intrare un semnal impuls cu parametrii: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durata impuls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→ durata de repetiţie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→ amplitudine 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338" y="4440233"/>
            <a:ext cx="4240402" cy="151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204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59</a:t>
            </a:fld>
            <a:endParaRPr lang="ro-RO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CCD78-CF22-4AE7-9814-4E4DD86F791A}"/>
              </a:ext>
            </a:extLst>
          </p:cNvPr>
          <p:cNvSpPr/>
          <p:nvPr/>
        </p:nvSpPr>
        <p:spPr>
          <a:xfrm>
            <a:off x="6599898" y="5671518"/>
            <a:ext cx="5447005" cy="3740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7200" algn="ctr">
              <a:lnSpc>
                <a:spcPct val="107000"/>
              </a:lnSpc>
              <a:spcAft>
                <a:spcPts val="800"/>
              </a:spcAft>
            </a:pPr>
            <a:r>
              <a:rPr lang="ro-RO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ro-RO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Timpii de </a:t>
            </a:r>
            <a:r>
              <a:rPr lang="ro-RO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tranziţie</a:t>
            </a:r>
            <a:r>
              <a:rPr lang="ro-RO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pentru poarta ŞI/ SAU</a:t>
            </a:r>
            <a:endParaRPr lang="ro-RO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25087" y="351009"/>
            <a:ext cx="51106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Poarta ȘI – Parametrii dinamici</a:t>
            </a:r>
            <a:endParaRPr lang="ro-RO" sz="2800" dirty="0"/>
          </a:p>
        </p:txBody>
      </p:sp>
      <p:sp>
        <p:nvSpPr>
          <p:cNvPr id="10" name="Rectangle 9"/>
          <p:cNvSpPr/>
          <p:nvPr/>
        </p:nvSpPr>
        <p:spPr>
          <a:xfrm>
            <a:off x="355207" y="963403"/>
            <a:ext cx="24698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Observații</a:t>
            </a:r>
            <a:r>
              <a:rPr lang="en-US" sz="22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o-RO" sz="2200" b="1" dirty="0">
              <a:solidFill>
                <a:srgbClr val="002060"/>
              </a:solidFill>
              <a:effectLst>
                <a:reflection blurRad="6350" stA="53000" endA="300" endPos="35500" dir="5400000" sy="-90000" algn="bl"/>
              </a:effectLs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3773" y="1563190"/>
            <a:ext cx="6096000" cy="32778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 este de fapt rolul capacităţii parazite 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Prezenţa capacităţii determină ca: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tensiunea de la ieşire să prezinte un semnal de timp exponenţial: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datorat timpului necesar încărcării şi descărcării capacităţii </a:t>
            </a:r>
            <a:r>
              <a:rPr lang="ro-R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" name="Rectangle 1"/>
          <p:cNvSpPr/>
          <p:nvPr/>
        </p:nvSpPr>
        <p:spPr>
          <a:xfrm>
            <a:off x="2046716" y="4850824"/>
            <a:ext cx="3008837" cy="10537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Timp de ridicare → t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Timp de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coborîre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ro-RO" sz="2200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5781" y="1517289"/>
            <a:ext cx="3499432" cy="3788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>
            <a:off x="5158854" y="2060812"/>
            <a:ext cx="5240740" cy="18970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771" y="1634845"/>
            <a:ext cx="5862701" cy="3742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Straight Arrow Connector 13"/>
          <p:cNvCxnSpPr/>
          <p:nvPr/>
        </p:nvCxnSpPr>
        <p:spPr>
          <a:xfrm>
            <a:off x="3357349" y="3411666"/>
            <a:ext cx="4271750" cy="7645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4926842" y="5158854"/>
            <a:ext cx="2852382" cy="2188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5055553" y="5158854"/>
            <a:ext cx="4948256" cy="5126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600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60</a:t>
            </a:fld>
            <a:endParaRPr lang="ro-RO" dirty="0"/>
          </a:p>
        </p:txBody>
      </p:sp>
      <p:sp>
        <p:nvSpPr>
          <p:cNvPr id="9" name="Rectangle 8"/>
          <p:cNvSpPr/>
          <p:nvPr/>
        </p:nvSpPr>
        <p:spPr>
          <a:xfrm>
            <a:off x="355207" y="351009"/>
            <a:ext cx="51106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Poarta ȘI – Parametrii dinamici</a:t>
            </a:r>
            <a:endParaRPr lang="ro-RO" sz="2800" dirty="0"/>
          </a:p>
        </p:txBody>
      </p:sp>
      <p:sp>
        <p:nvSpPr>
          <p:cNvPr id="10" name="Rectangle 9"/>
          <p:cNvSpPr/>
          <p:nvPr/>
        </p:nvSpPr>
        <p:spPr>
          <a:xfrm>
            <a:off x="355207" y="963403"/>
            <a:ext cx="24698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Observații</a:t>
            </a:r>
            <a:r>
              <a:rPr lang="en-US" sz="22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o-RO" sz="2200" b="1" dirty="0">
              <a:solidFill>
                <a:srgbClr val="002060"/>
              </a:solidFill>
              <a:effectLst>
                <a:reflection blurRad="6350" stA="53000" endA="300" endPos="35500" dir="5400000" sy="-90000" algn="bl"/>
              </a:effectLs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55207" y="1534418"/>
                <a:ext cx="7264296" cy="48027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capacitatea se încarcă cu un curent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/>
                              </a:rPr>
                              <m:t>A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furnizat→ R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R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relativ mare (3,6k</a:t>
                </a:r>
                <a:r>
                  <a:rPr lang="el-G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/>
                              </a:rPr>
                              <m:t>A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→mic</a:t>
                </a:r>
              </a:p>
              <a:p>
                <a:pPr marL="1200150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mare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capacitatea se descarcă prin diode 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printr-un curent I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furnizat de rezistenţa diodelor → R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mică (20 </a:t>
                </a:r>
                <a:r>
                  <a:rPr lang="el-G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i="0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400" b="0" i="0" smtClean="0">
                            <a:latin typeface="Cambria Math"/>
                          </a:rPr>
                          <m:t>D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→mare</a:t>
                </a:r>
              </a:p>
              <a:p>
                <a:pPr marL="1257300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mic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07" y="1534418"/>
                <a:ext cx="7264296" cy="4802790"/>
              </a:xfrm>
              <a:prstGeom prst="rect">
                <a:avLst/>
              </a:prstGeom>
              <a:blipFill>
                <a:blip r:embed="rId2"/>
                <a:stretch>
                  <a:fillRect l="-923" b="-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8364" y="1"/>
            <a:ext cx="4462818" cy="659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662" y="41745"/>
            <a:ext cx="4553520" cy="6738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Straight Arrow Connector 15"/>
          <p:cNvCxnSpPr/>
          <p:nvPr/>
        </p:nvCxnSpPr>
        <p:spPr>
          <a:xfrm flipV="1">
            <a:off x="6578221" y="1394290"/>
            <a:ext cx="3821373" cy="5982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174" y="1"/>
            <a:ext cx="4294496" cy="677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Straight Arrow Connector 19"/>
          <p:cNvCxnSpPr/>
          <p:nvPr/>
        </p:nvCxnSpPr>
        <p:spPr>
          <a:xfrm flipV="1">
            <a:off x="5008728" y="3410823"/>
            <a:ext cx="4844956" cy="6152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530221" y="4797803"/>
            <a:ext cx="408928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Cazul cel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defavorabil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puţin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trebuie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conducă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rezistenţa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diodei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2825087" y="3534770"/>
            <a:ext cx="6155140" cy="2802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2019869" y="6244353"/>
            <a:ext cx="8816453" cy="92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71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61</a:t>
            </a:fld>
            <a:endParaRPr lang="ro-RO" dirty="0"/>
          </a:p>
        </p:txBody>
      </p:sp>
      <p:sp>
        <p:nvSpPr>
          <p:cNvPr id="9" name="Rectangle 8"/>
          <p:cNvSpPr/>
          <p:nvPr/>
        </p:nvSpPr>
        <p:spPr>
          <a:xfrm>
            <a:off x="355207" y="351009"/>
            <a:ext cx="51106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Poarta ȘI – Parametrii dinamici</a:t>
            </a:r>
            <a:endParaRPr lang="ro-RO" sz="2800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504" y="0"/>
            <a:ext cx="4294496" cy="677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50125" y="1491084"/>
                <a:ext cx="7747379" cy="6337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= R</a:t>
                </a:r>
                <a14:m>
                  <m:oMath xmlns:m="http://schemas.openxmlformats.org/officeDocument/2006/math">
                    <m:r>
                      <a:rPr lang="ro-RO" sz="2200" i="0">
                        <a:latin typeface="Cambria Math"/>
                      </a:rPr>
                      <m:t>⋅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C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 i="0">
                            <a:latin typeface="Cambria Math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/>
                              </a:rPr>
                              <m:t>Val</m:t>
                            </m:r>
                            <m:r>
                              <a:rPr lang="ro-RO" sz="2200" b="0" i="0" smtClean="0">
                                <a:latin typeface="Cambria Math"/>
                              </a:rPr>
                              <m:t>.</m:t>
                            </m:r>
                            <m:r>
                              <a:rPr lang="ro-RO" sz="2200" i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/>
                              </a:rPr>
                              <m:t>final</m:t>
                            </m:r>
                            <m:r>
                              <a:rPr lang="ro-RO" sz="2200" i="0">
                                <a:latin typeface="Cambria Math"/>
                              </a:rPr>
                              <m:t>ă−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/>
                              </a:rPr>
                              <m:t>Val</m:t>
                            </m:r>
                            <m:r>
                              <a:rPr lang="ro-RO" sz="2200" b="0" i="0" smtClean="0">
                                <a:latin typeface="Cambria Math"/>
                              </a:rPr>
                              <m:t>. 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/>
                              </a:rPr>
                              <m:t>ini</m:t>
                            </m:r>
                            <m:r>
                              <a:rPr lang="ro-RO" sz="2200" i="0">
                                <a:latin typeface="Cambria Math"/>
                              </a:rPr>
                              <m:t>ţ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/>
                              </a:rPr>
                              <m:t>ial</m:t>
                            </m:r>
                            <m:r>
                              <a:rPr lang="ro-RO" sz="2200" i="0">
                                <a:latin typeface="Cambria Math"/>
                              </a:rPr>
                              <m:t>ă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/>
                              </a:rPr>
                              <m:t>V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al</m:t>
                            </m:r>
                            <m:r>
                              <a:rPr lang="ro-RO" sz="2200" b="0" i="0" smtClean="0">
                                <a:latin typeface="Cambria Math"/>
                              </a:rPr>
                              <m:t>. 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/>
                              </a:rPr>
                              <m:t>final</m:t>
                            </m:r>
                            <m:r>
                              <a:rPr lang="ro-RO" sz="2200" i="0">
                                <a:latin typeface="Cambria Math"/>
                              </a:rPr>
                              <m:t>ă−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/>
                              </a:rPr>
                              <m:t>Val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ro-RO" sz="2200" b="0" i="0" smtClean="0">
                                <a:latin typeface="Cambria Math"/>
                              </a:rPr>
                              <m:t> 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/>
                              </a:rPr>
                              <m:t>de</m:t>
                            </m:r>
                            <m:r>
                              <a:rPr lang="ro-RO" sz="2200" i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/>
                              </a:rPr>
                              <m:t>sf</m:t>
                            </m:r>
                            <m:r>
                              <a:rPr lang="ro-RO" sz="2200" i="0">
                                <a:latin typeface="Cambria Math"/>
                              </a:rPr>
                              <m:t>â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/>
                              </a:rPr>
                              <m:t>r</m:t>
                            </m:r>
                            <m:r>
                              <a:rPr lang="ro-RO" sz="2200" i="0">
                                <a:latin typeface="Cambria Math"/>
                              </a:rPr>
                              <m:t>ş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/>
                              </a:rPr>
                              <m:t>it</m:t>
                            </m:r>
                            <m:r>
                              <a:rPr lang="ro-RO" sz="2200" i="0">
                                <a:latin typeface="Cambria Math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/>
                              </a:rPr>
                              <m:t>p</m:t>
                            </m:r>
                            <m:r>
                              <a:rPr lang="ro-RO" sz="2200" i="0">
                                <a:latin typeface="Cambria Math"/>
                              </a:rPr>
                              <m:t>â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/>
                              </a:rPr>
                              <m:t>n</m:t>
                            </m:r>
                            <m:r>
                              <a:rPr lang="ro-RO" sz="2200" i="0">
                                <a:latin typeface="Cambria Math"/>
                              </a:rPr>
                              <m:t>ă 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/>
                              </a:rPr>
                              <m:t>unde</m:t>
                            </m:r>
                            <m:r>
                              <a:rPr lang="ro-RO" sz="2200" i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/>
                              </a:rPr>
                              <m:t>se</m:t>
                            </m:r>
                            <m:r>
                              <a:rPr lang="ro-RO" sz="2200" i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/>
                              </a:rPr>
                              <m:t>dore</m:t>
                            </m:r>
                            <m:r>
                              <a:rPr lang="ro-RO" sz="2200" i="0">
                                <a:latin typeface="Cambria Math"/>
                              </a:rPr>
                              <m:t>ş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/>
                              </a:rPr>
                              <m:t>te</m:t>
                            </m:r>
                            <m:r>
                              <a:rPr lang="ro-RO" sz="2200" i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/>
                              </a:rPr>
                              <m:t>s</m:t>
                            </m:r>
                            <m:r>
                              <a:rPr lang="ro-RO" sz="2200" i="0">
                                <a:latin typeface="Cambria Math"/>
                              </a:rPr>
                              <m:t>ă 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/>
                              </a:rPr>
                              <m:t>se</m:t>
                            </m:r>
                            <m:r>
                              <a:rPr lang="ro-RO" sz="2200" i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/>
                              </a:rPr>
                              <m:t>m</m:t>
                            </m:r>
                            <m:r>
                              <a:rPr lang="ro-RO" sz="2200" i="0">
                                <a:latin typeface="Cambria Math"/>
                              </a:rPr>
                              <m:t>ă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/>
                              </a:rPr>
                              <m:t>soare</m:t>
                            </m:r>
                            <m:r>
                              <a:rPr lang="ro-RO" sz="2200" i="0">
                                <a:latin typeface="Cambria Math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25" y="1491084"/>
                <a:ext cx="7747379" cy="633763"/>
              </a:xfrm>
              <a:prstGeom prst="rect">
                <a:avLst/>
              </a:prstGeom>
              <a:blipFill>
                <a:blip r:embed="rId3"/>
                <a:stretch>
                  <a:fillRect l="-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54925" y="2264926"/>
                <a:ext cx="6096000" cy="167828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înc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t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=R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200" i="0">
                        <a:latin typeface="Cambria Math"/>
                      </a:rPr>
                      <m:t>⋅ 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200" i="0">
                        <a:latin typeface="Cambria Math"/>
                      </a:rPr>
                      <m:t>⋅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 i="0">
                            <a:latin typeface="Cambria Math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b="0" i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ro-RO" sz="2200" i="0">
                                <a:latin typeface="Cambria Math"/>
                              </a:rPr>
                              <m:t>−</m:t>
                            </m:r>
                            <m:r>
                              <a:rPr lang="en-US" sz="2200" i="0">
                                <a:latin typeface="Cambria Math"/>
                              </a:rPr>
                              <m:t>0,1</m:t>
                            </m:r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US" sz="2200" i="0">
                                    <a:latin typeface="Cambria Math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o-RO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L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b="0" i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ro-RO" sz="2200" i="0">
                                <a:latin typeface="Cambria Math"/>
                              </a:rPr>
                              <m:t>−</m:t>
                            </m:r>
                            <m:r>
                              <a:rPr lang="en-US" sz="2200" i="0">
                                <a:latin typeface="Cambria Math"/>
                              </a:rPr>
                              <m:t>0,9</m:t>
                            </m:r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US" sz="2200" i="0">
                                    <a:latin typeface="Cambria Math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o-RO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L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func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desc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t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R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200" i="0">
                        <a:latin typeface="Cambria Math"/>
                      </a:rPr>
                      <m:t>⋅ 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200" i="0">
                        <a:latin typeface="Cambria Math"/>
                      </a:rPr>
                      <m:t>⋅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 i="0">
                            <a:latin typeface="Cambria Math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/>
                                  </a:rPr>
                                  <m:t>L</m:t>
                                </m:r>
                              </m:sub>
                            </m:sSub>
                            <m:r>
                              <a:rPr lang="ro-RO" sz="2200" i="0">
                                <a:latin typeface="Cambria Math"/>
                              </a:rPr>
                              <m:t>−</m:t>
                            </m:r>
                            <m:r>
                              <a:rPr lang="en-US" sz="2200" i="0">
                                <a:latin typeface="Cambria Math"/>
                              </a:rPr>
                              <m:t>0,9</m:t>
                            </m:r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US" sz="2200" i="0">
                                    <a:latin typeface="Cambria Math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o-RO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L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/>
                                  </a:rPr>
                                  <m:t>L</m:t>
                                </m:r>
                              </m:sub>
                            </m:sSub>
                            <m:r>
                              <a:rPr lang="ro-RO" sz="2200" i="0">
                                <a:latin typeface="Cambria Math"/>
                              </a:rPr>
                              <m:t>−</m:t>
                            </m:r>
                            <m:r>
                              <a:rPr lang="en-US" sz="2200" i="0">
                                <a:latin typeface="Cambria Math"/>
                              </a:rPr>
                              <m:t>0,1</m:t>
                            </m:r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US" sz="2200" i="0">
                                    <a:latin typeface="Cambria Math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o-RO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L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func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25" y="2264926"/>
                <a:ext cx="6096000" cy="16782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3280758" y="6209871"/>
            <a:ext cx="15723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&gt;&gt; t</a:t>
            </a:r>
            <a:r>
              <a:rPr lang="ro-RO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400" b="1" dirty="0"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0125" y="3991424"/>
            <a:ext cx="812041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încărcare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capacităţii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parazite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foarte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mare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descărcare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relativ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epind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constant</a:t>
            </a:r>
            <a:r>
              <a:rPr lang="ro-RO" sz="220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820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4E14C3-4B01-44B8-B8B1-FAACBA066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Digitală</a:t>
            </a:r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0BBAE-104F-40E5-9D00-1CDD44A2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62</a:t>
            </a:fld>
            <a:endParaRPr lang="ro-R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B32A45-2B10-4124-8755-246B0F606C98}"/>
              </a:ext>
            </a:extLst>
          </p:cNvPr>
          <p:cNvSpPr/>
          <p:nvPr/>
        </p:nvSpPr>
        <p:spPr>
          <a:xfrm>
            <a:off x="379247" y="1642693"/>
            <a:ext cx="11433506" cy="2379917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oubleWave1">
              <a:avLst/>
            </a:prstTxWarp>
            <a:spAutoFit/>
            <a:scene3d>
              <a:camera prst="obliqueBottomLef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ro-RO" sz="5400" b="1" cap="none" spc="0" dirty="0">
                <a:ln/>
                <a:solidFill>
                  <a:schemeClr val="accent3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Vă mulțumesc pentru atenție!</a:t>
            </a:r>
            <a:endParaRPr lang="en-US" sz="5400" b="1" cap="none" spc="0" dirty="0">
              <a:ln/>
              <a:solidFill>
                <a:schemeClr val="accent3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C9E20A-FF53-4798-B519-15368B3D9B29}"/>
              </a:ext>
            </a:extLst>
          </p:cNvPr>
          <p:cNvSpPr/>
          <p:nvPr/>
        </p:nvSpPr>
        <p:spPr>
          <a:xfrm>
            <a:off x="354303" y="6400412"/>
            <a:ext cx="12472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1200" dirty="0"/>
              <a:t>Daniela Stănescu</a:t>
            </a:r>
          </a:p>
        </p:txBody>
      </p:sp>
    </p:spTree>
    <p:extLst>
      <p:ext uri="{BB962C8B-B14F-4D97-AF65-F5344CB8AC3E}">
        <p14:creationId xmlns:p14="http://schemas.microsoft.com/office/powerpoint/2010/main" val="396894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3965</TotalTime>
  <Words>5197</Words>
  <Application>Microsoft Office PowerPoint</Application>
  <PresentationFormat>Widescreen</PresentationFormat>
  <Paragraphs>807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62</vt:i4>
      </vt:variant>
    </vt:vector>
  </HeadingPairs>
  <TitlesOfParts>
    <vt:vector size="73" baseType="lpstr">
      <vt:lpstr>Arial</vt:lpstr>
      <vt:lpstr>Calibri</vt:lpstr>
      <vt:lpstr>Calibri Light</vt:lpstr>
      <vt:lpstr>Cambria Math</vt:lpstr>
      <vt:lpstr>Courier New</vt:lpstr>
      <vt:lpstr>Symbol</vt:lpstr>
      <vt:lpstr>Times New Roman</vt:lpstr>
      <vt:lpstr>Tw Cen MT</vt:lpstr>
      <vt:lpstr>Wingdings</vt:lpstr>
      <vt:lpstr>Circuit</vt:lpstr>
      <vt:lpstr>Office Theme</vt:lpstr>
      <vt:lpstr>electronică Digitală</vt:lpstr>
      <vt:lpstr>DIODA SEMICONDUCTOARE</vt:lpstr>
      <vt:lpstr>DIODA SEMICONDUCTOARE</vt:lpstr>
      <vt:lpstr>DIODA SEMICONDUCTOARE</vt:lpstr>
      <vt:lpstr>DIODA SEMICONDUCTOARE</vt:lpstr>
      <vt:lpstr>DIODA SEMICONDUCTOARE</vt:lpstr>
      <vt:lpstr>DIODA SEMICONDUCTOARE</vt:lpstr>
      <vt:lpstr>DIODA SEMICONDUCTOARE</vt:lpstr>
      <vt:lpstr>DIODA SEMICONDUCTOARE</vt:lpstr>
      <vt:lpstr>PowerPoint Presentation</vt:lpstr>
      <vt:lpstr>DIODA SEMICONDUCTOARE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Circuite Digitale</dc:title>
  <dc:creator>Bianca Gusita</dc:creator>
  <cp:lastModifiedBy>Daniela Stanescu</cp:lastModifiedBy>
  <cp:revision>258</cp:revision>
  <dcterms:created xsi:type="dcterms:W3CDTF">2020-08-11T09:43:14Z</dcterms:created>
  <dcterms:modified xsi:type="dcterms:W3CDTF">2025-10-21T08:09:11Z</dcterms:modified>
</cp:coreProperties>
</file>